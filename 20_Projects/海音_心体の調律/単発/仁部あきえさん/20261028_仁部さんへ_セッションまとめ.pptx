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E6DA4"/>
                </a:solidFill>
                <a:latin typeface="Yu Gothic UI"/>
              </a:rPr>
              <a:t>仁部 あきえさんへ　｜　2026年10月28日 セッションから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743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0">
                <a:solidFill>
                  <a:srgbClr val="6B7280"/>
                </a:solidFill>
                <a:latin typeface="Yu Gothic UI"/>
              </a:rPr>
              <a:t>「意識が180度変わったかも」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338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F3A5F"/>
                </a:solidFill>
                <a:latin typeface="Yu Gothic UI"/>
              </a:rPr>
              <a:t>「ちゃんと完成させてきた私」で、ゴールドを掴みに行く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36118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3A5F"/>
                </a:solidFill>
                <a:latin typeface="Yu Gothic UI"/>
              </a:rPr>
              <a:t>1　今日見つけたこと</a:t>
            </a:r>
          </a:p>
        </p:txBody>
      </p:sp>
      <p:pic>
        <p:nvPicPr>
          <p:cNvPr id="7" name="Picture 6" descr="img1.png"/>
          <p:cNvPicPr>
            <a:picLocks noChangeAspect="1"/>
          </p:cNvPicPr>
          <p:nvPr/>
        </p:nvPicPr>
        <p:blipFill>
          <a:blip r:embed="rId2"/>
          <a:srcRect t="12661" b="12661"/>
          <a:stretch>
            <a:fillRect/>
          </a:stretch>
        </p:blipFill>
        <p:spPr>
          <a:xfrm>
            <a:off x="685800" y="2121408"/>
            <a:ext cx="3154680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538728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Yu Gothic UI"/>
              </a:rPr>
              <a:t>何度も浮かんでいた、豆拾いの記憶</a:t>
            </a:r>
          </a:p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3A5F"/>
                </a:solidFill>
                <a:latin typeface="Yu Gothic UI"/>
              </a:rPr>
              <a:t>「完成させたのに壊される」が</a:t>
            </a:r>
          </a:p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3A5F"/>
                </a:solidFill>
                <a:latin typeface="Yu Gothic UI"/>
              </a:rPr>
              <a:t>「諦め」になっていた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88536"/>
            <a:ext cx="3154680" cy="804672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Yu Gothic UI"/>
              </a:rPr>
              <a:t>でも本当は──</a:t>
            </a: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3A5F"/>
                </a:solidFill>
                <a:latin typeface="Yu Gothic UI"/>
              </a:rPr>
              <a:t>「豆を拾ったら帰れる」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3A5F"/>
                </a:solidFill>
                <a:latin typeface="Yu Gothic UI"/>
              </a:rPr>
              <a:t>ちゃんとお家に帰れていた。一回完成させてた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846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Yu Gothic UI"/>
              </a:rPr>
              <a:t>値段を伝えるときの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Yu Gothic UI"/>
              </a:rPr>
              <a:t>引っかかり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12064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6B7280"/>
                </a:solidFill>
                <a:latin typeface="Yu Gothic UI"/>
              </a:rPr>
              <a:t>7</a:t>
            </a:r>
            <a:r>
              <a:rPr sz="1800" b="0">
                <a:solidFill>
                  <a:srgbClr val="6B7280"/>
                </a:solidFill>
                <a:latin typeface="Yu Gothic UI"/>
              </a:rPr>
              <a:t>  →  </a:t>
            </a:r>
            <a:r>
              <a:rPr sz="3600" b="1">
                <a:solidFill>
                  <a:srgbClr val="E0A81C"/>
                </a:solidFill>
                <a:latin typeface="Yu Gothic U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481328"/>
            <a:ext cx="3749039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4592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3A5F"/>
                </a:solidFill>
                <a:latin typeface="Yu Gothic UI"/>
              </a:rPr>
              <a:t>2　池の底で見つけた宝物</a:t>
            </a:r>
          </a:p>
        </p:txBody>
      </p:sp>
      <p:pic>
        <p:nvPicPr>
          <p:cNvPr id="15" name="Picture 14" descr="img2.png"/>
          <p:cNvPicPr>
            <a:picLocks noChangeAspect="1"/>
          </p:cNvPicPr>
          <p:nvPr/>
        </p:nvPicPr>
        <p:blipFill>
          <a:blip r:embed="rId3"/>
          <a:srcRect t="20386" b="20386"/>
          <a:stretch>
            <a:fillRect/>
          </a:stretch>
        </p:blipFill>
        <p:spPr>
          <a:xfrm>
            <a:off x="4480560" y="2121408"/>
            <a:ext cx="3291839" cy="10972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480560" y="3310128"/>
            <a:ext cx="3291839" cy="1965960"/>
          </a:xfrm>
          <a:prstGeom prst="roundRect">
            <a:avLst>
              <a:gd name="adj" fmla="val 6000"/>
            </a:avLst>
          </a:prstGeom>
          <a:solidFill>
            <a:srgbClr val="D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38328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>
                <a:solidFill>
                  <a:srgbClr val="1F3A5F"/>
                </a:solidFill>
                <a:latin typeface="Yu Gothic UI"/>
              </a:rPr>
              <a:t>積み木</a:t>
            </a:r>
            <a:r>
              <a:rPr sz="1050" b="0">
                <a:solidFill>
                  <a:srgbClr val="1F3A5F"/>
                </a:solidFill>
                <a:latin typeface="Yu Gothic UI"/>
              </a:rPr>
              <a:t>　守ってくれたおばさんの愛情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1F3A5F"/>
                </a:solidFill>
                <a:latin typeface="Yu Gothic UI"/>
              </a:rPr>
              <a:t>真珠のネックレス</a:t>
            </a:r>
            <a:r>
              <a:rPr sz="1050" b="0">
                <a:solidFill>
                  <a:srgbClr val="1F3A5F"/>
                </a:solidFill>
                <a:latin typeface="Yu Gothic UI"/>
              </a:rPr>
              <a:t>　大事にしてくれたお母さんのご兄弟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1F3A5F"/>
                </a:solidFill>
                <a:latin typeface="Yu Gothic UI"/>
              </a:rPr>
              <a:t>貝殻のブローチ</a:t>
            </a:r>
            <a:r>
              <a:rPr sz="1050" b="0">
                <a:solidFill>
                  <a:srgbClr val="1F3A5F"/>
                </a:solidFill>
                <a:latin typeface="Yu Gothic UI"/>
              </a:rPr>
              <a:t>　気にかけてくれた先生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1F3A5F"/>
                </a:solidFill>
                <a:latin typeface="Yu Gothic UI"/>
              </a:rPr>
              <a:t>ピンクの宝石</a:t>
            </a:r>
            <a:r>
              <a:rPr sz="1050" b="0">
                <a:solidFill>
                  <a:srgbClr val="1F3A5F"/>
                </a:solidFill>
                <a:latin typeface="Yu Gothic UI"/>
              </a:rPr>
              <a:t>　タマラの仲間（胸に）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1F3A5F"/>
                </a:solidFill>
                <a:latin typeface="Yu Gothic UI"/>
              </a:rPr>
              <a:t>辞書</a:t>
            </a:r>
            <a:r>
              <a:rPr sz="1050" b="0">
                <a:solidFill>
                  <a:srgbClr val="1F3A5F"/>
                </a:solidFill>
                <a:latin typeface="Yu Gothic UI"/>
              </a:rPr>
              <a:t>　知らない知識を持つ人と出会う・腹が据わる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1F3A5F"/>
                </a:solidFill>
                <a:latin typeface="Yu Gothic UI"/>
              </a:rPr>
              <a:t>エメラルドの布</a:t>
            </a:r>
            <a:r>
              <a:rPr sz="1050" b="0">
                <a:solidFill>
                  <a:srgbClr val="1F3A5F"/>
                </a:solidFill>
                <a:latin typeface="Yu Gothic UI"/>
              </a:rPr>
              <a:t>　肩にかけて「力むな」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340096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E6DA4"/>
                </a:solidFill>
                <a:latin typeface="Yu Gothic UI"/>
              </a:rPr>
              <a:t>「手は差し伸べられていたんだな」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481328"/>
            <a:ext cx="354787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45920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3A5F"/>
                </a:solidFill>
                <a:latin typeface="Yu Gothic UI"/>
              </a:rPr>
              <a:t>3　次にやること</a:t>
            </a:r>
          </a:p>
        </p:txBody>
      </p:sp>
      <p:pic>
        <p:nvPicPr>
          <p:cNvPr id="21" name="Picture 20" descr="img3.png"/>
          <p:cNvPicPr>
            <a:picLocks noChangeAspect="1"/>
          </p:cNvPicPr>
          <p:nvPr/>
        </p:nvPicPr>
        <p:blipFill>
          <a:blip r:embed="rId4"/>
          <a:srcRect t="15794" b="15794"/>
          <a:stretch>
            <a:fillRect/>
          </a:stretch>
        </p:blipFill>
        <p:spPr>
          <a:xfrm>
            <a:off x="8412480" y="2121408"/>
            <a:ext cx="3090672" cy="1188720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8412480" y="3447288"/>
            <a:ext cx="329184" cy="329184"/>
          </a:xfrm>
          <a:prstGeom prst="ellipse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3419856"/>
            <a:ext cx="26791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3A5F"/>
                </a:solidFill>
                <a:latin typeface="Yu Gothic UI"/>
              </a:rPr>
              <a:t>ゴールドを掴みに行く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「やっても壊される」が出てきたら</a:t>
            </a:r>
          </a:p>
        </p:txBody>
      </p:sp>
      <p:sp>
        <p:nvSpPr>
          <p:cNvPr id="24" name="Oval 23"/>
          <p:cNvSpPr/>
          <p:nvPr/>
        </p:nvSpPr>
        <p:spPr>
          <a:xfrm>
            <a:off x="8412480" y="4032504"/>
            <a:ext cx="329184" cy="329184"/>
          </a:xfrm>
          <a:prstGeom prst="ellipse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4005072"/>
            <a:ext cx="26791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3A5F"/>
                </a:solidFill>
                <a:latin typeface="Yu Gothic UI"/>
              </a:rPr>
              <a:t>「できるから、やれるから、おいで」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仲間・お客さまへの言葉に</a:t>
            </a:r>
          </a:p>
        </p:txBody>
      </p:sp>
      <p:sp>
        <p:nvSpPr>
          <p:cNvPr id="26" name="Oval 25"/>
          <p:cNvSpPr/>
          <p:nvPr/>
        </p:nvSpPr>
        <p:spPr>
          <a:xfrm>
            <a:off x="8412480" y="4617720"/>
            <a:ext cx="329184" cy="329184"/>
          </a:xfrm>
          <a:prstGeom prst="ellipse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4590288"/>
            <a:ext cx="26791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3A5F"/>
                </a:solidFill>
                <a:latin typeface="Yu Gothic UI"/>
              </a:rPr>
              <a:t>光の筋に乗せてリチャージ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つながっていく方々へ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0" y="5202936"/>
            <a:ext cx="329184" cy="329184"/>
          </a:xfrm>
          <a:prstGeom prst="ellipse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5175503"/>
            <a:ext cx="26791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3A5F"/>
                </a:solidFill>
                <a:latin typeface="Yu Gothic UI"/>
              </a:rPr>
              <a:t>ファーストの必要性を伝える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まず伝える方：　　　　　　さん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89320"/>
            <a:ext cx="11274552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g4.png"/>
          <p:cNvPicPr>
            <a:picLocks noChangeAspect="1"/>
          </p:cNvPicPr>
          <p:nvPr/>
        </p:nvPicPr>
        <p:blipFill>
          <a:blip r:embed="rId5"/>
          <a:srcRect t="2103" b="2103"/>
          <a:stretch>
            <a:fillRect/>
          </a:stretch>
        </p:blipFill>
        <p:spPr>
          <a:xfrm>
            <a:off x="566928" y="6062472"/>
            <a:ext cx="1051560" cy="5669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783080" y="6062472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F3A5F"/>
                </a:solidFill>
                <a:latin typeface="Yu Gothic UI"/>
              </a:rPr>
              <a:t>「お金は単なるツール。受け取る私は、幸せです」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Yu Gothic UI"/>
              </a:rPr>
              <a:t>小さな仁部さんが、ゴールドの世界で宝探しを続けています。また会いに行ってあげてくださいね。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5989320"/>
            <a:ext cx="187451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2200" b="1">
                <a:solidFill>
                  <a:srgbClr val="2E6DA4"/>
                </a:solidFill>
                <a:latin typeface="Yu Gothic UI"/>
              </a:rPr>
              <a:t>髙橋 由香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
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はじめに" id="{32626999-c42d-1f71-28be-c6afed3749ee}">
          <p14:sldIdLst>
            <p14:sldId id="256"/>
            <p14:sldId id="257"/>
          </p14:sldIdLst>
        </p14:section>
        <p14:section name="第1部 頭の構造を知る" id="{0e11309b-210f-a60f-d347-9ec80902bcab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第2部 魂の傷を聴く" id="{31579410-2fdf-dfae-9553-c4af372fb9aa}">
          <p14:sldIdLst>
            <p14:sldId id="267"/>
            <p14:sldId id="268"/>
            <p14:sldId id="269"/>
          </p14:sldIdLst>
        </p14:section>
        <p14:section name="ワーク 思い込みを書き換える" id="{50adf6cc-b5e8-f2f9-36de-d424e3dde674}">
          <p14:sldIdLst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エネルギー" id="{d4f5a177-8d1b-f0b3-4597-31a57fee0ec9}">
          <p14:sldIdLst>
            <p14:sldId id="276"/>
          </p14:sldIdLst>
        </p14:section>
        <p14:section name="まとめ" id="{f3c6d44c-c483-f9e1-b7b6-d034e7ae6195}">
          <p14:sldIdLst>
            <p14:sldId id="277"/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開始。今日は90分で、講座→お話→ワーク→エネルギーの順に進めることを伝える。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全体の流れ。ワークの時間をしっかり取るため、講座とお話は短めに進める。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ここから15分で講座。1枚あたり1〜2分。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感情がないと行動は起きない。理性はエネルギーを使う。理論は後付け。→お金の行動も、頭の理屈より先に「感情」が動いている。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ピンクの象を想像しないでください。→脳は否定語を受け付けない。「お金で困らないように」と思うほど「困る」をイメージしてしまう。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1日6万回、80％はネガティブ、95％は昨日と同じ。→放っておくと、お金の考え方も昨日と同じものが繰り返される。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脳は過去の強い思いに引っ張られる。トラウマ化した記憶は「二度と触れるな」のタグ付きファイル。ゴールデンエイジにも関係。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子どもの頃に繰り返し見聞きしたことが、脳の「当たり前」になり、大人になってもその基準で反応している。ここでは答えを深掘りせず、第2部とワークにつなげる。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普通って何？当たり前はみんな違う。→私の「お金の当たり前」も、育った家でつくられたもの。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ネガティブ＝情報の入れ替えができない状態。ポジティブ＝入れ替えができる状態。→今日のワークは、お金の情報を入れ替える時間。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感情は層になっている。焦り・無価値観→怒り→悲しみ→安心感。ワーク中に怒りや悲しみが出ても、それは消化が進んでいるサイン。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ここから15分はお話を聴く時間。直感で答えてもらう。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直感でおしえてください、と伝える。点数（1〜10）はメモしておく。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私たちの問題は、幼少期の影響を受けていることが多い。「あるなーと思っても、思わなくても、どちらでも大丈夫です」と伝える。お父さんのお酒・毎日の喧嘩の話が出たら、ワークの場面候補としてメ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ここから45分。思い込みは20個ではなく、1階層目5つ＋2階層目まで（10個くらい）にしぼる。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例：「私は豊かにお金を受け取りたい！ただ、〇〇かもしれない…」。1階層目を5つ以上出す。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画面共有したまま、表にそのまま打ち込んでよい。10個くらい出たら次へ。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上位3つを丸で囲む→その中で一番邪魔しているものを1つ。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お父さんのお酒・両親の喧嘩の場面が出る可能性が高い。感情が強く出たら書くのを止めて呼吸に戻す。ポジ変（無理にポジティブに変える）をしない。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和解は100％でなくてもOK。ポジションに入り直して、入ってきたらVAKを望ましい方向に書き換える。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ワークで残ったものをエネルギーで取り除く。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はじめの点数といまの点数を並べて、変化を目で見てもらう。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すべての土台は絶対的安心感。「何をやっても、やらなくても大丈夫」「嫌なことをやめても、愛される」。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終了。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5C4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17320"/>
            <a:ext cx="76809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600" b="1" dirty="0">
                <a:solidFill>
                  <a:schemeClr val="bg1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ctr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69748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dirty="0">
                <a:solidFill>
                  <a:schemeClr val="accent3"/>
                </a:solidFill>
              </a:defRPr>
            </a:lvl1pPr>
          </a:lstStyle>
          <a:p>
            <a:pPr algn="ctr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FD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ctr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</a:rPr>
              <a:t>海音（かのん）〜心体の調律〜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海音ロ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9080" y="411480"/>
            <a:ext cx="1005840" cy="97383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417320"/>
            <a:ext cx="7680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お金のブロックを外す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単発セッション</a:t>
            </a:r>
            <a:endParaRPr lang="en-US" sz="3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26974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仁部 あきえ さん　90分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海音（かのん）〜心体の調律〜　髙橋 由香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今日の流れ（90分）</a:t>
            </a:r>
            <a:endParaRPr lang="en-US" sz="2600" dirty="0"/>
          </a:p>
        </p:txBody>
      </p:sp>
      <p:sp>
        <p:nvSpPr>
          <p:cNvPr id="3" name="flow_card0"/>
          <p:cNvSpPr/>
          <p:nvPr/>
        </p:nvSpPr>
        <p:spPr>
          <a:xfrm>
            <a:off x="457200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EFE8F6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4" name="flow_time0"/>
          <p:cNvSpPr txBox="1"/>
          <p:nvPr/>
        </p:nvSpPr>
        <p:spPr>
          <a:xfrm>
            <a:off x="548640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0〜15分</a:t>
            </a:r>
            <a:endParaRPr lang="en-US" sz="1300" dirty="0"/>
          </a:p>
        </p:txBody>
      </p:sp>
      <p:sp>
        <p:nvSpPr>
          <p:cNvPr id="5" name="flow_part0"/>
          <p:cNvSpPr txBox="1"/>
          <p:nvPr/>
        </p:nvSpPr>
        <p:spPr>
          <a:xfrm>
            <a:off x="548640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第1部</a:t>
            </a:r>
            <a:endParaRPr lang="en-US" sz="1800" dirty="0"/>
          </a:p>
        </p:txBody>
      </p:sp>
      <p:sp>
        <p:nvSpPr>
          <p:cNvPr id="6" name="flow_desc0"/>
          <p:cNvSpPr txBox="1"/>
          <p:nvPr/>
        </p:nvSpPr>
        <p:spPr>
          <a:xfrm>
            <a:off x="548640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頭の構造を知る</a:t>
            </a:r>
            <a:endParaRPr lang="en-US" sz="1400" dirty="0"/>
          </a:p>
        </p:txBody>
      </p:sp>
      <p:sp>
        <p:nvSpPr>
          <p:cNvPr id="7" name="flow_card1"/>
          <p:cNvSpPr/>
          <p:nvPr/>
        </p:nvSpPr>
        <p:spPr>
          <a:xfrm>
            <a:off x="2139696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8" name="flow_time1"/>
          <p:cNvSpPr txBox="1"/>
          <p:nvPr/>
        </p:nvSpPr>
        <p:spPr>
          <a:xfrm>
            <a:off x="2231136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15〜30分</a:t>
            </a:r>
            <a:endParaRPr lang="en-US" sz="1300" dirty="0"/>
          </a:p>
        </p:txBody>
      </p:sp>
      <p:sp>
        <p:nvSpPr>
          <p:cNvPr id="9" name="flow_part1"/>
          <p:cNvSpPr txBox="1"/>
          <p:nvPr/>
        </p:nvSpPr>
        <p:spPr>
          <a:xfrm>
            <a:off x="2231136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第2部</a:t>
            </a:r>
            <a:endParaRPr lang="en-US" sz="1800" dirty="0"/>
          </a:p>
        </p:txBody>
      </p:sp>
      <p:sp>
        <p:nvSpPr>
          <p:cNvPr id="10" name="flow_desc1"/>
          <p:cNvSpPr txBox="1"/>
          <p:nvPr/>
        </p:nvSpPr>
        <p:spPr>
          <a:xfrm>
            <a:off x="2231136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魂の傷を聴く</a:t>
            </a:r>
            <a:endParaRPr lang="en-US" sz="1400" dirty="0"/>
          </a:p>
        </p:txBody>
      </p:sp>
      <p:sp>
        <p:nvSpPr>
          <p:cNvPr id="11" name="flow_card2"/>
          <p:cNvSpPr/>
          <p:nvPr/>
        </p:nvSpPr>
        <p:spPr>
          <a:xfrm>
            <a:off x="3822192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E6F3EF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12" name="flow_time2"/>
          <p:cNvSpPr txBox="1"/>
          <p:nvPr/>
        </p:nvSpPr>
        <p:spPr>
          <a:xfrm>
            <a:off x="3913632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30〜75分</a:t>
            </a:r>
            <a:endParaRPr lang="en-US" sz="1300" dirty="0"/>
          </a:p>
        </p:txBody>
      </p:sp>
      <p:sp>
        <p:nvSpPr>
          <p:cNvPr id="13" name="flow_part2"/>
          <p:cNvSpPr txBox="1"/>
          <p:nvPr/>
        </p:nvSpPr>
        <p:spPr>
          <a:xfrm>
            <a:off x="3913632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ワーク</a:t>
            </a:r>
            <a:endParaRPr lang="en-US" sz="1800" dirty="0"/>
          </a:p>
        </p:txBody>
      </p:sp>
      <p:sp>
        <p:nvSpPr>
          <p:cNvPr id="14" name="flow_desc2"/>
          <p:cNvSpPr txBox="1"/>
          <p:nvPr/>
        </p:nvSpPr>
        <p:spPr>
          <a:xfrm>
            <a:off x="3913632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思い込みを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書き換える</a:t>
            </a:r>
            <a:endParaRPr lang="en-US" sz="1400" dirty="0"/>
          </a:p>
        </p:txBody>
      </p:sp>
      <p:sp>
        <p:nvSpPr>
          <p:cNvPr id="15" name="flow_card3"/>
          <p:cNvSpPr/>
          <p:nvPr/>
        </p:nvSpPr>
        <p:spPr>
          <a:xfrm>
            <a:off x="5504688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F4EEDF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16" name="flow_time3"/>
          <p:cNvSpPr txBox="1"/>
          <p:nvPr/>
        </p:nvSpPr>
        <p:spPr>
          <a:xfrm>
            <a:off x="5596128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75〜85分</a:t>
            </a:r>
            <a:endParaRPr lang="en-US" sz="1300" dirty="0"/>
          </a:p>
        </p:txBody>
      </p:sp>
      <p:sp>
        <p:nvSpPr>
          <p:cNvPr id="17" name="flow_part3"/>
          <p:cNvSpPr txBox="1"/>
          <p:nvPr/>
        </p:nvSpPr>
        <p:spPr>
          <a:xfrm>
            <a:off x="5596128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エネルギー</a:t>
            </a:r>
            <a:endParaRPr lang="en-US" sz="1800" dirty="0"/>
          </a:p>
        </p:txBody>
      </p:sp>
      <p:sp>
        <p:nvSpPr>
          <p:cNvPr id="18" name="flow_desc3"/>
          <p:cNvSpPr txBox="1"/>
          <p:nvPr/>
        </p:nvSpPr>
        <p:spPr>
          <a:xfrm>
            <a:off x="5596128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残ったものを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取り除く</a:t>
            </a:r>
            <a:endParaRPr lang="en-US" sz="1400" dirty="0"/>
          </a:p>
        </p:txBody>
      </p:sp>
      <p:sp>
        <p:nvSpPr>
          <p:cNvPr id="19" name="flow_card4"/>
          <p:cNvSpPr/>
          <p:nvPr/>
        </p:nvSpPr>
        <p:spPr>
          <a:xfrm>
            <a:off x="7187184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EFE8F6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20" name="flow_time4"/>
          <p:cNvSpPr txBox="1"/>
          <p:nvPr/>
        </p:nvSpPr>
        <p:spPr>
          <a:xfrm>
            <a:off x="7278624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85〜90分</a:t>
            </a:r>
            <a:endParaRPr lang="en-US" sz="1300" dirty="0"/>
          </a:p>
        </p:txBody>
      </p:sp>
      <p:sp>
        <p:nvSpPr>
          <p:cNvPr id="21" name="flow_part4"/>
          <p:cNvSpPr txBox="1"/>
          <p:nvPr/>
        </p:nvSpPr>
        <p:spPr>
          <a:xfrm>
            <a:off x="7278624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まとめ</a:t>
            </a:r>
            <a:endParaRPr lang="en-US" sz="1800" dirty="0"/>
          </a:p>
        </p:txBody>
      </p:sp>
      <p:sp>
        <p:nvSpPr>
          <p:cNvPr id="22" name="flow_desc4"/>
          <p:cNvSpPr txBox="1"/>
          <p:nvPr/>
        </p:nvSpPr>
        <p:spPr>
          <a:xfrm>
            <a:off x="7278624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点数を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つけ直す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第1部　頭の構造を知る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脳のクセ・ゴールデンエイジ・ポジティブとネガティブ（0〜15分）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ゴールデンエイジまでの「言われ方」が今の基準になる</a:t>
            </a:r>
            <a:endParaRPr lang="en-US" sz="2600" dirty="0"/>
          </a:p>
        </p:txBody>
      </p:sp>
      <p:sp>
        <p:nvSpPr>
          <p:cNvPr id="3" name="ga_card0"/>
          <p:cNvSpPr/>
          <p:nvPr/>
        </p:nvSpPr>
        <p:spPr>
          <a:xfrm>
            <a:off x="457200" y="1234440"/>
            <a:ext cx="4206240" cy="841248"/>
          </a:xfrm>
          <a:prstGeom prst="roundRect">
            <a:avLst>
              <a:gd name="adj" fmla="val 13043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4" name="ga0_c"/>
          <p:cNvSpPr/>
          <p:nvPr/>
        </p:nvSpPr>
        <p:spPr>
          <a:xfrm>
            <a:off x="621792" y="1463040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5" name="ga0_n"/>
          <p:cNvSpPr txBox="1"/>
          <p:nvPr/>
        </p:nvSpPr>
        <p:spPr>
          <a:xfrm>
            <a:off x="621792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ga_head0"/>
          <p:cNvSpPr txBox="1"/>
          <p:nvPr/>
        </p:nvSpPr>
        <p:spPr>
          <a:xfrm>
            <a:off x="1143000" y="1307592"/>
            <a:ext cx="33832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子どもの頃</a:t>
            </a:r>
            <a:endParaRPr lang="en-US" sz="1600" dirty="0"/>
          </a:p>
        </p:txBody>
      </p:sp>
      <p:sp>
        <p:nvSpPr>
          <p:cNvPr id="7" name="ga_body0"/>
          <p:cNvSpPr txBox="1"/>
          <p:nvPr/>
        </p:nvSpPr>
        <p:spPr>
          <a:xfrm>
            <a:off x="1143000" y="1655064"/>
            <a:ext cx="33832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家の中で見たこと・聞いた言葉</a:t>
            </a:r>
            <a:endParaRPr lang="en-US" sz="1400" dirty="0"/>
          </a:p>
        </p:txBody>
      </p:sp>
      <p:sp>
        <p:nvSpPr>
          <p:cNvPr id="8" name="ga_card1"/>
          <p:cNvSpPr/>
          <p:nvPr/>
        </p:nvSpPr>
        <p:spPr>
          <a:xfrm>
            <a:off x="457200" y="2258568"/>
            <a:ext cx="4206240" cy="841248"/>
          </a:xfrm>
          <a:prstGeom prst="roundRect">
            <a:avLst>
              <a:gd name="adj" fmla="val 13043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9" name="ga1_c"/>
          <p:cNvSpPr/>
          <p:nvPr/>
        </p:nvSpPr>
        <p:spPr>
          <a:xfrm>
            <a:off x="621792" y="2487168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10" name="ga1_n"/>
          <p:cNvSpPr txBox="1"/>
          <p:nvPr/>
        </p:nvSpPr>
        <p:spPr>
          <a:xfrm>
            <a:off x="621792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ga_head1"/>
          <p:cNvSpPr txBox="1"/>
          <p:nvPr/>
        </p:nvSpPr>
        <p:spPr>
          <a:xfrm>
            <a:off x="1143000" y="2331720"/>
            <a:ext cx="33832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脳が保存</a:t>
            </a:r>
            <a:endParaRPr lang="en-US" sz="1600" dirty="0"/>
          </a:p>
        </p:txBody>
      </p:sp>
      <p:sp>
        <p:nvSpPr>
          <p:cNvPr id="12" name="ga_body1"/>
          <p:cNvSpPr txBox="1"/>
          <p:nvPr/>
        </p:nvSpPr>
        <p:spPr>
          <a:xfrm>
            <a:off x="1143000" y="2679192"/>
            <a:ext cx="33832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「これが当たり前」として記憶する</a:t>
            </a:r>
            <a:endParaRPr lang="en-US" sz="1400" dirty="0"/>
          </a:p>
        </p:txBody>
      </p:sp>
      <p:sp>
        <p:nvSpPr>
          <p:cNvPr id="13" name="ga_card2"/>
          <p:cNvSpPr/>
          <p:nvPr/>
        </p:nvSpPr>
        <p:spPr>
          <a:xfrm>
            <a:off x="457200" y="3282696"/>
            <a:ext cx="4206240" cy="841248"/>
          </a:xfrm>
          <a:prstGeom prst="roundRect">
            <a:avLst>
              <a:gd name="adj" fmla="val 13043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14" name="ga2_c"/>
          <p:cNvSpPr/>
          <p:nvPr/>
        </p:nvSpPr>
        <p:spPr>
          <a:xfrm>
            <a:off x="621792" y="3511296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15" name="ga2_n"/>
          <p:cNvSpPr txBox="1"/>
          <p:nvPr/>
        </p:nvSpPr>
        <p:spPr>
          <a:xfrm>
            <a:off x="621792" y="35112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6" name="ga_head2"/>
          <p:cNvSpPr txBox="1"/>
          <p:nvPr/>
        </p:nvSpPr>
        <p:spPr>
          <a:xfrm>
            <a:off x="1143000" y="3355848"/>
            <a:ext cx="33832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大人になった今</a:t>
            </a:r>
            <a:endParaRPr lang="en-US" sz="1600" dirty="0"/>
          </a:p>
        </p:txBody>
      </p:sp>
      <p:sp>
        <p:nvSpPr>
          <p:cNvPr id="17" name="ga_body2"/>
          <p:cNvSpPr txBox="1"/>
          <p:nvPr/>
        </p:nvSpPr>
        <p:spPr>
          <a:xfrm>
            <a:off x="1143000" y="3703320"/>
            <a:ext cx="33832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その当たり前が、お金の基準として動く</a:t>
            </a:r>
            <a:endParaRPr lang="en-US" sz="1400" dirty="0"/>
          </a:p>
        </p:txBody>
      </p:sp>
      <p:sp>
        <p:nvSpPr>
          <p:cNvPr id="18" name="ga_q_card"/>
          <p:cNvSpPr/>
          <p:nvPr/>
        </p:nvSpPr>
        <p:spPr>
          <a:xfrm>
            <a:off x="4983480" y="1234440"/>
            <a:ext cx="3703320" cy="2889504"/>
          </a:xfrm>
          <a:prstGeom prst="roundRect">
            <a:avLst>
              <a:gd name="adj" fmla="val 3797"/>
            </a:avLst>
          </a:prstGeom>
          <a:solidFill>
            <a:srgbClr val="EFE8F6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19" name="ga_q_head"/>
          <p:cNvSpPr txBox="1"/>
          <p:nvPr/>
        </p:nvSpPr>
        <p:spPr>
          <a:xfrm>
            <a:off x="5166360" y="1371600"/>
            <a:ext cx="33832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ふり返ってみましょう</a:t>
            </a:r>
            <a:endParaRPr lang="en-US" sz="1600" dirty="0"/>
          </a:p>
        </p:txBody>
      </p:sp>
      <p:sp>
        <p:nvSpPr>
          <p:cNvPr id="20" name="ga_q_list"/>
          <p:cNvSpPr txBox="1"/>
          <p:nvPr/>
        </p:nvSpPr>
        <p:spPr>
          <a:xfrm>
            <a:off x="5166360" y="1828800"/>
            <a:ext cx="3383280" cy="2194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お金の話になると、家の空気はどうなっていましたか？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お金について、どんな言葉を聞いて育ちましたか？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その言葉が、今の「当たり前」になっていませんか？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0003"/>
            <a:ext cx="9144000" cy="510349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第2部　魂の傷を聴く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お話を聴かせてください（15〜30分）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どのような事でお悩みですか？</a:t>
            </a:r>
            <a:endParaRPr lang="en-US" sz="2600" dirty="0"/>
          </a:p>
        </p:txBody>
      </p:sp>
      <p:sp>
        <p:nvSpPr>
          <p:cNvPr id="3" name="q_card0"/>
          <p:cNvSpPr/>
          <p:nvPr/>
        </p:nvSpPr>
        <p:spPr>
          <a:xfrm>
            <a:off x="457200" y="1188720"/>
            <a:ext cx="4023360" cy="960120"/>
          </a:xfrm>
          <a:prstGeom prst="roundRect">
            <a:avLst>
              <a:gd name="adj" fmla="val 11429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4" name="q0_c"/>
          <p:cNvSpPr/>
          <p:nvPr/>
        </p:nvSpPr>
        <p:spPr>
          <a:xfrm>
            <a:off x="621792" y="1472184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5" name="q0_n"/>
          <p:cNvSpPr txBox="1"/>
          <p:nvPr/>
        </p:nvSpPr>
        <p:spPr>
          <a:xfrm>
            <a:off x="621792" y="1472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q_text0"/>
          <p:cNvSpPr txBox="1"/>
          <p:nvPr/>
        </p:nvSpPr>
        <p:spPr>
          <a:xfrm>
            <a:off x="1143000" y="1280160"/>
            <a:ext cx="3200400" cy="7772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お悩みの内容は？</a:t>
            </a:r>
            <a:endParaRPr lang="en-US" sz="1500" dirty="0"/>
          </a:p>
        </p:txBody>
      </p:sp>
      <p:sp>
        <p:nvSpPr>
          <p:cNvPr id="7" name="q_card1"/>
          <p:cNvSpPr/>
          <p:nvPr/>
        </p:nvSpPr>
        <p:spPr>
          <a:xfrm>
            <a:off x="4663440" y="1188720"/>
            <a:ext cx="4023360" cy="960120"/>
          </a:xfrm>
          <a:prstGeom prst="roundRect">
            <a:avLst>
              <a:gd name="adj" fmla="val 11429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8" name="q1_c"/>
          <p:cNvSpPr/>
          <p:nvPr/>
        </p:nvSpPr>
        <p:spPr>
          <a:xfrm>
            <a:off x="4828032" y="1472184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9" name="q1_n"/>
          <p:cNvSpPr txBox="1"/>
          <p:nvPr/>
        </p:nvSpPr>
        <p:spPr>
          <a:xfrm>
            <a:off x="4828032" y="1472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q_text1"/>
          <p:cNvSpPr txBox="1"/>
          <p:nvPr/>
        </p:nvSpPr>
        <p:spPr>
          <a:xfrm>
            <a:off x="5349240" y="1280160"/>
            <a:ext cx="3200400" cy="7772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いつから？どのくらいの期間？</a:t>
            </a:r>
            <a:endParaRPr lang="en-US" sz="1500" dirty="0"/>
          </a:p>
        </p:txBody>
      </p:sp>
      <p:sp>
        <p:nvSpPr>
          <p:cNvPr id="11" name="q_card2"/>
          <p:cNvSpPr/>
          <p:nvPr/>
        </p:nvSpPr>
        <p:spPr>
          <a:xfrm>
            <a:off x="457200" y="2331720"/>
            <a:ext cx="4023360" cy="960120"/>
          </a:xfrm>
          <a:prstGeom prst="roundRect">
            <a:avLst>
              <a:gd name="adj" fmla="val 11429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12" name="q2_c"/>
          <p:cNvSpPr/>
          <p:nvPr/>
        </p:nvSpPr>
        <p:spPr>
          <a:xfrm>
            <a:off x="621792" y="2615184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13" name="q2_n"/>
          <p:cNvSpPr txBox="1"/>
          <p:nvPr/>
        </p:nvSpPr>
        <p:spPr>
          <a:xfrm>
            <a:off x="621792" y="2615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4" name="q_text2"/>
          <p:cNvSpPr txBox="1"/>
          <p:nvPr/>
        </p:nvSpPr>
        <p:spPr>
          <a:xfrm>
            <a:off x="1143000" y="2423160"/>
            <a:ext cx="3200400" cy="7772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1〜10で、今どの段階？</a:t>
            </a:r>
            <a:endParaRPr lang="en-US" sz="1500" dirty="0"/>
          </a:p>
        </p:txBody>
      </p:sp>
      <p:sp>
        <p:nvSpPr>
          <p:cNvPr id="15" name="q_card3"/>
          <p:cNvSpPr/>
          <p:nvPr/>
        </p:nvSpPr>
        <p:spPr>
          <a:xfrm>
            <a:off x="4663440" y="2331720"/>
            <a:ext cx="4023360" cy="960120"/>
          </a:xfrm>
          <a:prstGeom prst="roundRect">
            <a:avLst>
              <a:gd name="adj" fmla="val 11429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16" name="q3_c"/>
          <p:cNvSpPr/>
          <p:nvPr/>
        </p:nvSpPr>
        <p:spPr>
          <a:xfrm>
            <a:off x="4828032" y="2615184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17" name="q3_n"/>
          <p:cNvSpPr txBox="1"/>
          <p:nvPr/>
        </p:nvSpPr>
        <p:spPr>
          <a:xfrm>
            <a:off x="4828032" y="2615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q_text3"/>
          <p:cNvSpPr txBox="1"/>
          <p:nvPr/>
        </p:nvSpPr>
        <p:spPr>
          <a:xfrm>
            <a:off x="5349240" y="2423160"/>
            <a:ext cx="3200400" cy="7772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何故悩んでいますか？</a:t>
            </a:r>
            <a:endParaRPr lang="en-US" sz="1500" dirty="0"/>
          </a:p>
        </p:txBody>
      </p:sp>
      <p:sp>
        <p:nvSpPr>
          <p:cNvPr id="19" name="q_card4"/>
          <p:cNvSpPr/>
          <p:nvPr/>
        </p:nvSpPr>
        <p:spPr>
          <a:xfrm>
            <a:off x="457200" y="3474720"/>
            <a:ext cx="4023360" cy="960120"/>
          </a:xfrm>
          <a:prstGeom prst="roundRect">
            <a:avLst>
              <a:gd name="adj" fmla="val 11429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20" name="q4_c"/>
          <p:cNvSpPr/>
          <p:nvPr/>
        </p:nvSpPr>
        <p:spPr>
          <a:xfrm>
            <a:off x="621792" y="3758184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21" name="q4_n"/>
          <p:cNvSpPr txBox="1"/>
          <p:nvPr/>
        </p:nvSpPr>
        <p:spPr>
          <a:xfrm>
            <a:off x="621792" y="3758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22" name="q_text4"/>
          <p:cNvSpPr txBox="1"/>
          <p:nvPr/>
        </p:nvSpPr>
        <p:spPr>
          <a:xfrm>
            <a:off x="1143000" y="3566160"/>
            <a:ext cx="3200400" cy="7772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その悩みは、あなたの人生にどのような影響がありますか？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問題の心理状況：幼少期の影響</a:t>
            </a:r>
            <a:endParaRPr lang="en-US" sz="2600" dirty="0"/>
          </a:p>
        </p:txBody>
      </p:sp>
      <p:sp>
        <p:nvSpPr>
          <p:cNvPr id="3" name="q_card0"/>
          <p:cNvSpPr/>
          <p:nvPr/>
        </p:nvSpPr>
        <p:spPr>
          <a:xfrm>
            <a:off x="457200" y="1188720"/>
            <a:ext cx="4023360" cy="960120"/>
          </a:xfrm>
          <a:prstGeom prst="roundRect">
            <a:avLst>
              <a:gd name="adj" fmla="val 11429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4" name="q0_c"/>
          <p:cNvSpPr/>
          <p:nvPr/>
        </p:nvSpPr>
        <p:spPr>
          <a:xfrm>
            <a:off x="621792" y="1472184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5" name="q0_n"/>
          <p:cNvSpPr txBox="1"/>
          <p:nvPr/>
        </p:nvSpPr>
        <p:spPr>
          <a:xfrm>
            <a:off x="621792" y="1472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q_text0"/>
          <p:cNvSpPr txBox="1"/>
          <p:nvPr/>
        </p:nvSpPr>
        <p:spPr>
          <a:xfrm>
            <a:off x="1143000" y="1280160"/>
            <a:ext cx="3200400" cy="7772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どのようなお子さんでしたか？</a:t>
            </a:r>
            <a:endParaRPr lang="en-US" sz="1500" dirty="0"/>
          </a:p>
        </p:txBody>
      </p:sp>
      <p:sp>
        <p:nvSpPr>
          <p:cNvPr id="7" name="q_card1"/>
          <p:cNvSpPr/>
          <p:nvPr/>
        </p:nvSpPr>
        <p:spPr>
          <a:xfrm>
            <a:off x="4663440" y="1188720"/>
            <a:ext cx="4023360" cy="960120"/>
          </a:xfrm>
          <a:prstGeom prst="roundRect">
            <a:avLst>
              <a:gd name="adj" fmla="val 11429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8" name="q1_c"/>
          <p:cNvSpPr/>
          <p:nvPr/>
        </p:nvSpPr>
        <p:spPr>
          <a:xfrm>
            <a:off x="4828032" y="1472184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9" name="q1_n"/>
          <p:cNvSpPr txBox="1"/>
          <p:nvPr/>
        </p:nvSpPr>
        <p:spPr>
          <a:xfrm>
            <a:off x="4828032" y="1472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q_text1"/>
          <p:cNvSpPr txBox="1"/>
          <p:nvPr/>
        </p:nvSpPr>
        <p:spPr>
          <a:xfrm>
            <a:off x="5349240" y="1280160"/>
            <a:ext cx="3200400" cy="7772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ご両親は厳しかったですか？優しかったですか？</a:t>
            </a:r>
            <a:endParaRPr lang="en-US" sz="1500" dirty="0"/>
          </a:p>
        </p:txBody>
      </p:sp>
      <p:sp>
        <p:nvSpPr>
          <p:cNvPr id="11" name="q_card2"/>
          <p:cNvSpPr/>
          <p:nvPr/>
        </p:nvSpPr>
        <p:spPr>
          <a:xfrm>
            <a:off x="457200" y="2331720"/>
            <a:ext cx="4023360" cy="960120"/>
          </a:xfrm>
          <a:prstGeom prst="roundRect">
            <a:avLst>
              <a:gd name="adj" fmla="val 11429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12" name="q2_c"/>
          <p:cNvSpPr/>
          <p:nvPr/>
        </p:nvSpPr>
        <p:spPr>
          <a:xfrm>
            <a:off x="621792" y="2615184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13" name="q2_n"/>
          <p:cNvSpPr txBox="1"/>
          <p:nvPr/>
        </p:nvSpPr>
        <p:spPr>
          <a:xfrm>
            <a:off x="621792" y="2615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4" name="q_text2"/>
          <p:cNvSpPr txBox="1"/>
          <p:nvPr/>
        </p:nvSpPr>
        <p:spPr>
          <a:xfrm>
            <a:off x="1143000" y="2423160"/>
            <a:ext cx="3200400" cy="7772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ご両親にかけてほしかった言葉はありますか？</a:t>
            </a:r>
            <a:endParaRPr lang="en-US" sz="1500" dirty="0"/>
          </a:p>
        </p:txBody>
      </p:sp>
      <p:sp>
        <p:nvSpPr>
          <p:cNvPr id="15" name="q_card3"/>
          <p:cNvSpPr/>
          <p:nvPr/>
        </p:nvSpPr>
        <p:spPr>
          <a:xfrm>
            <a:off x="4663440" y="2331720"/>
            <a:ext cx="4023360" cy="960120"/>
          </a:xfrm>
          <a:prstGeom prst="roundRect">
            <a:avLst>
              <a:gd name="adj" fmla="val 11429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16" name="q3_c"/>
          <p:cNvSpPr/>
          <p:nvPr/>
        </p:nvSpPr>
        <p:spPr>
          <a:xfrm>
            <a:off x="4828032" y="2615184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17" name="q3_n"/>
          <p:cNvSpPr txBox="1"/>
          <p:nvPr/>
        </p:nvSpPr>
        <p:spPr>
          <a:xfrm>
            <a:off x="4828032" y="2615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q_text3"/>
          <p:cNvSpPr txBox="1"/>
          <p:nvPr/>
        </p:nvSpPr>
        <p:spPr>
          <a:xfrm>
            <a:off x="5349240" y="2423160"/>
            <a:ext cx="3200400" cy="7772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今のお悩みに、幼少期の影響があると思われますか？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ワーク　思い込みを書き換える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アートシフトワーク その18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エフィカシーを上げる5次元タイムライン（30〜75分）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1　お金の思い込みを見つける</a:t>
            </a:r>
            <a:endParaRPr lang="en-US" sz="2600" dirty="0"/>
          </a:p>
        </p:txBody>
      </p:sp>
      <p:sp>
        <p:nvSpPr>
          <p:cNvPr id="3" name="s1_goal"/>
          <p:cNvSpPr/>
          <p:nvPr/>
        </p:nvSpPr>
        <p:spPr>
          <a:xfrm>
            <a:off x="457200" y="1188720"/>
            <a:ext cx="4846320" cy="1417320"/>
          </a:xfrm>
          <a:prstGeom prst="roundRect">
            <a:avLst>
              <a:gd name="adj" fmla="val 7742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4" name="s1_goal_t"/>
          <p:cNvSpPr txBox="1"/>
          <p:nvPr/>
        </p:nvSpPr>
        <p:spPr>
          <a:xfrm>
            <a:off x="640080" y="1298448"/>
            <a:ext cx="4572000" cy="12344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「私は〇〇を達成したい！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ただ、〇〇ができないかもしれない！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きついかもしれない…」</a:t>
            </a:r>
            <a:endParaRPr lang="en-US" sz="1700" dirty="0"/>
          </a:p>
        </p:txBody>
      </p:sp>
      <p:sp>
        <p:nvSpPr>
          <p:cNvPr id="5" name="s1_q"/>
          <p:cNvSpPr/>
          <p:nvPr/>
        </p:nvSpPr>
        <p:spPr>
          <a:xfrm>
            <a:off x="457200" y="2788920"/>
            <a:ext cx="4846320" cy="1325880"/>
          </a:xfrm>
          <a:prstGeom prst="roundRect">
            <a:avLst>
              <a:gd name="adj" fmla="val 8276"/>
            </a:avLst>
          </a:prstGeom>
          <a:solidFill>
            <a:srgbClr val="EFE8F6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s1_q_t"/>
          <p:cNvSpPr txBox="1"/>
          <p:nvPr/>
        </p:nvSpPr>
        <p:spPr>
          <a:xfrm>
            <a:off x="640080" y="2880360"/>
            <a:ext cx="4572000" cy="1188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すごい質問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「何があなたをそう思わせるのですか？」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 何が見える？　A 何が聞こえる？　K どんな体感？</a:t>
            </a:r>
            <a:endParaRPr lang="en-US" sz="1500" dirty="0"/>
          </a:p>
        </p:txBody>
      </p:sp>
      <p:pic>
        <p:nvPicPr>
          <p:cNvPr id="7" name="Image 0" descr="ガイドブック43ペー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143000"/>
            <a:ext cx="2377440" cy="336499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2　思い込みに点数をつける（100点満点）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53035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749040"/>
                <a:gridCol w="100584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No.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思い込み（気持ちや想い）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点数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5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8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2_note"/>
          <p:cNvSpPr/>
          <p:nvPr/>
        </p:nvSpPr>
        <p:spPr>
          <a:xfrm>
            <a:off x="6035040" y="1097280"/>
            <a:ext cx="2651760" cy="3419856"/>
          </a:xfrm>
          <a:prstGeom prst="roundRect">
            <a:avLst>
              <a:gd name="adj" fmla="val 4138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5" name="s2_note_t"/>
          <p:cNvSpPr txBox="1"/>
          <p:nvPr/>
        </p:nvSpPr>
        <p:spPr>
          <a:xfrm>
            <a:off x="6172200" y="1207008"/>
            <a:ext cx="2377440" cy="3200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情報発信が魅力的でない 50点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批判されるのが嫌だ 75点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1階層目で一番強いものを軸に、2階層目も同じ質問で出す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点数がわからない時はOリング・筋肉反射で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3　一番邪魔している思い込みを決める</a:t>
            </a:r>
            <a:endParaRPr lang="en-US" sz="2600" dirty="0"/>
          </a:p>
        </p:txBody>
      </p:sp>
      <p:sp>
        <p:nvSpPr>
          <p:cNvPr id="3" name="s3_card0"/>
          <p:cNvSpPr/>
          <p:nvPr/>
        </p:nvSpPr>
        <p:spPr>
          <a:xfrm>
            <a:off x="457200" y="1188720"/>
            <a:ext cx="4846320" cy="868680"/>
          </a:xfrm>
          <a:prstGeom prst="roundRect">
            <a:avLst>
              <a:gd name="adj" fmla="val 12632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4" name="s30_c"/>
          <p:cNvSpPr/>
          <p:nvPr/>
        </p:nvSpPr>
        <p:spPr>
          <a:xfrm>
            <a:off x="621792" y="1426464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5" name="s30_n"/>
          <p:cNvSpPr txBox="1"/>
          <p:nvPr/>
        </p:nvSpPr>
        <p:spPr>
          <a:xfrm>
            <a:off x="621792" y="1426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s3_head0"/>
          <p:cNvSpPr txBox="1"/>
          <p:nvPr/>
        </p:nvSpPr>
        <p:spPr>
          <a:xfrm>
            <a:off x="1143000" y="1243584"/>
            <a:ext cx="40690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情動が強いもの上位3つを選ぶ</a:t>
            </a:r>
            <a:endParaRPr lang="en-US" sz="1500" dirty="0"/>
          </a:p>
        </p:txBody>
      </p:sp>
      <p:sp>
        <p:nvSpPr>
          <p:cNvPr id="7" name="s3_body0"/>
          <p:cNvSpPr txBox="1"/>
          <p:nvPr/>
        </p:nvSpPr>
        <p:spPr>
          <a:xfrm>
            <a:off x="1143000" y="1591056"/>
            <a:ext cx="4069080" cy="43891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全体を見て、点数の高いものから</a:t>
            </a:r>
            <a:endParaRPr lang="en-US" sz="1300" dirty="0"/>
          </a:p>
        </p:txBody>
      </p:sp>
      <p:sp>
        <p:nvSpPr>
          <p:cNvPr id="8" name="s3_card1"/>
          <p:cNvSpPr/>
          <p:nvPr/>
        </p:nvSpPr>
        <p:spPr>
          <a:xfrm>
            <a:off x="457200" y="2212848"/>
            <a:ext cx="4846320" cy="868680"/>
          </a:xfrm>
          <a:prstGeom prst="roundRect">
            <a:avLst>
              <a:gd name="adj" fmla="val 12632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9" name="s31_c"/>
          <p:cNvSpPr/>
          <p:nvPr/>
        </p:nvSpPr>
        <p:spPr>
          <a:xfrm>
            <a:off x="621792" y="2450592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10" name="s31_n"/>
          <p:cNvSpPr txBox="1"/>
          <p:nvPr/>
        </p:nvSpPr>
        <p:spPr>
          <a:xfrm>
            <a:off x="621792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s3_head1"/>
          <p:cNvSpPr txBox="1"/>
          <p:nvPr/>
        </p:nvSpPr>
        <p:spPr>
          <a:xfrm>
            <a:off x="1143000" y="2267712"/>
            <a:ext cx="40690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一番邪魔している思い込みを1つ決める</a:t>
            </a:r>
            <a:endParaRPr lang="en-US" sz="1500" dirty="0"/>
          </a:p>
        </p:txBody>
      </p:sp>
      <p:sp>
        <p:nvSpPr>
          <p:cNvPr id="12" name="s3_body1"/>
          <p:cNvSpPr txBox="1"/>
          <p:nvPr/>
        </p:nvSpPr>
        <p:spPr>
          <a:xfrm>
            <a:off x="1143000" y="2615184"/>
            <a:ext cx="4069080" cy="43891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判断できない時はOリング・筋肉反射で</a:t>
            </a:r>
            <a:endParaRPr lang="en-US" sz="1300" dirty="0"/>
          </a:p>
        </p:txBody>
      </p:sp>
      <p:sp>
        <p:nvSpPr>
          <p:cNvPr id="13" name="s3_card2"/>
          <p:cNvSpPr/>
          <p:nvPr/>
        </p:nvSpPr>
        <p:spPr>
          <a:xfrm>
            <a:off x="457200" y="3236976"/>
            <a:ext cx="4846320" cy="868680"/>
          </a:xfrm>
          <a:prstGeom prst="roundRect">
            <a:avLst>
              <a:gd name="adj" fmla="val 12632"/>
            </a:avLst>
          </a:prstGeom>
          <a:solidFill>
            <a:srgbClr val="EFE8F6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14" name="s32_c"/>
          <p:cNvSpPr/>
          <p:nvPr/>
        </p:nvSpPr>
        <p:spPr>
          <a:xfrm>
            <a:off x="621792" y="3474720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15" name="s32_n"/>
          <p:cNvSpPr txBox="1"/>
          <p:nvPr/>
        </p:nvSpPr>
        <p:spPr>
          <a:xfrm>
            <a:off x="621792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6" name="s3_head2"/>
          <p:cNvSpPr txBox="1"/>
          <p:nvPr/>
        </p:nvSpPr>
        <p:spPr>
          <a:xfrm>
            <a:off x="1143000" y="3291840"/>
            <a:ext cx="40690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確認の質問</a:t>
            </a:r>
            <a:endParaRPr lang="en-US" sz="1500" dirty="0"/>
          </a:p>
        </p:txBody>
      </p:sp>
      <p:sp>
        <p:nvSpPr>
          <p:cNvPr id="17" name="s3_body2"/>
          <p:cNvSpPr txBox="1"/>
          <p:nvPr/>
        </p:nvSpPr>
        <p:spPr>
          <a:xfrm>
            <a:off x="1143000" y="3639312"/>
            <a:ext cx="4069080" cy="43891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「その思い込みが“ゆるんだら”、さっきの目標達成によい影響が出そうですか？」</a:t>
            </a:r>
            <a:endParaRPr lang="en-US" sz="1300" dirty="0"/>
          </a:p>
        </p:txBody>
      </p:sp>
      <p:pic>
        <p:nvPicPr>
          <p:cNvPr id="18" name="Image 0" descr="ガイドブック44ペー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143000"/>
            <a:ext cx="2377440" cy="336499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4　思い込みが生まれた場面へ（解放）</a:t>
            </a:r>
            <a:endParaRPr lang="en-US" sz="2600" dirty="0"/>
          </a:p>
        </p:txBody>
      </p:sp>
      <p:sp>
        <p:nvSpPr>
          <p:cNvPr id="3" name="s4_card0"/>
          <p:cNvSpPr/>
          <p:nvPr/>
        </p:nvSpPr>
        <p:spPr>
          <a:xfrm>
            <a:off x="457200" y="1097280"/>
            <a:ext cx="5669280" cy="676656"/>
          </a:xfrm>
          <a:prstGeom prst="roundRect">
            <a:avLst>
              <a:gd name="adj" fmla="val 16216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4" name="s40_c"/>
          <p:cNvSpPr/>
          <p:nvPr/>
        </p:nvSpPr>
        <p:spPr>
          <a:xfrm>
            <a:off x="603504" y="1243584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5" name="s40_n"/>
          <p:cNvSpPr txBox="1"/>
          <p:nvPr/>
        </p:nvSpPr>
        <p:spPr>
          <a:xfrm>
            <a:off x="603504" y="1243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s4_head0"/>
          <p:cNvSpPr txBox="1"/>
          <p:nvPr/>
        </p:nvSpPr>
        <p:spPr>
          <a:xfrm>
            <a:off x="1097280" y="1124712"/>
            <a:ext cx="4937760" cy="31089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現在のポジションに入る</a:t>
            </a:r>
            <a:endParaRPr lang="en-US" sz="1400" dirty="0"/>
          </a:p>
        </p:txBody>
      </p:sp>
      <p:sp>
        <p:nvSpPr>
          <p:cNvPr id="7" name="s4_body0"/>
          <p:cNvSpPr txBox="1"/>
          <p:nvPr/>
        </p:nvSpPr>
        <p:spPr>
          <a:xfrm>
            <a:off x="1097280" y="1426464"/>
            <a:ext cx="493776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感じていることをVAKで表現する</a:t>
            </a:r>
            <a:endParaRPr lang="en-US" sz="1200" dirty="0"/>
          </a:p>
        </p:txBody>
      </p:sp>
      <p:sp>
        <p:nvSpPr>
          <p:cNvPr id="8" name="s4_card1"/>
          <p:cNvSpPr/>
          <p:nvPr/>
        </p:nvSpPr>
        <p:spPr>
          <a:xfrm>
            <a:off x="457200" y="1883664"/>
            <a:ext cx="5669280" cy="676656"/>
          </a:xfrm>
          <a:prstGeom prst="roundRect">
            <a:avLst>
              <a:gd name="adj" fmla="val 16216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9" name="s41_c"/>
          <p:cNvSpPr/>
          <p:nvPr/>
        </p:nvSpPr>
        <p:spPr>
          <a:xfrm>
            <a:off x="603504" y="2029968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10" name="s41_n"/>
          <p:cNvSpPr txBox="1"/>
          <p:nvPr/>
        </p:nvSpPr>
        <p:spPr>
          <a:xfrm>
            <a:off x="603504" y="2029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s4_head1"/>
          <p:cNvSpPr txBox="1"/>
          <p:nvPr/>
        </p:nvSpPr>
        <p:spPr>
          <a:xfrm>
            <a:off x="1097280" y="1911096"/>
            <a:ext cx="4937760" cy="31089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思い込みが生まれた過去の場面へ移動</a:t>
            </a:r>
            <a:endParaRPr lang="en-US" sz="1400" dirty="0"/>
          </a:p>
        </p:txBody>
      </p:sp>
      <p:sp>
        <p:nvSpPr>
          <p:cNvPr id="12" name="s4_body1"/>
          <p:cNvSpPr txBox="1"/>
          <p:nvPr/>
        </p:nvSpPr>
        <p:spPr>
          <a:xfrm>
            <a:off x="1097280" y="2212848"/>
            <a:ext cx="493776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その場面をVAKで表現する</a:t>
            </a:r>
            <a:endParaRPr lang="en-US" sz="1200" dirty="0"/>
          </a:p>
        </p:txBody>
      </p:sp>
      <p:sp>
        <p:nvSpPr>
          <p:cNvPr id="13" name="s4_card2"/>
          <p:cNvSpPr/>
          <p:nvPr/>
        </p:nvSpPr>
        <p:spPr>
          <a:xfrm>
            <a:off x="457200" y="2670048"/>
            <a:ext cx="5669280" cy="676656"/>
          </a:xfrm>
          <a:prstGeom prst="roundRect">
            <a:avLst>
              <a:gd name="adj" fmla="val 16216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14" name="s42_c"/>
          <p:cNvSpPr/>
          <p:nvPr/>
        </p:nvSpPr>
        <p:spPr>
          <a:xfrm>
            <a:off x="603504" y="2816352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15" name="s42_n"/>
          <p:cNvSpPr txBox="1"/>
          <p:nvPr/>
        </p:nvSpPr>
        <p:spPr>
          <a:xfrm>
            <a:off x="603504" y="2816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6" name="s4_head2"/>
          <p:cNvSpPr txBox="1"/>
          <p:nvPr/>
        </p:nvSpPr>
        <p:spPr>
          <a:xfrm>
            <a:off x="1097280" y="2697480"/>
            <a:ext cx="4937760" cy="31089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ポジションを出て、自分を客観的に見る</a:t>
            </a:r>
            <a:endParaRPr lang="en-US" sz="1400" dirty="0"/>
          </a:p>
        </p:txBody>
      </p:sp>
      <p:sp>
        <p:nvSpPr>
          <p:cNvPr id="17" name="s4_body2"/>
          <p:cNvSpPr txBox="1"/>
          <p:nvPr/>
        </p:nvSpPr>
        <p:spPr>
          <a:xfrm>
            <a:off x="1097280" y="2999232"/>
            <a:ext cx="493776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「本当はどうして欲しかったの？」「本当はどうしたかったの？」</a:t>
            </a:r>
            <a:endParaRPr lang="en-US" sz="1200" dirty="0"/>
          </a:p>
        </p:txBody>
      </p:sp>
      <p:sp>
        <p:nvSpPr>
          <p:cNvPr id="18" name="s4_card3"/>
          <p:cNvSpPr/>
          <p:nvPr/>
        </p:nvSpPr>
        <p:spPr>
          <a:xfrm>
            <a:off x="457200" y="3456432"/>
            <a:ext cx="5669280" cy="676656"/>
          </a:xfrm>
          <a:prstGeom prst="roundRect">
            <a:avLst>
              <a:gd name="adj" fmla="val 16216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19" name="s43_c"/>
          <p:cNvSpPr/>
          <p:nvPr/>
        </p:nvSpPr>
        <p:spPr>
          <a:xfrm>
            <a:off x="603504" y="3602736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20" name="s43_n"/>
          <p:cNvSpPr txBox="1"/>
          <p:nvPr/>
        </p:nvSpPr>
        <p:spPr>
          <a:xfrm>
            <a:off x="603504" y="3602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21" name="s4_head3"/>
          <p:cNvSpPr txBox="1"/>
          <p:nvPr/>
        </p:nvSpPr>
        <p:spPr>
          <a:xfrm>
            <a:off x="1097280" y="3483864"/>
            <a:ext cx="4937760" cy="31089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もう一度ポジションに入り、全部吐き出す</a:t>
            </a:r>
            <a:endParaRPr lang="en-US" sz="1400" dirty="0"/>
          </a:p>
        </p:txBody>
      </p:sp>
      <p:sp>
        <p:nvSpPr>
          <p:cNvPr id="22" name="s4_body3"/>
          <p:cNvSpPr txBox="1"/>
          <p:nvPr/>
        </p:nvSpPr>
        <p:spPr>
          <a:xfrm>
            <a:off x="1097280" y="3785616"/>
            <a:ext cx="493776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怒鳴る・泣く・大声・体を動かすなどOK（100％出たか？）</a:t>
            </a:r>
            <a:endParaRPr lang="en-US" sz="1200" dirty="0"/>
          </a:p>
        </p:txBody>
      </p:sp>
      <p:sp>
        <p:nvSpPr>
          <p:cNvPr id="23" name="s4_safe"/>
          <p:cNvSpPr/>
          <p:nvPr/>
        </p:nvSpPr>
        <p:spPr>
          <a:xfrm>
            <a:off x="6355080" y="1097280"/>
            <a:ext cx="2331720" cy="3035808"/>
          </a:xfrm>
          <a:prstGeom prst="roundRect">
            <a:avLst>
              <a:gd name="adj" fmla="val 4706"/>
            </a:avLst>
          </a:prstGeom>
          <a:solidFill>
            <a:srgbClr val="E6F3EF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24" name="s4_safe_t"/>
          <p:cNvSpPr txBox="1"/>
          <p:nvPr/>
        </p:nvSpPr>
        <p:spPr>
          <a:xfrm>
            <a:off x="6492240" y="1234440"/>
            <a:ext cx="2057400" cy="2788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苦しくなったら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いったん止めて、息を完全に吐き切る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相手が聞いてくれていて、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謝っているイメージで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5　和解と許し → 5次元の未来へ</a:t>
            </a:r>
            <a:endParaRPr lang="en-US" sz="2600" dirty="0"/>
          </a:p>
        </p:txBody>
      </p:sp>
      <p:sp>
        <p:nvSpPr>
          <p:cNvPr id="3" name="s5_a"/>
          <p:cNvSpPr/>
          <p:nvPr/>
        </p:nvSpPr>
        <p:spPr>
          <a:xfrm>
            <a:off x="457200" y="1188720"/>
            <a:ext cx="4846320" cy="1417320"/>
          </a:xfrm>
          <a:prstGeom prst="roundRect">
            <a:avLst>
              <a:gd name="adj" fmla="val 7742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4" name="s5_a_t"/>
          <p:cNvSpPr txBox="1"/>
          <p:nvPr/>
        </p:nvSpPr>
        <p:spPr>
          <a:xfrm>
            <a:off x="640080" y="1280160"/>
            <a:ext cx="4572000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和解と許し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相手の中に入って「相手の信念・価値観はいつできたのか？」を考える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相手は本当はどうしたかったのか？</a:t>
            </a:r>
            <a:endParaRPr lang="en-US" sz="1400" dirty="0"/>
          </a:p>
        </p:txBody>
      </p:sp>
      <p:sp>
        <p:nvSpPr>
          <p:cNvPr id="5" name="s5_b"/>
          <p:cNvSpPr/>
          <p:nvPr/>
        </p:nvSpPr>
        <p:spPr>
          <a:xfrm>
            <a:off x="457200" y="2788920"/>
            <a:ext cx="4846320" cy="1325880"/>
          </a:xfrm>
          <a:prstGeom prst="roundRect">
            <a:avLst>
              <a:gd name="adj" fmla="val 8276"/>
            </a:avLst>
          </a:prstGeom>
          <a:solidFill>
            <a:srgbClr val="EFE8F6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s5_b_t"/>
          <p:cNvSpPr txBox="1"/>
          <p:nvPr/>
        </p:nvSpPr>
        <p:spPr>
          <a:xfrm>
            <a:off x="640080" y="2880360"/>
            <a:ext cx="4572000" cy="1188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5次元・未来側からエフィカシーを設定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ワンランク上の大成功している「5次元・未来ポジション」へ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VAKを2倍・3倍と強めていく</a:t>
            </a:r>
            <a:endParaRPr lang="en-US" sz="1400" dirty="0"/>
          </a:p>
        </p:txBody>
      </p:sp>
      <p:pic>
        <p:nvPicPr>
          <p:cNvPr id="7" name="Image 0" descr="ガイドブック45ペー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143000"/>
            <a:ext cx="2377440" cy="336499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エネルギーで取り除く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残っているものを、やさしく手放していきます（75〜85分）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点数をつけ直してみましょう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1554480"/>
                <a:gridCol w="155448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上位3つの思い込み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はじめ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いま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end_q"/>
          <p:cNvSpPr/>
          <p:nvPr/>
        </p:nvSpPr>
        <p:spPr>
          <a:xfrm>
            <a:off x="457200" y="3611880"/>
            <a:ext cx="8229600" cy="868680"/>
          </a:xfrm>
          <a:prstGeom prst="roundRect">
            <a:avLst>
              <a:gd name="adj" fmla="val 12632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5" name="end_q_t"/>
          <p:cNvSpPr txBox="1"/>
          <p:nvPr/>
        </p:nvSpPr>
        <p:spPr>
          <a:xfrm>
            <a:off x="640080" y="3703320"/>
            <a:ext cx="786384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今日、いちばん変わったと感じることは何ですか？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0003"/>
            <a:ext cx="9144000" cy="510349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海音ロ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9080" y="411480"/>
            <a:ext cx="1005840" cy="97383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417320"/>
            <a:ext cx="7680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ありがとうございました</a:t>
            </a:r>
            <a:endParaRPr lang="en-US" sz="3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26974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海音（かのん）〜心体の調律〜　髙橋 由香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anon">
  <a:themeElements>
    <a:clrScheme name="Kanon">
      <a:dk1>
        <a:srgbClr val="4A4440"/>
      </a:dk1>
      <a:lt1>
        <a:srgbClr val="FFFFFF"/>
      </a:lt1>
      <a:dk2>
        <a:srgbClr val="5C4A2E"/>
      </a:dk2>
      <a:lt2>
        <a:srgbClr val="FDFAF4"/>
      </a:lt2>
      <a:accent1>
        <a:srgbClr val="B08A4E"/>
      </a:accent1>
      <a:accent2>
        <a:srgbClr val="8C6A34"/>
      </a:accent2>
      <a:accent3>
        <a:srgbClr val="E9D9B6"/>
      </a:accent3>
      <a:accent4>
        <a:srgbClr val="EFE8F6"/>
      </a:accent4>
      <a:accent5>
        <a:srgbClr val="E6F3EF"/>
      </a:accent5>
      <a:accent6>
        <a:srgbClr val="F8EBEE"/>
      </a:accent6>
      <a:hlink>
        <a:srgbClr val="8C6A34"/>
      </a:hlink>
      <a:folHlink>
        <a:srgbClr val="7A716A"/>
      </a:folHlink>
    </a:clrScheme>
    <a:fontScheme name="Kanon">
      <a:majorFont>
        <a:latin typeface="Yu Minch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お金のブロックを外す 単発セッション</dc:title>
  <dc:subject>PptxGenJS Presentation</dc:subject>
  <dc:creator>海音（かのん）〜心体の調律〜 髙橋由香</dc:creator>
  <cp:lastModifiedBy>海音（かのん）〜心体の調律〜 髙橋由香</cp:lastModifiedBy>
  <cp:revision>1</cp:revision>
  <dcterms:created xsi:type="dcterms:W3CDTF">2026-10-27T12:17:25Z</dcterms:created>
  <dcterms:modified xsi:type="dcterms:W3CDTF">2026-10-27T12:17:25Z</dcterms:modified>
</cp:coreProperties>
</file>
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a56feee0-a017-b48e-5897-9bb269e84c75}">
          <p14:sldIdLst>
            <p14:sldId id="256"/>
            <p14:sldId id="257"/>
          </p14:sldIdLst>
        </p14:section>
        <p14:section name="第1部 頭の構造を知る" id="{3b67756c-a508-0d1d-b7ef-033a4d1d21b8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第2部 魂の傷を聴く" id="{49e6202e-49ac-64cd-61dd-166a779eeb37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ワーク 思い込みを書き換える" id="{de1cc901-7318-68ab-fb8b-071e7aa6f602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エネルギー" id="{ce9b6a62-2052-c7fe-1f0c-cdc52b5960f1}">
          <p14:sldIdLst>
            <p14:sldId id="294"/>
          </p14:sldIdLst>
        </p14:section>
        <p14:section name="まとめ" id="{533ddf20-9507-8e27-1960-4944860f21fc}">
          <p14:sldIdLst>
            <p14:sldId id="295"/>
            <p14:sldId id="296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開始。今日は90分で、講座→お話→ワーク→エネルギーの順に進めることを伝える。書くのは由香が画面の中で行うので、仁部さんは話すこと・感じることに集中してOKと伝える。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ここから15分。1枚ずつの説明ではなく、ひとつのお話としてつなげて話す。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物語の入り口。「それはあなたの意志が弱いからではなく、頭（脳）の仕組みだから」と伝えて、次へ。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感情がないと行動は起きない。理性はエネルギーを使う。理論は後付け。→だから、お金の行動を変えるには、理屈ではなく感情に触れる必要がある。次は、その感情を動かしている脳の3つのクセ。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言葉だけを見せて、少し間を置く。「ピンクの象を想像しないでください」と言ってから次のスライドへ。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1日6万回考え、80％はネガティブ、95％は昨日と同じ。これは自分を守るための防衛本能（ホメオスタシス）。悪いことではない。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強い出来事はトラウマ化して、タグ付きファイルとして保存される。脳は過去のマイナス体験を一般化して未来を予測する。→では、その強い思いはいつ刻まれるのか？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ゴールデンエイジまでの言われ方・見てきたことが、そのまま今の基準になっている。由香さんの言葉で補足する。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焦り・無価値観→嫉妬・怒り→悲しみ→絶対的安心感。スキップせずに順番に感じることで癒える。無理にポジティブに変えない（ポジ変禁止）。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物語のしめくくり。第2部につなぐ。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ここから20分。1問ずつ、ゆっくり聴く。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お金のブロックについて、本人の言葉で。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数字をメモしておく（最後の変化の確認にも使える）。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お父さんのお酒・家にお金を入れない・毎日の大喧嘩の話が出たら、ワークの場面候補としてメモ。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アートシフトワーク その18（エフィカシーを上げる5次元タイムライン）。画面では「5次元」「VAK」「ポジション」の言葉は使わない。ここから40分。思い込みは20個ではなく、1階層目5つ＋2階層目まで（10個くらい）にしぼる。書き込みは由香が画面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例：「私は豊かにお金を受け取りたい！ただ…」。目標の言葉は仁部さんと決める。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由香が画面共有したまま表に打ち込む。仁部さんは話すだけでOK。10個くらい出たら次へ。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VAKという言葉は使わず「何が見える？何が聞こえる？体はどんな感じ？」と聞く。お父さんのお酒・両親の喧嘩の場面が出る可能性が高い。感情が強く出たら止めて呼吸に戻す。ポジ変をしない。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怒鳴る・泣く・大声を出す・体を大きく動かす・殴るなどしてOK。相手が聞いてくれている・謝っているイメージで。出し切るまで待つ。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このあと和解の質問を1つずつ。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相手の立場を4次元でゆらしながら感じる。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相手が目指していたゴールと自分のゴールを統合する（色・形・イメージなどで）。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見える・聞こえる・体の感じを2倍・3倍に大きくしていく。5次元・現在ポジションで具体的に何をしているかも聴く。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はじめの点数といまの点数を並べて、変化を目で見てもらう。終わったらこのスライドを画像にしてLINEで送れる。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QUESTION-image-1.jpe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お金のブロックを外す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仁部 あきえ さん　90分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今日の流れ（90分）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0〜15分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15〜35分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35〜75分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75〜85分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残ったものを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85〜90分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点数を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つけ直す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なぜ「わかっているのに」変われないのか（0〜15分）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はじめに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お金のことになると、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なぜか同じところで止まってしまう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そんなこと、ありませんか？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1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「わかっているのに変われない」のは、意志が弱いからではありません。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頭で考えるより先に、感情が動いているからです。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ピンクの象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2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「お金で困らないように」と思うほど、脳は「困る」場面を思い描いてしまいます。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3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放っておくと、昨日と同じことを考える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何もしなければ、お金への考え方も、昨日と同じものが毎日くり返されます。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4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脳のクセ③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子どもの頃の強い体験は「二度と触れるな」と保存されて、今のお金の判断にブレーキをかけます。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5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子どもの頃に、お金のまわりで見たこと・聞いたことが、今の「お金の当たり前」になっています。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6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あなたの「お金の当たり前」は、あなたの家で作られたもの。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7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「お金は怖い」を無理に「お金が好き」に変えることではありません。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古い情報を、新しい情報に入れ替えられる状態のことです。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8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入れ替えるには、感情を順番に感じ切る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57957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57957"/>
          </a:xfrm>
          <a:prstGeom prst="roundRect">
            <a:avLst>
              <a:gd name="adj" fmla="val 383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1787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怒りや悲しみが出てきても大丈夫。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それは消化が進んでいるサインです。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では、あなたの「お金の当たり前」は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どこで作られたのでしょう？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ここからは、お話を聴かせてください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直感でおしえてください（15〜35分）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お悩みの内容を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今どの段階ですか？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何故、悩んでいますか？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その悩みは、あなたの人生に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私たちの問題は、幼少期の影響を受けていることが多いです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今のお悩みに、幼少期の影響が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あると思われますか？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あるなーと思っても、思わなくても、どちらでも大丈夫です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思い込みが生まれた場面に戻って、書き換えていきます（35〜75分）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　お金の思い込みを見つける</a:t>
            </a:r>
            <a:endParaRPr lang="en-US" sz="2400" dirty="0"/>
          </a:p>
        </p:txBody>
      </p:sp>
      <p:sp>
        <p:nvSpPr>
          <p:cNvPr id="3" name="s1_goal"/>
          <p:cNvSpPr/>
          <p:nvPr/>
        </p:nvSpPr>
        <p:spPr>
          <a:xfrm>
            <a:off x="457200" y="12344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1_goal_t"/>
          <p:cNvSpPr txBox="1"/>
          <p:nvPr/>
        </p:nvSpPr>
        <p:spPr>
          <a:xfrm>
            <a:off x="640080" y="1325880"/>
            <a:ext cx="48463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「私は〇〇を達成したい！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ただ、〇〇ができないかもしれない！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きついかもしれない…」</a:t>
            </a:r>
            <a:endParaRPr lang="en-US" sz="1700" dirty="0"/>
          </a:p>
        </p:txBody>
      </p:sp>
      <p:sp>
        <p:nvSpPr>
          <p:cNvPr id="5" name="s1_q"/>
          <p:cNvSpPr/>
          <p:nvPr/>
        </p:nvSpPr>
        <p:spPr>
          <a:xfrm>
            <a:off x="457200" y="278892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1_q_t"/>
          <p:cNvSpPr txBox="1"/>
          <p:nvPr/>
        </p:nvSpPr>
        <p:spPr>
          <a:xfrm>
            <a:off x="640080" y="2880360"/>
            <a:ext cx="484632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この言葉のあとに出てくる気持ちが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「お金の思い込み」の入り口です</a:t>
            </a:r>
            <a:endParaRPr lang="en-US" sz="1500" dirty="0"/>
          </a:p>
        </p:txBody>
      </p:sp>
      <p:pic>
        <p:nvPicPr>
          <p:cNvPr id="7" name="Image 0" descr="ガイドブック43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情報発信が魅力的でない 50点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批判されるのが嫌だ 75点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1階層目で一番強いものを軸に、2階層目も同じ質問で出す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点数がわからない時はOリング・筋肉反射で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　一番邪魔している思い込みを決める</a:t>
            </a:r>
            <a:endParaRPr lang="en-US" sz="2400" dirty="0"/>
          </a:p>
        </p:txBody>
      </p:sp>
      <p:sp>
        <p:nvSpPr>
          <p:cNvPr id="3" name="s3_card0"/>
          <p:cNvSpPr/>
          <p:nvPr/>
        </p:nvSpPr>
        <p:spPr>
          <a:xfrm>
            <a:off x="457200" y="123444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30_c"/>
          <p:cNvSpPr/>
          <p:nvPr/>
        </p:nvSpPr>
        <p:spPr>
          <a:xfrm>
            <a:off x="621792" y="149961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30_n"/>
          <p:cNvSpPr txBox="1"/>
          <p:nvPr/>
        </p:nvSpPr>
        <p:spPr>
          <a:xfrm>
            <a:off x="62179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3_head0"/>
          <p:cNvSpPr txBox="1"/>
          <p:nvPr/>
        </p:nvSpPr>
        <p:spPr>
          <a:xfrm>
            <a:off x="1143000" y="132588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情動が強いもの上位3つを選ぶ</a:t>
            </a:r>
            <a:endParaRPr lang="en-US" sz="1500" dirty="0"/>
          </a:p>
        </p:txBody>
      </p:sp>
      <p:sp>
        <p:nvSpPr>
          <p:cNvPr id="7" name="s3_body0"/>
          <p:cNvSpPr txBox="1"/>
          <p:nvPr/>
        </p:nvSpPr>
        <p:spPr>
          <a:xfrm>
            <a:off x="114300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全体を見て、点数の高いものから</a:t>
            </a:r>
            <a:endParaRPr lang="en-US" sz="1300" dirty="0"/>
          </a:p>
        </p:txBody>
      </p:sp>
      <p:sp>
        <p:nvSpPr>
          <p:cNvPr id="8" name="s3_card1"/>
          <p:cNvSpPr/>
          <p:nvPr/>
        </p:nvSpPr>
        <p:spPr>
          <a:xfrm>
            <a:off x="457200" y="233172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31_c"/>
          <p:cNvSpPr/>
          <p:nvPr/>
        </p:nvSpPr>
        <p:spPr>
          <a:xfrm>
            <a:off x="621792" y="2596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31_n"/>
          <p:cNvSpPr txBox="1"/>
          <p:nvPr/>
        </p:nvSpPr>
        <p:spPr>
          <a:xfrm>
            <a:off x="621792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3_head1"/>
          <p:cNvSpPr txBox="1"/>
          <p:nvPr/>
        </p:nvSpPr>
        <p:spPr>
          <a:xfrm>
            <a:off x="1143000" y="242316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一番邪魔している思い込みを1つ決める</a:t>
            </a:r>
            <a:endParaRPr lang="en-US" sz="1500" dirty="0"/>
          </a:p>
        </p:txBody>
      </p:sp>
      <p:sp>
        <p:nvSpPr>
          <p:cNvPr id="12" name="s3_body1"/>
          <p:cNvSpPr txBox="1"/>
          <p:nvPr/>
        </p:nvSpPr>
        <p:spPr>
          <a:xfrm>
            <a:off x="114300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判断できない時はOリング・筋肉反射で</a:t>
            </a:r>
            <a:endParaRPr lang="en-US" sz="1300" dirty="0"/>
          </a:p>
        </p:txBody>
      </p:sp>
      <p:pic>
        <p:nvPicPr>
          <p:cNvPr id="13" name="Image 0" descr="ガイドブック44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その思い込みが“ゆるんだら”、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目標達成によい影響が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4　思い込みが生まれた場面へ（解放）</a:t>
            </a:r>
            <a:endParaRPr lang="en-US" sz="2400" dirty="0"/>
          </a:p>
        </p:txBody>
      </p:sp>
      <p:sp>
        <p:nvSpPr>
          <p:cNvPr id="3" name="s4_card0"/>
          <p:cNvSpPr/>
          <p:nvPr/>
        </p:nvSpPr>
        <p:spPr>
          <a:xfrm>
            <a:off x="457200" y="1188720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40_c"/>
          <p:cNvSpPr/>
          <p:nvPr/>
        </p:nvSpPr>
        <p:spPr>
          <a:xfrm>
            <a:off x="603504" y="133502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40_n"/>
          <p:cNvSpPr txBox="1"/>
          <p:nvPr/>
        </p:nvSpPr>
        <p:spPr>
          <a:xfrm>
            <a:off x="603504" y="1335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4_head0"/>
          <p:cNvSpPr txBox="1"/>
          <p:nvPr/>
        </p:nvSpPr>
        <p:spPr>
          <a:xfrm>
            <a:off x="1097280" y="1216152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今の自分の場所に立つ</a:t>
            </a:r>
            <a:endParaRPr lang="en-US" sz="1400" dirty="0"/>
          </a:p>
        </p:txBody>
      </p:sp>
      <p:sp>
        <p:nvSpPr>
          <p:cNvPr id="7" name="s4_body0"/>
          <p:cNvSpPr txBox="1"/>
          <p:nvPr/>
        </p:nvSpPr>
        <p:spPr>
          <a:xfrm>
            <a:off x="1097280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今の気持ちを、見えるもの・聞こえるもの・体の感じで話す</a:t>
            </a:r>
            <a:endParaRPr lang="en-US" sz="1200" dirty="0"/>
          </a:p>
        </p:txBody>
      </p:sp>
      <p:sp>
        <p:nvSpPr>
          <p:cNvPr id="8" name="s4_card1"/>
          <p:cNvSpPr/>
          <p:nvPr/>
        </p:nvSpPr>
        <p:spPr>
          <a:xfrm>
            <a:off x="457200" y="1975104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41_c"/>
          <p:cNvSpPr/>
          <p:nvPr/>
        </p:nvSpPr>
        <p:spPr>
          <a:xfrm>
            <a:off x="603504" y="212140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41_n"/>
          <p:cNvSpPr txBox="1"/>
          <p:nvPr/>
        </p:nvSpPr>
        <p:spPr>
          <a:xfrm>
            <a:off x="603504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4_head1"/>
          <p:cNvSpPr txBox="1"/>
          <p:nvPr/>
        </p:nvSpPr>
        <p:spPr>
          <a:xfrm>
            <a:off x="1097280" y="2002536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思い込みが生まれた過去の場面へ移動</a:t>
            </a:r>
            <a:endParaRPr lang="en-US" sz="1400" dirty="0"/>
          </a:p>
        </p:txBody>
      </p:sp>
      <p:sp>
        <p:nvSpPr>
          <p:cNvPr id="12" name="s4_body1"/>
          <p:cNvSpPr txBox="1"/>
          <p:nvPr/>
        </p:nvSpPr>
        <p:spPr>
          <a:xfrm>
            <a:off x="109728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その場面で、何が見えて、何が聞こえて、体はどんな感じか</a:t>
            </a:r>
            <a:endParaRPr lang="en-US" sz="1200" dirty="0"/>
          </a:p>
        </p:txBody>
      </p:sp>
      <p:sp>
        <p:nvSpPr>
          <p:cNvPr id="13" name="s4_card2"/>
          <p:cNvSpPr/>
          <p:nvPr/>
        </p:nvSpPr>
        <p:spPr>
          <a:xfrm>
            <a:off x="457200" y="2761488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4" name="s42_c"/>
          <p:cNvSpPr/>
          <p:nvPr/>
        </p:nvSpPr>
        <p:spPr>
          <a:xfrm>
            <a:off x="603504" y="2907792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5" name="s42_n"/>
          <p:cNvSpPr txBox="1"/>
          <p:nvPr/>
        </p:nvSpPr>
        <p:spPr>
          <a:xfrm>
            <a:off x="603504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s4_head2"/>
          <p:cNvSpPr txBox="1"/>
          <p:nvPr/>
        </p:nvSpPr>
        <p:spPr>
          <a:xfrm>
            <a:off x="1097280" y="2788920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その場所から出て、自分を外から見る</a:t>
            </a:r>
            <a:endParaRPr lang="en-US" sz="1400" dirty="0"/>
          </a:p>
        </p:txBody>
      </p:sp>
      <p:sp>
        <p:nvSpPr>
          <p:cNvPr id="17" name="s4_body2"/>
          <p:cNvSpPr txBox="1"/>
          <p:nvPr/>
        </p:nvSpPr>
        <p:spPr>
          <a:xfrm>
            <a:off x="1097280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次の2つの質問を、1つずつ聴いていく</a:t>
            </a:r>
            <a:endParaRPr lang="en-US" sz="1200" dirty="0"/>
          </a:p>
        </p:txBody>
      </p:sp>
      <p:sp>
        <p:nvSpPr>
          <p:cNvPr id="18" name="s4_card3"/>
          <p:cNvSpPr/>
          <p:nvPr/>
        </p:nvSpPr>
        <p:spPr>
          <a:xfrm>
            <a:off x="457200" y="3547872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9" name="s43_c"/>
          <p:cNvSpPr/>
          <p:nvPr/>
        </p:nvSpPr>
        <p:spPr>
          <a:xfrm>
            <a:off x="603504" y="369417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20" name="s43_n"/>
          <p:cNvSpPr txBox="1"/>
          <p:nvPr/>
        </p:nvSpPr>
        <p:spPr>
          <a:xfrm>
            <a:off x="603504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s4_head3"/>
          <p:cNvSpPr txBox="1"/>
          <p:nvPr/>
        </p:nvSpPr>
        <p:spPr>
          <a:xfrm>
            <a:off x="1097280" y="3575304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もう一度その場所に戻り、全部吐き出す</a:t>
            </a:r>
            <a:endParaRPr lang="en-US" sz="1400" dirty="0"/>
          </a:p>
        </p:txBody>
      </p:sp>
      <p:sp>
        <p:nvSpPr>
          <p:cNvPr id="22" name="s4_body3"/>
          <p:cNvSpPr txBox="1"/>
          <p:nvPr/>
        </p:nvSpPr>
        <p:spPr>
          <a:xfrm>
            <a:off x="1097280" y="3877056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怒鳴る・泣く・大声・体を動かすなどOK</a:t>
            </a:r>
            <a:endParaRPr lang="en-US" sz="1200" dirty="0"/>
          </a:p>
        </p:txBody>
      </p:sp>
      <p:sp>
        <p:nvSpPr>
          <p:cNvPr id="23" name="s4_safe"/>
          <p:cNvSpPr/>
          <p:nvPr/>
        </p:nvSpPr>
        <p:spPr>
          <a:xfrm>
            <a:off x="6355080" y="1188720"/>
            <a:ext cx="2331720" cy="3035808"/>
          </a:xfrm>
          <a:prstGeom prst="roundRect">
            <a:avLst>
              <a:gd name="adj" fmla="val 4706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4" name="s4_safe_t"/>
          <p:cNvSpPr txBox="1"/>
          <p:nvPr/>
        </p:nvSpPr>
        <p:spPr>
          <a:xfrm>
            <a:off x="6492240" y="1325880"/>
            <a:ext cx="2057400" cy="2788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苦しくなったら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いったん止めて、息を完全に吐き切る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相手が聞いてくれて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謝っている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イメージで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「満たされていない想い」を、言葉にしていきます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もう一度その場所に戻って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言いたかったことを、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全部吐き出しましょう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100％出せましたか？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5　和解と許し → 理想の未来へ</a:t>
            </a:r>
            <a:endParaRPr lang="en-US" sz="2400" dirty="0"/>
          </a:p>
        </p:txBody>
      </p:sp>
      <p:sp>
        <p:nvSpPr>
          <p:cNvPr id="3" name="s5_a"/>
          <p:cNvSpPr/>
          <p:nvPr/>
        </p:nvSpPr>
        <p:spPr>
          <a:xfrm>
            <a:off x="457200" y="12344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5_a_t"/>
          <p:cNvSpPr txBox="1"/>
          <p:nvPr/>
        </p:nvSpPr>
        <p:spPr>
          <a:xfrm>
            <a:off x="640080" y="1325880"/>
            <a:ext cx="48463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和解と許し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相手の中に入って、相手の立場を感じてみる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和解は100％でなくてもOK</a:t>
            </a:r>
            <a:endParaRPr lang="en-US" sz="1400" dirty="0"/>
          </a:p>
        </p:txBody>
      </p:sp>
      <p:sp>
        <p:nvSpPr>
          <p:cNvPr id="5" name="s5_b"/>
          <p:cNvSpPr/>
          <p:nvPr/>
        </p:nvSpPr>
        <p:spPr>
          <a:xfrm>
            <a:off x="457200" y="278892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5_b_t"/>
          <p:cNvSpPr txBox="1"/>
          <p:nvPr/>
        </p:nvSpPr>
        <p:spPr>
          <a:xfrm>
            <a:off x="640080" y="2880360"/>
            <a:ext cx="484632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理想の未来から、自分を信じる力を育てる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大成功している未来の自分になってみる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見える景色・聞こえる声・体の感じを大きく</a:t>
            </a:r>
            <a:endParaRPr lang="en-US" sz="1400" dirty="0"/>
          </a:p>
        </p:txBody>
      </p:sp>
      <p:pic>
        <p:nvPicPr>
          <p:cNvPr id="7" name="Image 0" descr="ガイドブック45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相手の信念・価値観は、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いつできたのでしょう？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相手の中に入って、感じてみてください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相手は本当は、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なぜ、そんな行為をしてしまったのでしょう？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理想の未来から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大成功しているあなたは、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何が見えて、何が聞こえて、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どんな感じがしますか？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残っているものを、やさしく手放していきます（75〜85分）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点数をつけ直してみましょう</a:t>
            </a:r>
            <a:endParaRPr lang="en-US" sz="24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  <a:gridCol w="155448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上位3つの思い込み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はじめ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いま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se_head"/>
          <p:cNvSpPr txBox="1"/>
          <p:nvPr/>
        </p:nvSpPr>
        <p:spPr>
          <a:xfrm>
            <a:off x="731520" y="548640"/>
            <a:ext cx="76809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すべての土台：「絶対的安心感」</a:t>
            </a:r>
            <a:endParaRPr lang="en-US" sz="1800" dirty="0"/>
          </a:p>
        </p:txBody>
      </p:sp>
      <p:sp>
        <p:nvSpPr>
          <p:cNvPr id="3" name="base_main"/>
          <p:cNvSpPr txBox="1"/>
          <p:nvPr/>
        </p:nvSpPr>
        <p:spPr>
          <a:xfrm>
            <a:off x="548640" y="128016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「何をやっても、やらなくても大丈夫。」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「嫌なことをやめても、愛される。」</a:t>
            </a:r>
            <a:endParaRPr lang="en-US" sz="3000" dirty="0"/>
          </a:p>
        </p:txBody>
      </p:sp>
      <p:sp>
        <p:nvSpPr>
          <p:cNvPr id="4" name="base_sub"/>
          <p:cNvSpPr txBox="1"/>
          <p:nvPr/>
        </p:nvSpPr>
        <p:spPr>
          <a:xfrm>
            <a:off x="731520" y="31546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この根拠のない自信があるからこそ、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人はリスクを取り、大きく成長することができます。</a:t>
            </a:r>
            <a:endParaRPr lang="en-US" sz="16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お金のブロックを外す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2026-10-27T12:47:55Z</dcterms:created>
  <dcterms:modified xsi:type="dcterms:W3CDTF">2026-10-27T12:47:55Z</dcterms:modified>
</cp:coreProperties>
</file>
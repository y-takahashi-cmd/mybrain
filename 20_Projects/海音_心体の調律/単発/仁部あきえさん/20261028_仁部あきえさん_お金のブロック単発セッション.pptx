
<file path=[Content_Types].xml><?xml version="1.0" encoding="utf-8"?>
<Types xmlns="http://schemas.openxmlformats.org/package/2006/content-types">
  <Default Extension="jpg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8-1.jpg" ContentType="image/jpg"/>
  <Override PartName="/ppt/media/image-20-1.jpg" ContentType="image/jpg"/>
  <Override PartName="/ppt/media/image-21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8-1.jpg" ContentType="image/jpg"/>
  <Override PartName="/ppt/media/image-33-1.jpg" ContentType="image/jpg"/>
  <Override PartName="/ppt/media/image-41-1.jpg" ContentType="image/jpg"/>
  <Override PartName="/ppt/media/image-4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d0cac06e-906d-6021-e1e4-4d7f773f100e}">
          <p14:sldIdLst>
            <p14:sldId id="256"/>
            <p14:sldId id="257"/>
            <p14:sldId id="258"/>
          </p14:sldIdLst>
        </p14:section>
        <p14:section name="第1部 魂の傷を聴く" id="{eddc714c-afaa-b959-45c3-2d96981615d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第2部 頭の構造を知る" id="{51247acd-4ad0-caec-f7e5-e54a33cb2d17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ワーク 思い込みを書き換える" id="{e5cc6f21-c594-09ad-bba9-21a9fc39b0d1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エネルギー" id="{40e4ae45-d2be-1820-2065-db5ee4916db6}">
          <p14:sldIdLst>
            <p14:sldId id="299"/>
          </p14:sldIdLst>
        </p14:section>
        <p14:section name="まとめ" id="{8043cf5a-6f2c-b32d-8851-a39ef9177907}">
          <p14:sldIdLst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開始。今日は90分で、講座→お話→ワーク→エネルギーの順に進めることを伝える。書くのは由香が画面の中で行うので、仁部さんは話すこと・感じることに集中してOKと伝える。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全体の流れ。質問は1つずつゆっくり聴いていく。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はじめに安心を渡す。今日の目標は「一つ気づいて、一つ持ち帰る」。最後の「最初の一歩」が持ち帰るものになる。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ここから20分。1問ずつ、ゆっくり聴く。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お金のブロックについて、本人の言葉で。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数字をメモしておく（最後の変化の確認にも使える）。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ここでは短く一言だけ。くわしくは第2部の「ゴールデンエイジ」のスライドで話す。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本人のOKをもらってから、幼少期の質問へ。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お父さんのお酒・家にお金を入れない・毎日の大喧嘩の話が出たら、ワークの場面候補としてメモ。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ここは特にゆっくり。出てきた言葉はワークのSTEP4で使える。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仁部さんが話してくれたエピソード。怖かった？悲しかった？怒り？寂しさ？と、気持ちに名前をつける手伝いをする。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聴いたお話を受け取ってから、講座へ。講座の途中で、いま聴いた話（お父さんのお酒・両親の喧嘩など）につなげて話す。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ここから15分。1枚ずつの説明ではなく、ひとつのお話としてつなげて話す。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物語の入り口。第1部で聴いた仁部さんの話を受けて「それはあなたの意志が弱いからではなく、頭（脳）の仕組みだから」と伝えて、次へ。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感情がないと行動は起きない。理性はエネルギーを使う。理論は後付け。→だから、お金の行動を変えるには、理屈ではなく感情に触れる必要がある。次は、その感情を動かしている脳の3つのクセ。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言葉だけを見せて、少し間を置く。「ピンクの象を想像しないでください」と言ってから次のスライドへ。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ピンクの象を想像しないでください→想像してしまう。脳は否定語を受け付けない。新しいことを嫌い、変わらない言い訳を上手に作る。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い出来事はトラウマ化して、タグ付きファイルとして保存される。脳は過去のマイナス体験を一般化して未来を予測する。→第1部で聴いたお父さん・お母さんの話は、ここにつながる。では、その強い思いはいつ刻まれるの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第1部で少し話したゴールデンエイジの、くわしい話。言われ方・見てきたことが、そのまま今の基準になっている。由香さんの言葉で補足する。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メロンちょっと食べた→この人の「ちょっと」はどのくらい？　普通＝当たり前は人それぞれ。みんなの当たり前は同じではない。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ネガティブ＝情報の入れ替えができない、自分の正しさに固執する。ポジティブ＝入れ替えができる、他の正しさを認められる。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焦り・無価値観→嫉妬・怒り→悲しみ→絶対的安心感。「だから、今から感じ切るワークをしましょう」とワークへ。スキップせずに順番に感じることで癒える。無理にポジティブに変えない（ポジ変禁止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アートシフトワーク その18（エフィカシーを上げる5次元タイムライン）。画面では「5次元」「VAK」「ポジション」の言葉は使わない。ここから40分。思い込みは20個ではなく、1階層目5つ＋2階層目まで（10個くらい）にしぼる。書き込みは由香が画面の表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ワークに入る前に伝える。今日で全部終わらせようとしなくていい、というメッセージ。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見せないスライド。画面共有を止めてから読む。読んだら次のスライドで共有を再開。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由香が＿＿の所に本人の言葉を打ち込む。ここで出た言葉が、思い込みの入口（ガイドブックの「私は〇〇を達成したい！ただ…」の代わり）。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どちらでもOK。守ってくれていたなら、まずそれを認めてから次へ。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1階層目を5つ以上。出てきたものは次の表に打ち込む。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画面共有したまま表に打ち込む。仁部さんは話すだけでOK。10個くらい出たら次へ。1階層目で一番強いものを軸に、2階層目も同じ質問で出す。点数がわからない時はOリング・筋肉反射で。例：情報発信が魅力的でない50点／批判されるのが嫌だ75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見せないスライド。画面共有を止めてから読む。読んだら次のスライドで共有を再開。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表の上位3つに印をつける→その中で一番邪魔しているものを1つ。判断できない時はOリング・筋肉反射で。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YESなら、その思い込みでSTEP4へ。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手順：①今の自分の場所に立ち、今の気持ちを話す ②思い込みが生まれた過去の場面へ移動し、見える・色・聞こえる・体の感じで話す ③その場所から出て、自分を外から見る→次の2つの質問 ④もう一度その場所に戻り、全部吐き出す。VAKという言葉は使わない。お父さんのお酒・両親の喧嘩の場面が出る可能性が高い。感情が強く出たら止めて呼吸に戻す。ポジ変をしない。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ポジションの外から、子どもの頃の自分を見ながら。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見える・色・聞こえる・体の感じで、理想の自分をはっきりさせる。その理想のあなたから、次のスライドで「あの時のあなた」に言葉をかける。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＿＿に本人の言葉を打ち込む。言いたかったことを全部吐き出す（100％出たか？）。怒鳴る・泣く・大声を出す・体を大きく動かす・殴るなどしてOK。相手が聞いてくれている・謝っているイメージで。出し切るまで待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見せないスライド。画面共有を止めてから読む。読んだら次のスライドで共有を再開。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見える・聞こえる・体の感じを2倍・3倍に大きくしていく。5次元・現在ポジションで具体的に何をしているかも聴く。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由香が本人の言葉をそのまま打ち込む。言葉は本人が決める（由香が作らない）。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ワークで残ったものをエネルギーで取り除く。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はじめの点数といまの点数を並べて、変化を目で見てもらう。終わったらこのスライドを画像にしてLINEで送れる。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本人の言葉で言ってもらう。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3つを1つずつ聴いて、由香が各カードの下に本人の言葉を打ち込む。最初の一歩は、明日できるくらい小さいことでOK。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「一度で終わりではなく、繰り返し向き合う」につなげる。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すべての土台は絶対的安心感。「何をやっても、やらなくても大丈夫」「嫌なことをやめても、愛される」。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終了。1週間後にLINEで「その後いかがですか？」と連絡する。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QUESTION-image-1.jpe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海音（かのん）〜心体の調律〜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海音（かのん）〜心体の調律〜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海音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"/>
            <a:ext cx="1005840" cy="9738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お金のブロックを外す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単発セッション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仁部 あきえ さん　90分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海音（かのん）〜心体の調律〜　髙橋 由香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今日の流れ（90分）</a:t>
            </a:r>
            <a:endParaRPr lang="en-US" sz="2400" dirty="0"/>
          </a:p>
        </p:txBody>
      </p:sp>
      <p:sp>
        <p:nvSpPr>
          <p:cNvPr id="3" name="flow_card0"/>
          <p:cNvSpPr/>
          <p:nvPr/>
        </p:nvSpPr>
        <p:spPr>
          <a:xfrm>
            <a:off x="457200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4" name="flow_time0"/>
          <p:cNvSpPr txBox="1"/>
          <p:nvPr/>
        </p:nvSpPr>
        <p:spPr>
          <a:xfrm>
            <a:off x="548640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0〜20分</a:t>
            </a:r>
            <a:endParaRPr lang="en-US" sz="1300" dirty="0"/>
          </a:p>
        </p:txBody>
      </p:sp>
      <p:sp>
        <p:nvSpPr>
          <p:cNvPr id="5" name="flow_part0"/>
          <p:cNvSpPr txBox="1"/>
          <p:nvPr/>
        </p:nvSpPr>
        <p:spPr>
          <a:xfrm>
            <a:off x="548640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第1部</a:t>
            </a:r>
            <a:endParaRPr lang="en-US" sz="1800" dirty="0"/>
          </a:p>
        </p:txBody>
      </p:sp>
      <p:sp>
        <p:nvSpPr>
          <p:cNvPr id="6" name="flow_desc0"/>
          <p:cNvSpPr txBox="1"/>
          <p:nvPr/>
        </p:nvSpPr>
        <p:spPr>
          <a:xfrm>
            <a:off x="548640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魂の傷を聴く</a:t>
            </a:r>
            <a:endParaRPr lang="en-US" sz="1400" dirty="0"/>
          </a:p>
        </p:txBody>
      </p:sp>
      <p:sp>
        <p:nvSpPr>
          <p:cNvPr id="7" name="flow_card1"/>
          <p:cNvSpPr/>
          <p:nvPr/>
        </p:nvSpPr>
        <p:spPr>
          <a:xfrm>
            <a:off x="2139696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8" name="flow_time1"/>
          <p:cNvSpPr txBox="1"/>
          <p:nvPr/>
        </p:nvSpPr>
        <p:spPr>
          <a:xfrm>
            <a:off x="2231136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20〜35分</a:t>
            </a:r>
            <a:endParaRPr lang="en-US" sz="1300" dirty="0"/>
          </a:p>
        </p:txBody>
      </p:sp>
      <p:sp>
        <p:nvSpPr>
          <p:cNvPr id="9" name="flow_part1"/>
          <p:cNvSpPr txBox="1"/>
          <p:nvPr/>
        </p:nvSpPr>
        <p:spPr>
          <a:xfrm>
            <a:off x="2231136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第2部</a:t>
            </a:r>
            <a:endParaRPr lang="en-US" sz="1800" dirty="0"/>
          </a:p>
        </p:txBody>
      </p:sp>
      <p:sp>
        <p:nvSpPr>
          <p:cNvPr id="10" name="flow_desc1"/>
          <p:cNvSpPr txBox="1"/>
          <p:nvPr/>
        </p:nvSpPr>
        <p:spPr>
          <a:xfrm>
            <a:off x="2231136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頭の構造を知る</a:t>
            </a:r>
            <a:endParaRPr lang="en-US" sz="1400" dirty="0"/>
          </a:p>
        </p:txBody>
      </p:sp>
      <p:sp>
        <p:nvSpPr>
          <p:cNvPr id="11" name="flow_card2"/>
          <p:cNvSpPr/>
          <p:nvPr/>
        </p:nvSpPr>
        <p:spPr>
          <a:xfrm>
            <a:off x="3822192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6F3E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2" name="flow_time2"/>
          <p:cNvSpPr txBox="1"/>
          <p:nvPr/>
        </p:nvSpPr>
        <p:spPr>
          <a:xfrm>
            <a:off x="3913632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35〜75分</a:t>
            </a:r>
            <a:endParaRPr lang="en-US" sz="1300" dirty="0"/>
          </a:p>
        </p:txBody>
      </p:sp>
      <p:sp>
        <p:nvSpPr>
          <p:cNvPr id="13" name="flow_part2"/>
          <p:cNvSpPr txBox="1"/>
          <p:nvPr/>
        </p:nvSpPr>
        <p:spPr>
          <a:xfrm>
            <a:off x="3913632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</a:t>
            </a:r>
            <a:endParaRPr lang="en-US" sz="1800" dirty="0"/>
          </a:p>
        </p:txBody>
      </p:sp>
      <p:sp>
        <p:nvSpPr>
          <p:cNvPr id="14" name="flow_desc2"/>
          <p:cNvSpPr txBox="1"/>
          <p:nvPr/>
        </p:nvSpPr>
        <p:spPr>
          <a:xfrm>
            <a:off x="3913632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思い込みを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書き換える</a:t>
            </a:r>
            <a:endParaRPr lang="en-US" sz="1400" dirty="0"/>
          </a:p>
        </p:txBody>
      </p:sp>
      <p:sp>
        <p:nvSpPr>
          <p:cNvPr id="15" name="flow_card3"/>
          <p:cNvSpPr/>
          <p:nvPr/>
        </p:nvSpPr>
        <p:spPr>
          <a:xfrm>
            <a:off x="5504688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4EED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6" name="flow_time3"/>
          <p:cNvSpPr txBox="1"/>
          <p:nvPr/>
        </p:nvSpPr>
        <p:spPr>
          <a:xfrm>
            <a:off x="5596128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75〜85分</a:t>
            </a:r>
            <a:endParaRPr lang="en-US" sz="1300" dirty="0"/>
          </a:p>
        </p:txBody>
      </p:sp>
      <p:sp>
        <p:nvSpPr>
          <p:cNvPr id="17" name="flow_part3"/>
          <p:cNvSpPr txBox="1"/>
          <p:nvPr/>
        </p:nvSpPr>
        <p:spPr>
          <a:xfrm>
            <a:off x="5596128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エネルギー</a:t>
            </a:r>
            <a:endParaRPr lang="en-US" sz="1800" dirty="0"/>
          </a:p>
        </p:txBody>
      </p:sp>
      <p:sp>
        <p:nvSpPr>
          <p:cNvPr id="18" name="flow_desc3"/>
          <p:cNvSpPr txBox="1"/>
          <p:nvPr/>
        </p:nvSpPr>
        <p:spPr>
          <a:xfrm>
            <a:off x="5596128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残ったものを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取り除く</a:t>
            </a:r>
            <a:endParaRPr lang="en-US" sz="1400" dirty="0"/>
          </a:p>
        </p:txBody>
      </p:sp>
      <p:sp>
        <p:nvSpPr>
          <p:cNvPr id="19" name="flow_card4"/>
          <p:cNvSpPr/>
          <p:nvPr/>
        </p:nvSpPr>
        <p:spPr>
          <a:xfrm>
            <a:off x="7187184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20" name="flow_time4"/>
          <p:cNvSpPr txBox="1"/>
          <p:nvPr/>
        </p:nvSpPr>
        <p:spPr>
          <a:xfrm>
            <a:off x="7278624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85〜90分</a:t>
            </a:r>
            <a:endParaRPr lang="en-US" sz="1300" dirty="0"/>
          </a:p>
        </p:txBody>
      </p:sp>
      <p:sp>
        <p:nvSpPr>
          <p:cNvPr id="21" name="flow_part4"/>
          <p:cNvSpPr txBox="1"/>
          <p:nvPr/>
        </p:nvSpPr>
        <p:spPr>
          <a:xfrm>
            <a:off x="7278624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22" name="flow_desc4"/>
          <p:cNvSpPr txBox="1"/>
          <p:nvPr/>
        </p:nvSpPr>
        <p:spPr>
          <a:xfrm>
            <a:off x="7278624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点数を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つけ直す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今日、大切にしたいこと</a:t>
            </a:r>
            <a:endParaRPr lang="en-US" sz="2400" dirty="0"/>
          </a:p>
        </p:txBody>
      </p:sp>
      <p:sp>
        <p:nvSpPr>
          <p:cNvPr id="3" name="care_lead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無理に変わろうとしなくて大丈夫</a:t>
            </a:r>
            <a:endParaRPr lang="en-US" sz="1600" dirty="0"/>
          </a:p>
        </p:txBody>
      </p:sp>
      <p:sp>
        <p:nvSpPr>
          <p:cNvPr id="4" name="care_card0"/>
          <p:cNvSpPr/>
          <p:nvPr/>
        </p:nvSpPr>
        <p:spPr>
          <a:xfrm>
            <a:off x="457200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care_head0"/>
          <p:cNvSpPr txBox="1"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選べます</a:t>
            </a:r>
            <a:endParaRPr lang="en-US" sz="1900" dirty="0"/>
          </a:p>
        </p:txBody>
      </p:sp>
      <p:sp>
        <p:nvSpPr>
          <p:cNvPr id="6" name="care_body0"/>
          <p:cNvSpPr txBox="1"/>
          <p:nvPr/>
        </p:nvSpPr>
        <p:spPr>
          <a:xfrm>
            <a:off x="640080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話す・話さない・休む</a:t>
            </a:r>
            <a:endParaRPr lang="en-US" sz="1600" dirty="0"/>
          </a:p>
        </p:txBody>
      </p:sp>
      <p:sp>
        <p:nvSpPr>
          <p:cNvPr id="7" name="care_card1"/>
          <p:cNvSpPr/>
          <p:nvPr/>
        </p:nvSpPr>
        <p:spPr>
          <a:xfrm>
            <a:off x="3273552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8" name="care_head1"/>
          <p:cNvSpPr txBox="1"/>
          <p:nvPr/>
        </p:nvSpPr>
        <p:spPr>
          <a:xfrm>
            <a:off x="3456432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正解はありません</a:t>
            </a:r>
            <a:endParaRPr lang="en-US" sz="1900" dirty="0"/>
          </a:p>
        </p:txBody>
      </p:sp>
      <p:sp>
        <p:nvSpPr>
          <p:cNvPr id="9" name="care_body1"/>
          <p:cNvSpPr txBox="1"/>
          <p:nvPr/>
        </p:nvSpPr>
        <p:spPr>
          <a:xfrm>
            <a:off x="3456432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感じ方は人それぞれ</a:t>
            </a:r>
            <a:endParaRPr lang="en-US" sz="1600" dirty="0"/>
          </a:p>
        </p:txBody>
      </p:sp>
      <p:sp>
        <p:nvSpPr>
          <p:cNvPr id="10" name="care_card2"/>
          <p:cNvSpPr/>
          <p:nvPr/>
        </p:nvSpPr>
        <p:spPr>
          <a:xfrm>
            <a:off x="6089904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E6F3E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1" name="care_head2"/>
          <p:cNvSpPr txBox="1"/>
          <p:nvPr/>
        </p:nvSpPr>
        <p:spPr>
          <a:xfrm>
            <a:off x="6272784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今日の目標</a:t>
            </a:r>
            <a:endParaRPr lang="en-US" sz="1900" dirty="0"/>
          </a:p>
        </p:txBody>
      </p:sp>
      <p:sp>
        <p:nvSpPr>
          <p:cNvPr id="12" name="care_body2"/>
          <p:cNvSpPr txBox="1"/>
          <p:nvPr/>
        </p:nvSpPr>
        <p:spPr>
          <a:xfrm>
            <a:off x="6272784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一つ気づいて、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一つ持ち帰る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第1部　魂の傷を聴く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直感でおしえてください（0〜20分）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答えたくない質問は、飛ばして大丈夫です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お悩みの内容を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おしえてください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直感で大丈夫です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それは、いつからですか？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どのくらいの期間、続いていますか？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1〜10で言うと、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今どの段階ですか？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その悩みは、あなたの人生に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どのような影響がありますか？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ゴールデンエイジ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子どもの頃に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見たこと・聞いたことが、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今の「当たり前」になりやすい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この大切な時期を「ゴールデンエイジ」と呼びます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幼少期のこと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子ども時代のことも、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聴かせていただいても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事前にいただいたメッセージにも、子どもの頃のことがありましたね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話したくないことは、話さなくて大丈夫です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どのような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お子さんでしたか？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ご両親は、厳しかったですか？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優しかったですか？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ご両親に、かけてほしかった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言葉はありますか？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幼少期のお金の記憶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「お金がない」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「家にお金を入れない」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その頃、何を感じていましたか？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ご両親を責めるのではなく、当時のあなたの気持ちを大切にします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第2部へ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お話を聴かせてくださって、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ありがとうございます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ここで少し、頭の仕組みのお話をさせてください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第2部　頭の構造を知る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なぜ「わかっているのに」変われないのか（20〜35分）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第2部のはじめに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頭ではわかっているのに、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お金のことになると、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なぜか同じところで止まってしまう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その理由を、頭の仕組みからお話しします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1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人は「頭」ではなく「感情」で動いている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「わかっているのに変われない」のは、意志が弱いからではありません。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頭で考えるより先に、感情が動いているからです。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ピンクの象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2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脳のクセ①　「〜しない」がわからない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「お金で困らないように」と思うほど、脳は「困る」場面を思い描いてしまいます。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3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脳のクセ②　過去の「強い思い」に引っ張られる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子どもの頃の強い体験は「二度と触れるな」と保存されて、今のお金の判断にブレーキをかけます。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4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その「強い思い」が刻まれるのが、ゴールデンエイジ</a:t>
            </a:r>
            <a:endParaRPr lang="en-US" sz="2400" dirty="0"/>
          </a:p>
        </p:txBody>
      </p:sp>
      <p:sp>
        <p:nvSpPr>
          <p:cNvPr id="4" name="ga_card0"/>
          <p:cNvSpPr/>
          <p:nvPr/>
        </p:nvSpPr>
        <p:spPr>
          <a:xfrm>
            <a:off x="457200" y="123444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ga0_c"/>
          <p:cNvSpPr/>
          <p:nvPr/>
        </p:nvSpPr>
        <p:spPr>
          <a:xfrm>
            <a:off x="621792" y="1453896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6" name="ga0_n"/>
          <p:cNvSpPr txBox="1"/>
          <p:nvPr/>
        </p:nvSpPr>
        <p:spPr>
          <a:xfrm>
            <a:off x="621792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ga_head0"/>
          <p:cNvSpPr txBox="1"/>
          <p:nvPr/>
        </p:nvSpPr>
        <p:spPr>
          <a:xfrm>
            <a:off x="1143000" y="1298448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子どもの頃</a:t>
            </a:r>
            <a:endParaRPr lang="en-US" sz="1600" dirty="0"/>
          </a:p>
        </p:txBody>
      </p:sp>
      <p:sp>
        <p:nvSpPr>
          <p:cNvPr id="8" name="ga_body0"/>
          <p:cNvSpPr txBox="1"/>
          <p:nvPr/>
        </p:nvSpPr>
        <p:spPr>
          <a:xfrm>
            <a:off x="11430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家の中で見たこと・聞いた言葉・言われ方</a:t>
            </a:r>
            <a:endParaRPr lang="en-US" sz="1400" dirty="0"/>
          </a:p>
        </p:txBody>
      </p:sp>
      <p:sp>
        <p:nvSpPr>
          <p:cNvPr id="9" name="ga_card1"/>
          <p:cNvSpPr/>
          <p:nvPr/>
        </p:nvSpPr>
        <p:spPr>
          <a:xfrm>
            <a:off x="457200" y="2221992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0" name="ga1_c"/>
          <p:cNvSpPr/>
          <p:nvPr/>
        </p:nvSpPr>
        <p:spPr>
          <a:xfrm>
            <a:off x="621792" y="2441448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11" name="ga1_n"/>
          <p:cNvSpPr txBox="1"/>
          <p:nvPr/>
        </p:nvSpPr>
        <p:spPr>
          <a:xfrm>
            <a:off x="621792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ga_head1"/>
          <p:cNvSpPr txBox="1"/>
          <p:nvPr/>
        </p:nvSpPr>
        <p:spPr>
          <a:xfrm>
            <a:off x="1143000" y="2286000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脳が保存</a:t>
            </a:r>
            <a:endParaRPr lang="en-US" sz="1600" dirty="0"/>
          </a:p>
        </p:txBody>
      </p:sp>
      <p:sp>
        <p:nvSpPr>
          <p:cNvPr id="13" name="ga_body1"/>
          <p:cNvSpPr txBox="1"/>
          <p:nvPr/>
        </p:nvSpPr>
        <p:spPr>
          <a:xfrm>
            <a:off x="1143000" y="2633472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「これが当たり前」として記憶する</a:t>
            </a:r>
            <a:endParaRPr lang="en-US" sz="1400" dirty="0"/>
          </a:p>
        </p:txBody>
      </p:sp>
      <p:sp>
        <p:nvSpPr>
          <p:cNvPr id="14" name="ga_card2"/>
          <p:cNvSpPr/>
          <p:nvPr/>
        </p:nvSpPr>
        <p:spPr>
          <a:xfrm>
            <a:off x="457200" y="3209544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5" name="ga2_c"/>
          <p:cNvSpPr/>
          <p:nvPr/>
        </p:nvSpPr>
        <p:spPr>
          <a:xfrm>
            <a:off x="621792" y="3429000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16" name="ga2_n"/>
          <p:cNvSpPr txBox="1"/>
          <p:nvPr/>
        </p:nvSpPr>
        <p:spPr>
          <a:xfrm>
            <a:off x="621792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ga_head2"/>
          <p:cNvSpPr txBox="1"/>
          <p:nvPr/>
        </p:nvSpPr>
        <p:spPr>
          <a:xfrm>
            <a:off x="1143000" y="3273552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大人になった今</a:t>
            </a:r>
            <a:endParaRPr lang="en-US" sz="1600" dirty="0"/>
          </a:p>
        </p:txBody>
      </p:sp>
      <p:sp>
        <p:nvSpPr>
          <p:cNvPr id="18" name="ga_body2"/>
          <p:cNvSpPr txBox="1"/>
          <p:nvPr/>
        </p:nvSpPr>
        <p:spPr>
          <a:xfrm>
            <a:off x="1143000" y="3621024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その当たり前が、自分の基準として動き続ける</a:t>
            </a:r>
            <a:endParaRPr lang="en-US" sz="1400" dirty="0"/>
          </a:p>
        </p:txBody>
      </p:sp>
      <p:sp>
        <p:nvSpPr>
          <p:cNvPr id="19" name="money_card"/>
          <p:cNvSpPr/>
          <p:nvPr/>
        </p:nvSpPr>
        <p:spPr>
          <a:xfrm>
            <a:off x="5806440" y="1234440"/>
            <a:ext cx="2880360" cy="2798064"/>
          </a:xfrm>
          <a:prstGeom prst="roundRect">
            <a:avLst>
              <a:gd name="adj" fmla="val 3922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20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21" name="money_body"/>
          <p:cNvSpPr txBox="1"/>
          <p:nvPr/>
        </p:nvSpPr>
        <p:spPr>
          <a:xfrm>
            <a:off x="5989320" y="1783080"/>
            <a:ext cx="25603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子どもの頃に、お金のまわりで見たこと・聞いたことが、今の「お金の当たり前」になっています。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5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でも、その「当たり前」は人によって全然ちがう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あなたの「お金の当たり前」は、あなたの家で作られたもの。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作られたものだから、書き換えられます。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6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ポジティブとは「入れ替えられる」こと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「お金は怖い」を無理に「お金が好き」に変えることではありません。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古い情報を、新しい情報に入れ替えられる状態のことです。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7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入れ替えるには、感情を順番に感じ切る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57957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57957"/>
          </a:xfrm>
          <a:prstGeom prst="roundRect">
            <a:avLst>
              <a:gd name="adj" fmla="val 3839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1787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怒りや悲しみが出てきても大丈夫。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それは消化が進んでいるサインです。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　思い込みを書き換える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思い込みが生まれた場面に戻って、書き換えていきます（35〜75分）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ワークの前に</a:t>
            </a:r>
            <a:endParaRPr lang="en-US" sz="1300" dirty="0"/>
          </a:p>
        </p:txBody>
      </p:sp>
      <p:sp>
        <p:nvSpPr>
          <p:cNvPr id="4" name="pre_main"/>
          <p:cNvSpPr txBox="1"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今回、一番大きいと感じる思い込みに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向き合っていきます</a:t>
            </a:r>
            <a:endParaRPr lang="en-US" sz="2800" dirty="0"/>
          </a:p>
        </p:txBody>
      </p:sp>
      <p:sp>
        <p:nvSpPr>
          <p:cNvPr id="5" name="pre_sub"/>
          <p:cNvSpPr txBox="1"/>
          <p:nvPr/>
        </p:nvSpPr>
        <p:spPr>
          <a:xfrm>
            <a:off x="731520" y="2606040"/>
            <a:ext cx="76809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ただ、それが整理されると、次の思い込みや感情に気づくこともあります。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だからこそ、一度で終わりではなく、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自分自身で繰り返し向き合っていくことが大切です。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enai_band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C6A34"/>
          </a:solidFill>
          <a:ln/>
        </p:spPr>
        <p:txBody>
          <a:bodyPr/>
          <a:p/>
        </p:txBody>
      </p:sp>
      <p:sp>
        <p:nvSpPr>
          <p:cNvPr id="3" name="misenai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【共有停止】</a:t>
            </a:r>
            <a:endParaRPr lang="en-US" sz="1800" dirty="0"/>
          </a:p>
        </p:txBody>
      </p:sp>
      <p:sp>
        <p:nvSpPr>
          <p:cNvPr id="4" name="facil_title"/>
          <p:cNvSpPr txBox="1"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1〜2 の進め方</a:t>
            </a:r>
            <a:endParaRPr lang="en-US" sz="2200" dirty="0"/>
          </a:p>
        </p:txBody>
      </p:sp>
      <p:sp>
        <p:nvSpPr>
          <p:cNvPr id="5" name="facil_card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8E8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facil_list"/>
          <p:cNvSpPr txBox="1"/>
          <p:nvPr/>
        </p:nvSpPr>
        <p:spPr>
          <a:xfrm>
            <a:off x="594360" y="1280160"/>
            <a:ext cx="5120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穴埋め「お金とは、＿」「お金を受け取る私は、＿」→本人の言葉を打ち込む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「その言葉は、守っている？選択を狭めている？」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すごい質問「何があなたをそう思わせるのですか？」（見える・色・聞こえる・体の感じ）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1階層目を5つ以上 → 表に打ち込み、100点満点で点数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1階層目で一番強いものを軸に、2階層目も同じ質問で（全部で10個くらい）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点数がわからない時はOリング・筋肉反射</a:t>
            </a:r>
            <a:endParaRPr lang="en-US" sz="1200" dirty="0"/>
          </a:p>
        </p:txBody>
      </p:sp>
      <p:pic>
        <p:nvPicPr>
          <p:cNvPr id="7" name="Image 0" descr="ガイドブ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37744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　お金の思い込みを言葉にする</a:t>
            </a:r>
            <a:endParaRPr lang="en-US" sz="1300" dirty="0"/>
          </a:p>
        </p:txBody>
      </p:sp>
      <p:sp>
        <p:nvSpPr>
          <p:cNvPr id="4" name="fill1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「お金とは、＿＿＿＿＿＿＿＿」</a:t>
            </a:r>
            <a:endParaRPr lang="en-US" sz="3000" dirty="0"/>
          </a:p>
        </p:txBody>
      </p:sp>
      <p:sp>
        <p:nvSpPr>
          <p:cNvPr id="5" name="fill2"/>
          <p:cNvSpPr txBox="1"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「お金を受け取る私は、＿＿＿＿＿＿＿＿」</a:t>
            </a:r>
            <a:endParaRPr lang="en-US" sz="3000" dirty="0"/>
          </a:p>
        </p:txBody>
      </p:sp>
      <p:sp>
        <p:nvSpPr>
          <p:cNvPr id="6" name="fill_hint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正解を探さず、浮かんだ言葉をそのまま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その言葉は、今のあなたを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守っていますか？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それとも、選択を狭めていますか？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　すごい質問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何があなたを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そう思わせるのですか？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何が見えますか？　どんな色ですか？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何が聞こえますか？　体はどんな感じがしますか？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2　思い込みに点数をつける（100点満点）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4904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思い込み（気持ちや想い）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点数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2_note"/>
          <p:cNvSpPr/>
          <p:nvPr/>
        </p:nvSpPr>
        <p:spPr>
          <a:xfrm>
            <a:off x="6035040" y="1188720"/>
            <a:ext cx="2651760" cy="3319272"/>
          </a:xfrm>
          <a:prstGeom prst="roundRect">
            <a:avLst>
              <a:gd name="adj" fmla="val 4138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s2_note_t"/>
          <p:cNvSpPr txBox="1"/>
          <p:nvPr/>
        </p:nvSpPr>
        <p:spPr>
          <a:xfrm>
            <a:off x="6172200" y="1298448"/>
            <a:ext cx="237744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思いつくまま、いくつでも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点数は、直感で大丈夫です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正解・不正解はありません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enai_band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C6A34"/>
          </a:solidFill>
          <a:ln/>
        </p:spPr>
        <p:txBody>
          <a:bodyPr/>
          <a:p/>
        </p:txBody>
      </p:sp>
      <p:sp>
        <p:nvSpPr>
          <p:cNvPr id="3" name="misenai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【共有停止】</a:t>
            </a:r>
            <a:endParaRPr lang="en-US" sz="1800" dirty="0"/>
          </a:p>
        </p:txBody>
      </p:sp>
      <p:sp>
        <p:nvSpPr>
          <p:cNvPr id="4" name="facil_title"/>
          <p:cNvSpPr txBox="1"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3〜4 の進め方</a:t>
            </a:r>
            <a:endParaRPr lang="en-US" sz="2200" dirty="0"/>
          </a:p>
        </p:txBody>
      </p:sp>
      <p:sp>
        <p:nvSpPr>
          <p:cNvPr id="5" name="facil_card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8E8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facil_list"/>
          <p:cNvSpPr txBox="1"/>
          <p:nvPr/>
        </p:nvSpPr>
        <p:spPr>
          <a:xfrm>
            <a:off x="594360" y="1280160"/>
            <a:ext cx="5120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点数の高い上位3つに印 → 一番邪魔している思い込みを1つ（Oリング可）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確認「ゆるんだら、目標達成によい影響が出そう？」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今の自分の場所に立ち、今の気持ちを話してもらう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思い込みが生まれた過去の場面へ（見える・色・聞こえる・体の感じ）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その場所から出て外から見る「本当はどうして欲しかった？」「本当はどうしたかった？」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もう一度戻って、言いたかったことを全部吐き出す（100％出たか？）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苦しくなったら止めて息を吐き切る。ポジ変しない</a:t>
            </a:r>
            <a:endParaRPr lang="en-US" sz="1200" dirty="0"/>
          </a:p>
        </p:txBody>
      </p:sp>
      <p:pic>
        <p:nvPicPr>
          <p:cNvPr id="7" name="Image 0" descr="ガイドブ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37744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一番、邪魔している思い込みは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どれですか？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点数の高い上位3つの中から、1つ選びます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　確認の質問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その思い込みが“ゆるんだら”、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目標達成によい影響が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出そうですか？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その思い込みが生まれた場面に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戻ってみましょう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何が見えますか？　どんな色ですか？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何が聞こえますか？　体はどんな感じがしますか？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外から見ながら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どうして欲しかったの？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「満たされていない想い」を、言葉にしていきます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外から見ながら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どうしたかったの？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理想のあなた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理想のあなたを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思い浮かべてください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どんなあなたですか？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理想のあなたから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あの時のあなたへ、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＿＿＿＿＿＿＿＿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苦しくなったら、いったん止めて、息を吐き切りましょう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enai_band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C6A34"/>
          </a:solidFill>
          <a:ln/>
        </p:spPr>
        <p:txBody>
          <a:bodyPr/>
          <a:p/>
        </p:txBody>
      </p:sp>
      <p:sp>
        <p:nvSpPr>
          <p:cNvPr id="3" name="misenai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【共有停止】</a:t>
            </a:r>
            <a:endParaRPr lang="en-US" sz="1800" dirty="0"/>
          </a:p>
        </p:txBody>
      </p:sp>
      <p:sp>
        <p:nvSpPr>
          <p:cNvPr id="4" name="facil_title"/>
          <p:cNvSpPr txBox="1"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5 の進め方（理想の未来へ）</a:t>
            </a:r>
            <a:endParaRPr lang="en-US" sz="2200" dirty="0"/>
          </a:p>
        </p:txBody>
      </p:sp>
      <p:sp>
        <p:nvSpPr>
          <p:cNvPr id="5" name="facil_card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8E8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facil_list"/>
          <p:cNvSpPr txBox="1"/>
          <p:nvPr/>
        </p:nvSpPr>
        <p:spPr>
          <a:xfrm>
            <a:off x="594360" y="1280160"/>
            <a:ext cx="5120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大成功している理想の未来の自分へ（見える・色・聞こえる・体の感じを2倍・3倍に）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「これから選びたいお金の考え」を本人の言葉で決める（由香が打ち込む）</a:t>
            </a:r>
            <a:endParaRPr lang="en-US" sz="1200" dirty="0"/>
          </a:p>
        </p:txBody>
      </p:sp>
      <p:pic>
        <p:nvPicPr>
          <p:cNvPr id="7" name="Image 0" descr="ガイドブ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37744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5　理想の未来から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大成功しているあなたには、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何が見えて、どんな色で、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何が聞こえますか？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体はどんな感じがしますか？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これから選びたい、お金の考え</a:t>
            </a:r>
            <a:endParaRPr lang="en-US" sz="2400" dirty="0"/>
          </a:p>
        </p:txBody>
      </p:sp>
      <p:sp>
        <p:nvSpPr>
          <p:cNvPr id="3" name="old_card"/>
          <p:cNvSpPr/>
          <p:nvPr/>
        </p:nvSpPr>
        <p:spPr>
          <a:xfrm>
            <a:off x="45720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4" name="old_head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今までの考え</a:t>
            </a:r>
            <a:endParaRPr lang="en-US" sz="1600" dirty="0"/>
          </a:p>
        </p:txBody>
      </p:sp>
      <p:sp>
        <p:nvSpPr>
          <p:cNvPr id="5" name="old_body"/>
          <p:cNvSpPr txBox="1"/>
          <p:nvPr/>
        </p:nvSpPr>
        <p:spPr>
          <a:xfrm>
            <a:off x="64008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new_card"/>
          <p:cNvSpPr/>
          <p:nvPr/>
        </p:nvSpPr>
        <p:spPr>
          <a:xfrm>
            <a:off x="470916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7" name="new_head"/>
          <p:cNvSpPr txBox="1"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これから選びたい考え</a:t>
            </a:r>
            <a:endParaRPr lang="en-US" sz="1600" dirty="0"/>
          </a:p>
        </p:txBody>
      </p:sp>
      <p:sp>
        <p:nvSpPr>
          <p:cNvPr id="8" name="new_body"/>
          <p:cNvSpPr txBox="1"/>
          <p:nvPr/>
        </p:nvSpPr>
        <p:spPr>
          <a:xfrm>
            <a:off x="489204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new_note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無理にポジティブな言葉にせず、自分が納得できる言葉で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エネルギーで取り除く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残っているものを、やさしく手放していきます（75〜85分）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はじめる前に、今の気持ちと体の感じを確かめます。終わったら、感じたことを言葉にしてみましょう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点数をつけ直してみましょう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554480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上位3つの思い込み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はじめ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いま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ふり返り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今日、いちばん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変わったと感じることは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これからのお金との関係</a:t>
            </a:r>
            <a:endParaRPr lang="en-US" sz="2400" dirty="0"/>
          </a:p>
        </p:txBody>
      </p:sp>
      <p:sp>
        <p:nvSpPr>
          <p:cNvPr id="3" name="rel_lead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お金について、これからどんな気持ちで選択したいですか？</a:t>
            </a:r>
            <a:endParaRPr lang="en-US" sz="1600" dirty="0"/>
          </a:p>
        </p:txBody>
      </p:sp>
      <p:sp>
        <p:nvSpPr>
          <p:cNvPr id="4" name="rel_card0"/>
          <p:cNvSpPr/>
          <p:nvPr/>
        </p:nvSpPr>
        <p:spPr>
          <a:xfrm>
            <a:off x="457200" y="1691640"/>
            <a:ext cx="2596896" cy="2697480"/>
          </a:xfrm>
          <a:prstGeom prst="roundRect">
            <a:avLst>
              <a:gd name="adj" fmla="val 4225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rel_head0"/>
          <p:cNvSpPr txBox="1"/>
          <p:nvPr/>
        </p:nvSpPr>
        <p:spPr>
          <a:xfrm>
            <a:off x="59436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これからの気持ち</a:t>
            </a:r>
            <a:endParaRPr lang="en-US" sz="1700" dirty="0"/>
          </a:p>
        </p:txBody>
      </p:sp>
      <p:sp>
        <p:nvSpPr>
          <p:cNvPr id="6" name="rel_hint0"/>
          <p:cNvSpPr txBox="1"/>
          <p:nvPr/>
        </p:nvSpPr>
        <p:spPr>
          <a:xfrm>
            <a:off x="594360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安心・納得・自由など</a:t>
            </a:r>
            <a:endParaRPr lang="en-US" sz="1300" dirty="0"/>
          </a:p>
        </p:txBody>
      </p:sp>
      <p:sp>
        <p:nvSpPr>
          <p:cNvPr id="7" name="rel_body0"/>
          <p:cNvSpPr txBox="1"/>
          <p:nvPr/>
        </p:nvSpPr>
        <p:spPr>
          <a:xfrm>
            <a:off x="59436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rel_card1"/>
          <p:cNvSpPr/>
          <p:nvPr/>
        </p:nvSpPr>
        <p:spPr>
          <a:xfrm>
            <a:off x="3273552" y="1691640"/>
            <a:ext cx="2596896" cy="2697480"/>
          </a:xfrm>
          <a:prstGeom prst="roundRect">
            <a:avLst>
              <a:gd name="adj" fmla="val 4225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9" name="rel_head1"/>
          <p:cNvSpPr txBox="1"/>
          <p:nvPr/>
        </p:nvSpPr>
        <p:spPr>
          <a:xfrm>
            <a:off x="3410712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未来の自分</a:t>
            </a:r>
            <a:endParaRPr lang="en-US" sz="1700" dirty="0"/>
          </a:p>
        </p:txBody>
      </p:sp>
      <p:sp>
        <p:nvSpPr>
          <p:cNvPr id="10" name="rel_hint1"/>
          <p:cNvSpPr txBox="1"/>
          <p:nvPr/>
        </p:nvSpPr>
        <p:spPr>
          <a:xfrm>
            <a:off x="3410712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どんな表情をしている？</a:t>
            </a:r>
            <a:endParaRPr lang="en-US" sz="1300" dirty="0"/>
          </a:p>
        </p:txBody>
      </p:sp>
      <p:sp>
        <p:nvSpPr>
          <p:cNvPr id="11" name="rel_body1"/>
          <p:cNvSpPr txBox="1"/>
          <p:nvPr/>
        </p:nvSpPr>
        <p:spPr>
          <a:xfrm>
            <a:off x="3410712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rel_card2"/>
          <p:cNvSpPr/>
          <p:nvPr/>
        </p:nvSpPr>
        <p:spPr>
          <a:xfrm>
            <a:off x="6089904" y="1691640"/>
            <a:ext cx="2596896" cy="2697480"/>
          </a:xfrm>
          <a:prstGeom prst="roundRect">
            <a:avLst>
              <a:gd name="adj" fmla="val 4225"/>
            </a:avLst>
          </a:prstGeom>
          <a:solidFill>
            <a:srgbClr val="E6F3E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3" name="rel_head2"/>
          <p:cNvSpPr txBox="1"/>
          <p:nvPr/>
        </p:nvSpPr>
        <p:spPr>
          <a:xfrm>
            <a:off x="6227064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最初の一歩</a:t>
            </a:r>
            <a:endParaRPr lang="en-US" sz="1700" dirty="0"/>
          </a:p>
        </p:txBody>
      </p:sp>
      <p:sp>
        <p:nvSpPr>
          <p:cNvPr id="14" name="rel_hint2"/>
          <p:cNvSpPr txBox="1"/>
          <p:nvPr/>
        </p:nvSpPr>
        <p:spPr>
          <a:xfrm>
            <a:off x="6227064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今日、持ち帰るもの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明日できる小さなこと</a:t>
            </a:r>
            <a:endParaRPr lang="en-US" sz="1300" dirty="0"/>
          </a:p>
        </p:txBody>
      </p:sp>
      <p:sp>
        <p:nvSpPr>
          <p:cNvPr id="15" name="rel_body2"/>
          <p:cNvSpPr txBox="1"/>
          <p:nvPr/>
        </p:nvSpPr>
        <p:spPr>
          <a:xfrm>
            <a:off x="6227064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これから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次に同じ感情が出てきたら、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自分にどんな言葉を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かけてあげたいですか？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気づいたら、責めずに見つめる。そして、今の自分で選び直す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絶対的安心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003"/>
            <a:ext cx="9144000" cy="51034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海音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"/>
            <a:ext cx="1005840" cy="9738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ありがとうございました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1週間後に、LINEでその後のご様子をお伺いします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海音（かのん）〜心体の調律〜　髙橋 由香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on">
  <a:themeElements>
    <a:clrScheme name="Kanon">
      <a:dk1>
        <a:srgbClr val="4A4440"/>
      </a:dk1>
      <a:lt1>
        <a:srgbClr val="FFFFFF"/>
      </a:lt1>
      <a:dk2>
        <a:srgbClr val="5C4A2E"/>
      </a:dk2>
      <a:lt2>
        <a:srgbClr val="FDFAF4"/>
      </a:lt2>
      <a:accent1>
        <a:srgbClr val="B08A4E"/>
      </a:accent1>
      <a:accent2>
        <a:srgbClr val="8C6A34"/>
      </a:accent2>
      <a:accent3>
        <a:srgbClr val="E9D9B6"/>
      </a:accent3>
      <a:accent4>
        <a:srgbClr val="EFE8F6"/>
      </a:accent4>
      <a:accent5>
        <a:srgbClr val="E6F3EF"/>
      </a:accent5>
      <a:accent6>
        <a:srgbClr val="F8EBEE"/>
      </a:accent6>
      <a:hlink>
        <a:srgbClr val="8C6A34"/>
      </a:hlink>
      <a:folHlink>
        <a:srgbClr val="7A716A"/>
      </a:folHlink>
    </a:clrScheme>
    <a:fontScheme name="Kanon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お金のブロックを外す 単発セッション</dc:title>
  <dc:subject>PptxGenJS Presentation</dc:subject>
  <dc:creator>海音（かのん）〜心体の調律〜 髙橋由香</dc:creator>
  <cp:lastModifiedBy>海音（かのん）〜心体の調律〜 髙橋由香</cp:lastModifiedBy>
  <cp:revision>1</cp:revision>
  <dcterms:created xsi:type="dcterms:W3CDTF">2026-10-27T15:22:59Z</dcterms:created>
  <dcterms:modified xsi:type="dcterms:W3CDTF">2026-10-27T15:22:59Z</dcterms:modified>
</cp:coreProperties>
</file>
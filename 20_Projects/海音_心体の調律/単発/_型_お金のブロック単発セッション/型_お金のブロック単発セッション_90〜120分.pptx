
<file path=[Content_Types].xml><?xml version="1.0" encoding="utf-8"?>
<Types xmlns="http://schemas.openxmlformats.org/package/2006/content-types">
  <Default Extension="jpg" ContentType="image/jpeg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8-1.jpg" ContentType="image/jpg"/>
  <Override PartName="/ppt/media/image-20-1.jpg" ContentType="image/jpg"/>
  <Override PartName="/ppt/media/image-21-1.jpg" ContentType="image/jpg"/>
  <Override PartName="/ppt/media/image-23-1.jpg" ContentType="image/jpg"/>
  <Override PartName="/ppt/media/image-24-1.jpg" ContentType="image/jpg"/>
  <Override PartName="/ppt/media/image-25-1.jpg" ContentType="image/jpg"/>
  <Override PartName="/ppt/media/image-28-1.jpg" ContentType="image/jpg"/>
  <Override PartName="/ppt/media/image-33-1.jpg" ContentType="image/jpg"/>
  <Override PartName="/ppt/media/image-47-1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</p:sldIdLst>
  <p:notesMasterIdLst>
    <p:notesMasterId r:id="rId5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はじめに" id="{7af57940-bbe6-5cf3-7e41-2786a1b87abf}">
          <p14:sldIdLst>
            <p14:sldId id="256"/>
            <p14:sldId id="257"/>
            <p14:sldId id="258"/>
          </p14:sldIdLst>
        </p14:section>
        <p14:section name="第1部 魂の傷を聴く" id="{13cf408c-378f-119b-0871-685115f2d750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</p14:sldIdLst>
        </p14:section>
        <p14:section name="第2部 頭の構造を知る" id="{c77977bd-e80c-f6b0-28f3-b71a09cb14aa}">
          <p14:sldIdLst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</p14:sldIdLst>
        </p14:section>
        <p14:section name="ワーク 思い込みを書き換える" id="{b8090378-0635-5dc1-75bc-471a9a83f5ba}">
          <p14:sldIdLst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</p14:sldIdLst>
        </p14:section>
        <p14:section name="エネルギー" id="{35b50227-3997-a25b-0eb9-3237bd52aa88}">
          <p14:sldIdLst>
            <p14:sldId id="297"/>
          </p14:sldIdLst>
        </p14:section>
        <p14:section name="まとめ" id="{cbeb59ed-23ab-af74-9254-78927b270854}">
          <p14:sldIdLst>
            <p14:sldId id="298"/>
            <p14:sldId id="299"/>
            <p14:sldId id="300"/>
            <p14:sldId id="301"/>
            <p14:sldId id="302"/>
            <p14:sldId id="30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notesMaster" Target="notesMasters/notesMaster1.xml"/><Relationship Id="rId51" Type="http://schemas.openxmlformats.org/officeDocument/2006/relationships/presProps" Target="presProps.xml"/><Relationship Id="rId52" Type="http://schemas.openxmlformats.org/officeDocument/2006/relationships/viewProps" Target="viewProps.xml"/><Relationship Id="rId53" Type="http://schemas.openxmlformats.org/officeDocument/2006/relationships/theme" Target="theme/theme1.xml"/><Relationship Id="rId5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開始。今日は90分で、講座→お話→ワーク→エネルギーの順に進めることを伝える。書くのは由香が画面の中で行うので、ご本人は話すこと・感じることに集中してOKと伝える。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全体の流れ。質問は1つずつゆっくり聴いていく。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はじめに安心を渡す。今日の目標は「一つ気づいて、一つ持ち帰る」。最後の「最初の一歩」が持ち帰るものになる。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ここから20分。1問ずつ、ゆっくり聴く。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お金のブロックについて、本人の言葉で。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数字をメモしておく（最後の変化の確認にも使える）。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ここでは短く一言だけ。くわしくは第2部の「ゴールデンエイジ」のスライドで話す。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本人のOKをもらってから、幼少期の質問へ。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お金にまつわる子どもの頃の場面が出たら、ワークの場面候補としてメモ。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ここは特にゆっくり。出てきた言葉はワークのSTEP4で使える。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事前に聞いたご本人のエピソードを上の2行に入れる。怖かった？悲しかった？怒り？寂しさ？と、気持ちに名前をつける手伝いをする。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聴いたお話を受け取ってから、講座へ。講座の途中で、いま聴いた子どもの頃の話につなげて話す。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ここから15分。1枚ずつの説明ではなく、ひとつのお話としてつなげて話す。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物語の入り口。第1部で聴いたご本人の話を受けて「それはあなたの意志が弱いからではなく、頭（脳）の仕組みだから」と伝えて、次へ。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感情がないと行動は起きない。理性はエネルギーを使う。理論は後付け。→だから、お金の行動を変えるには、理屈ではなく感情に触れる必要がある。次は、その感情を動かしている脳の3つのクセ。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言葉だけを見せて、少し間を置く。「ピンクの象を想像しないでください」と言ってから次のスライドへ。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ピンクの象を想像しないでください→想像してしまう。脳は否定語を受け付けない。新しいことを嫌い、変わらない言い訳を上手に作る。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強い出来事はトラウマ化して、タグ付きファイルとして保存される。脳は過去のマイナス体験を一般化して未来を予測する。→第1部で聴いた子どもの頃の話は、ここにつながる。では、その強い思いはいつ刻まれるのか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第1部で少し話したゴールデンエイジの、くわしい話。言われ方・見てきたことが、そのまま今の基準になっている。由香さんの言葉で補足する。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メロンちょっと食べた→この人の「ちょっと」はどのくらい？　普通＝当たり前は人それぞれ。みんなの当たり前は同じではない。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ネガティブ＝情報の入れ替えができない、自分の正しさに固執する。ポジティブ＝入れ替えができる、他の正しさを認められる。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焦り・無価値観→嫉妬・怒り→悲しみ→絶対的安心感。「だから、今から感じ切るワークをしましょう」とワークへ。スキップせずに順番に感じることで癒える。無理にポジティブに変えない（ポジ変禁止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アートシフトワーク その18（エフィカシーを上げる5次元タイムライン）。画面では「5次元」「VAK」「ポジション」の言葉は使わない。ここから40分。思い込みは20個ではなく、1階層目5つ＋2階層目まで（10個くらい）にしぼる。書き込みは由香が画面の表に打ち込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ワークに入る前に伝える。今日で全部終わらせようとしなくていい、というメッセージ。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見せないスライド。画面共有を止めてから読む。読んだら次のスライドで共有を再開。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由香が＿＿の所に本人の言葉を打ち込む。ここで出た言葉が、思い込みの入口（ガイドブックの「私は〇〇を達成したい！ただ…」の代わり）。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どちらでもOK。守ってくれていたなら、まずそれを認めてから次へ。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1階層目を5つ以上。出てきたものは次の表に打ち込む。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由香が画面共有したまま表に打ち込む。ご本人は話すだけでOK。10個くらい出たら次へ。1階層目で一番強いものを軸に、2階層目も同じ質問で出す。点数がわからない時はOリング・筋肉反射で。例：情報発信が魅力的でない50点／批判されるのが嫌だ75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見せないスライド。画面共有を止めてから読む。読んだら次のスライドで共有を再開。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表の上位3つに印をつける→その中で一番邪魔しているものを1つ。判断できない時はOリング・筋肉反射で。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YESなら、その思い込みでSTEP4へ。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手順：①今の自分の場所に立ち、今の気持ちを話す ②思い込みが生まれた過去の場面へ移動し、見える・色・聞こえる・体の感じで話す ③その場所から出て、自分を外から見る→次の2つの質問 ④もう一度その場所に戻り、全部吐き出す。VAKという言葉は使わない。第1部で聴いた子どもの頃の場面が出やすい。感情が強く出たら止めて呼吸に戻す。ポジ変をしない。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ポジションの外から、子どもの頃の自分を見ながら。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見える・色・聞こえる・体の感じで、理想の自分をはっきりさせる。その理想のあなたから、次のスライドで「あの時のあなた」に言葉をかける。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＿＿に本人の言葉を打ち込む。言いたかったことを全部吐き出す（100％出たか？）。怒鳴る・泣く・大声を出す・体を大きく動かす・殴るなどしてOK。相手が聞いてくれている・謝っているイメージで。出し切るまで待つ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由香が本人の言葉をそのまま打ち込む。言葉は本人が決める（由香が作らない）。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ワークで残ったものをエネルギーで取り除く。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第1部の「1〜10で言うと、今どの段階ですか？」で聞いた数字と比べる。由香が＿＿に打ち込む。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本人の言葉で言ってもらう。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「一度で終わりではなく、繰り返し向き合う」につなげる。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由香さんの言葉。一度で外れなくても失敗ではなく、ほどいている途中だと伝える。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すべての土台は絶対的安心感。「何をやっても、やらなくても大丈夫」「嫌なことをやめても、愛される」。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終了。1週間後にLINEで「その後いかがですか？」と連絡する。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image" Target="../media/TITLE-image-1.jpeg"/><Relationship Id="rId2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image" Target="../media/DIVIDER-image-1.jpeg"/><Relationship Id="rId2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image" Target="../media/QUESTION-image-1.jpeg"/><Relationship Id="rId2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417320"/>
            <a:ext cx="768096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38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defRPr>
            </a:lvl1pPr>
          </a:lstStyle>
          <a:p>
            <a:pPr algn="ctr" indent="0" marL="0">
              <a:buNone/>
            </a:pP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2697480"/>
            <a:ext cx="768096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600" b="1" dirty="0">
                <a:solidFill>
                  <a:schemeClr val="tx2"/>
                </a:solidFill>
              </a:defRPr>
            </a:lvl1pPr>
          </a:lstStyle>
          <a:p>
            <a:pPr algn="ctr"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76809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3600" b="1" dirty="0">
                <a:solidFill>
                  <a:schemeClr val="accent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defRPr>
            </a:lvl1pPr>
          </a:lstStyle>
          <a:p>
            <a:pPr algn="ctr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2788920"/>
            <a:ext cx="768096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600" dirty="0">
                <a:solidFill>
                  <a:schemeClr val="tx1"/>
                </a:solidFill>
              </a:defRPr>
            </a:lvl1pPr>
          </a:lstStyle>
          <a:p>
            <a:pPr algn="ctr"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chemeClr val="accent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1"/>
                </a:solidFill>
              </a:rPr>
              <a:t>海音（かのん）〜心体の調律〜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08A4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ESTION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914400" y="1554480"/>
            <a:ext cx="731520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32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defRPr>
            </a:lvl1pPr>
          </a:lstStyle>
          <a:p>
            <a:pPr algn="ctr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500" dirty="0">
                <a:solidFill>
                  <a:schemeClr val="accent2"/>
                </a:solidFill>
              </a:defRPr>
            </a:lvl1pPr>
          </a:lstStyle>
          <a:p>
            <a:pPr algn="ctr" indent="0" marL="0">
              <a:buNone/>
            </a:pPr>
            <a:endParaRPr lang="en-US" sz="1500" dirty="0"/>
          </a:p>
        </p:txBody>
      </p:sp>
      <p:sp>
        <p:nvSpPr>
          <p:cNvPr id="4" name="Text 0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1"/>
                </a:solidFill>
              </a:rPr>
              <a:t>海音（かのん）〜心体の調律〜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08A4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08A4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-24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-25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image" Target="../media/image-28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3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image" Target="../media/image-47-1.jp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海音ロ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9080" y="411480"/>
            <a:ext cx="1005840" cy="973836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1417320"/>
            <a:ext cx="7680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お金のブロックを外す</a:t>
            </a:r>
            <a:endParaRPr lang="en-US" sz="3800" dirty="0"/>
          </a:p>
          <a:p>
            <a:pPr algn="ctr" indent="0" marL="0">
              <a:buNone/>
            </a:pPr>
            <a:r>
              <a:rPr lang="en-US" sz="38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単発セッション</a:t>
            </a:r>
            <a:endParaRPr lang="en-US" sz="38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269748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〇〇 さん　90〜120分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海音（かのん）〜心体の調律〜　髙橋 由香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今日の流れ（90分）</a:t>
            </a:r>
            <a:endParaRPr lang="en-US" sz="2400" dirty="0"/>
          </a:p>
        </p:txBody>
      </p:sp>
      <p:sp>
        <p:nvSpPr>
          <p:cNvPr id="3" name="flow_card0"/>
          <p:cNvSpPr/>
          <p:nvPr/>
        </p:nvSpPr>
        <p:spPr>
          <a:xfrm>
            <a:off x="457200" y="1463040"/>
            <a:ext cx="1517904" cy="2286000"/>
          </a:xfrm>
          <a:prstGeom prst="roundRect">
            <a:avLst>
              <a:gd name="adj" fmla="val 7229"/>
            </a:avLst>
          </a:prstGeom>
          <a:solidFill>
            <a:srgbClr val="F8EBEE"/>
          </a:solidFill>
          <a:ln w="9525">
            <a:solidFill>
              <a:srgbClr val="E9D9B6"/>
            </a:solidFill>
            <a:prstDash val="solid"/>
          </a:ln>
        </p:spPr>
        <p:txBody>
          <a:bodyPr/>
          <a:p/>
        </p:txBody>
      </p:sp>
      <p:sp>
        <p:nvSpPr>
          <p:cNvPr id="4" name="flow_time0"/>
          <p:cNvSpPr txBox="1"/>
          <p:nvPr/>
        </p:nvSpPr>
        <p:spPr>
          <a:xfrm>
            <a:off x="548640" y="1600200"/>
            <a:ext cx="1335024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0〜20分</a:t>
            </a:r>
            <a:endParaRPr lang="en-US" sz="1300" dirty="0"/>
          </a:p>
        </p:txBody>
      </p:sp>
      <p:sp>
        <p:nvSpPr>
          <p:cNvPr id="5" name="flow_part0"/>
          <p:cNvSpPr txBox="1"/>
          <p:nvPr/>
        </p:nvSpPr>
        <p:spPr>
          <a:xfrm>
            <a:off x="548640" y="2057400"/>
            <a:ext cx="1335024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第1部</a:t>
            </a:r>
            <a:endParaRPr lang="en-US" sz="1800" dirty="0"/>
          </a:p>
        </p:txBody>
      </p:sp>
      <p:sp>
        <p:nvSpPr>
          <p:cNvPr id="6" name="flow_desc0"/>
          <p:cNvSpPr txBox="1"/>
          <p:nvPr/>
        </p:nvSpPr>
        <p:spPr>
          <a:xfrm>
            <a:off x="548640" y="2651760"/>
            <a:ext cx="1335024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魂の傷を聴く</a:t>
            </a:r>
            <a:endParaRPr lang="en-US" sz="1400" dirty="0"/>
          </a:p>
        </p:txBody>
      </p:sp>
      <p:sp>
        <p:nvSpPr>
          <p:cNvPr id="7" name="flow_card1"/>
          <p:cNvSpPr/>
          <p:nvPr/>
        </p:nvSpPr>
        <p:spPr>
          <a:xfrm>
            <a:off x="2139696" y="1463040"/>
            <a:ext cx="1517904" cy="2286000"/>
          </a:xfrm>
          <a:prstGeom prst="roundRect">
            <a:avLst>
              <a:gd name="adj" fmla="val 7229"/>
            </a:avLst>
          </a:prstGeom>
          <a:solidFill>
            <a:srgbClr val="EFE8F6"/>
          </a:solidFill>
          <a:ln w="9525">
            <a:solidFill>
              <a:srgbClr val="E9D9B6"/>
            </a:solidFill>
            <a:prstDash val="solid"/>
          </a:ln>
        </p:spPr>
        <p:txBody>
          <a:bodyPr/>
          <a:p/>
        </p:txBody>
      </p:sp>
      <p:sp>
        <p:nvSpPr>
          <p:cNvPr id="8" name="flow_time1"/>
          <p:cNvSpPr txBox="1"/>
          <p:nvPr/>
        </p:nvSpPr>
        <p:spPr>
          <a:xfrm>
            <a:off x="2231136" y="1600200"/>
            <a:ext cx="1335024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20〜35分</a:t>
            </a:r>
            <a:endParaRPr lang="en-US" sz="1300" dirty="0"/>
          </a:p>
        </p:txBody>
      </p:sp>
      <p:sp>
        <p:nvSpPr>
          <p:cNvPr id="9" name="flow_part1"/>
          <p:cNvSpPr txBox="1"/>
          <p:nvPr/>
        </p:nvSpPr>
        <p:spPr>
          <a:xfrm>
            <a:off x="2231136" y="2057400"/>
            <a:ext cx="1335024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第2部</a:t>
            </a:r>
            <a:endParaRPr lang="en-US" sz="1800" dirty="0"/>
          </a:p>
        </p:txBody>
      </p:sp>
      <p:sp>
        <p:nvSpPr>
          <p:cNvPr id="10" name="flow_desc1"/>
          <p:cNvSpPr txBox="1"/>
          <p:nvPr/>
        </p:nvSpPr>
        <p:spPr>
          <a:xfrm>
            <a:off x="2231136" y="2651760"/>
            <a:ext cx="1335024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頭の構造を知る</a:t>
            </a:r>
            <a:endParaRPr lang="en-US" sz="1400" dirty="0"/>
          </a:p>
        </p:txBody>
      </p:sp>
      <p:sp>
        <p:nvSpPr>
          <p:cNvPr id="11" name="flow_card2"/>
          <p:cNvSpPr/>
          <p:nvPr/>
        </p:nvSpPr>
        <p:spPr>
          <a:xfrm>
            <a:off x="3822192" y="1463040"/>
            <a:ext cx="1517904" cy="2286000"/>
          </a:xfrm>
          <a:prstGeom prst="roundRect">
            <a:avLst>
              <a:gd name="adj" fmla="val 7229"/>
            </a:avLst>
          </a:prstGeom>
          <a:solidFill>
            <a:srgbClr val="E6F3EF"/>
          </a:solidFill>
          <a:ln w="9525">
            <a:solidFill>
              <a:srgbClr val="E9D9B6"/>
            </a:solidFill>
            <a:prstDash val="solid"/>
          </a:ln>
        </p:spPr>
        <p:txBody>
          <a:bodyPr/>
          <a:p/>
        </p:txBody>
      </p:sp>
      <p:sp>
        <p:nvSpPr>
          <p:cNvPr id="12" name="flow_time2"/>
          <p:cNvSpPr txBox="1"/>
          <p:nvPr/>
        </p:nvSpPr>
        <p:spPr>
          <a:xfrm>
            <a:off x="3913632" y="1600200"/>
            <a:ext cx="1335024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35〜75分</a:t>
            </a:r>
            <a:endParaRPr lang="en-US" sz="1300" dirty="0"/>
          </a:p>
        </p:txBody>
      </p:sp>
      <p:sp>
        <p:nvSpPr>
          <p:cNvPr id="13" name="flow_part2"/>
          <p:cNvSpPr txBox="1"/>
          <p:nvPr/>
        </p:nvSpPr>
        <p:spPr>
          <a:xfrm>
            <a:off x="3913632" y="2057400"/>
            <a:ext cx="1335024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ワーク</a:t>
            </a:r>
            <a:endParaRPr lang="en-US" sz="1800" dirty="0"/>
          </a:p>
        </p:txBody>
      </p:sp>
      <p:sp>
        <p:nvSpPr>
          <p:cNvPr id="14" name="flow_desc2"/>
          <p:cNvSpPr txBox="1"/>
          <p:nvPr/>
        </p:nvSpPr>
        <p:spPr>
          <a:xfrm>
            <a:off x="3913632" y="2651760"/>
            <a:ext cx="1335024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思い込みを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書き換える</a:t>
            </a:r>
            <a:endParaRPr lang="en-US" sz="1400" dirty="0"/>
          </a:p>
        </p:txBody>
      </p:sp>
      <p:sp>
        <p:nvSpPr>
          <p:cNvPr id="15" name="flow_card3"/>
          <p:cNvSpPr/>
          <p:nvPr/>
        </p:nvSpPr>
        <p:spPr>
          <a:xfrm>
            <a:off x="5504688" y="1463040"/>
            <a:ext cx="1517904" cy="2286000"/>
          </a:xfrm>
          <a:prstGeom prst="roundRect">
            <a:avLst>
              <a:gd name="adj" fmla="val 7229"/>
            </a:avLst>
          </a:prstGeom>
          <a:solidFill>
            <a:srgbClr val="F4EEDF"/>
          </a:solidFill>
          <a:ln w="9525">
            <a:solidFill>
              <a:srgbClr val="E9D9B6"/>
            </a:solidFill>
            <a:prstDash val="solid"/>
          </a:ln>
        </p:spPr>
        <p:txBody>
          <a:bodyPr/>
          <a:p/>
        </p:txBody>
      </p:sp>
      <p:sp>
        <p:nvSpPr>
          <p:cNvPr id="16" name="flow_time3"/>
          <p:cNvSpPr txBox="1"/>
          <p:nvPr/>
        </p:nvSpPr>
        <p:spPr>
          <a:xfrm>
            <a:off x="5596128" y="1600200"/>
            <a:ext cx="1335024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75〜85分</a:t>
            </a:r>
            <a:endParaRPr lang="en-US" sz="1300" dirty="0"/>
          </a:p>
        </p:txBody>
      </p:sp>
      <p:sp>
        <p:nvSpPr>
          <p:cNvPr id="17" name="flow_part3"/>
          <p:cNvSpPr txBox="1"/>
          <p:nvPr/>
        </p:nvSpPr>
        <p:spPr>
          <a:xfrm>
            <a:off x="5596128" y="2057400"/>
            <a:ext cx="1335024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エネルギー</a:t>
            </a:r>
            <a:endParaRPr lang="en-US" sz="1800" dirty="0"/>
          </a:p>
        </p:txBody>
      </p:sp>
      <p:sp>
        <p:nvSpPr>
          <p:cNvPr id="18" name="flow_desc3"/>
          <p:cNvSpPr txBox="1"/>
          <p:nvPr/>
        </p:nvSpPr>
        <p:spPr>
          <a:xfrm>
            <a:off x="5596128" y="2651760"/>
            <a:ext cx="1335024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残ったものを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取り除く</a:t>
            </a:r>
            <a:endParaRPr lang="en-US" sz="1400" dirty="0"/>
          </a:p>
        </p:txBody>
      </p:sp>
      <p:sp>
        <p:nvSpPr>
          <p:cNvPr id="19" name="flow_card4"/>
          <p:cNvSpPr/>
          <p:nvPr/>
        </p:nvSpPr>
        <p:spPr>
          <a:xfrm>
            <a:off x="7187184" y="1463040"/>
            <a:ext cx="1517904" cy="2286000"/>
          </a:xfrm>
          <a:prstGeom prst="roundRect">
            <a:avLst>
              <a:gd name="adj" fmla="val 7229"/>
            </a:avLst>
          </a:prstGeom>
          <a:solidFill>
            <a:srgbClr val="EFE8F6"/>
          </a:solidFill>
          <a:ln w="9525">
            <a:solidFill>
              <a:srgbClr val="E9D9B6"/>
            </a:solidFill>
            <a:prstDash val="solid"/>
          </a:ln>
        </p:spPr>
        <p:txBody>
          <a:bodyPr/>
          <a:p/>
        </p:txBody>
      </p:sp>
      <p:sp>
        <p:nvSpPr>
          <p:cNvPr id="20" name="flow_time4"/>
          <p:cNvSpPr txBox="1"/>
          <p:nvPr/>
        </p:nvSpPr>
        <p:spPr>
          <a:xfrm>
            <a:off x="7278624" y="1600200"/>
            <a:ext cx="1335024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85〜90分</a:t>
            </a:r>
            <a:endParaRPr lang="en-US" sz="1300" dirty="0"/>
          </a:p>
        </p:txBody>
      </p:sp>
      <p:sp>
        <p:nvSpPr>
          <p:cNvPr id="21" name="flow_part4"/>
          <p:cNvSpPr txBox="1"/>
          <p:nvPr/>
        </p:nvSpPr>
        <p:spPr>
          <a:xfrm>
            <a:off x="7278624" y="2057400"/>
            <a:ext cx="1335024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まとめ</a:t>
            </a:r>
            <a:endParaRPr lang="en-US" sz="1800" dirty="0"/>
          </a:p>
        </p:txBody>
      </p:sp>
      <p:sp>
        <p:nvSpPr>
          <p:cNvPr id="22" name="flow_desc4"/>
          <p:cNvSpPr txBox="1"/>
          <p:nvPr/>
        </p:nvSpPr>
        <p:spPr>
          <a:xfrm>
            <a:off x="7278624" y="2651760"/>
            <a:ext cx="1335024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変化を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確かめる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08A4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今日、大切にしたいこと</a:t>
            </a:r>
            <a:endParaRPr lang="en-US" sz="2400" dirty="0"/>
          </a:p>
        </p:txBody>
      </p:sp>
      <p:sp>
        <p:nvSpPr>
          <p:cNvPr id="3" name="care_lead"/>
          <p:cNvSpPr txBox="1"/>
          <p:nvPr/>
        </p:nvSpPr>
        <p:spPr>
          <a:xfrm>
            <a:off x="457200" y="10972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無理に変わろうとしなくて大丈夫</a:t>
            </a:r>
            <a:endParaRPr lang="en-US" sz="1600" dirty="0"/>
          </a:p>
        </p:txBody>
      </p:sp>
      <p:sp>
        <p:nvSpPr>
          <p:cNvPr id="4" name="care_card0"/>
          <p:cNvSpPr/>
          <p:nvPr/>
        </p:nvSpPr>
        <p:spPr>
          <a:xfrm>
            <a:off x="457200" y="1737360"/>
            <a:ext cx="2596896" cy="2103120"/>
          </a:xfrm>
          <a:prstGeom prst="roundRect">
            <a:avLst>
              <a:gd name="adj" fmla="val 5217"/>
            </a:avLst>
          </a:prstGeom>
          <a:solidFill>
            <a:srgbClr val="EFE8F6"/>
          </a:solidFill>
          <a:ln w="9525">
            <a:solidFill>
              <a:srgbClr val="E9D9B6"/>
            </a:solidFill>
            <a:prstDash val="solid"/>
          </a:ln>
        </p:spPr>
        <p:txBody>
          <a:bodyPr/>
          <a:p/>
        </p:txBody>
      </p:sp>
      <p:sp>
        <p:nvSpPr>
          <p:cNvPr id="5" name="care_head0"/>
          <p:cNvSpPr txBox="1"/>
          <p:nvPr/>
        </p:nvSpPr>
        <p:spPr>
          <a:xfrm>
            <a:off x="640080" y="1920240"/>
            <a:ext cx="224028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2"/>
                </a:solidFill>
              </a:rPr>
              <a:t>選べます</a:t>
            </a:r>
            <a:endParaRPr lang="en-US" sz="1900" dirty="0"/>
          </a:p>
        </p:txBody>
      </p:sp>
      <p:sp>
        <p:nvSpPr>
          <p:cNvPr id="6" name="care_body0"/>
          <p:cNvSpPr txBox="1"/>
          <p:nvPr/>
        </p:nvSpPr>
        <p:spPr>
          <a:xfrm>
            <a:off x="640080" y="2468880"/>
            <a:ext cx="2240280" cy="10972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話す・話さない・休む</a:t>
            </a:r>
            <a:endParaRPr lang="en-US" sz="1600" dirty="0"/>
          </a:p>
        </p:txBody>
      </p:sp>
      <p:sp>
        <p:nvSpPr>
          <p:cNvPr id="7" name="care_card1"/>
          <p:cNvSpPr/>
          <p:nvPr/>
        </p:nvSpPr>
        <p:spPr>
          <a:xfrm>
            <a:off x="3273552" y="1737360"/>
            <a:ext cx="2596896" cy="2103120"/>
          </a:xfrm>
          <a:prstGeom prst="roundRect">
            <a:avLst>
              <a:gd name="adj" fmla="val 5217"/>
            </a:avLst>
          </a:prstGeom>
          <a:solidFill>
            <a:srgbClr val="F8EBEE"/>
          </a:solidFill>
          <a:ln w="9525">
            <a:solidFill>
              <a:srgbClr val="E9D9B6"/>
            </a:solidFill>
            <a:prstDash val="solid"/>
          </a:ln>
        </p:spPr>
        <p:txBody>
          <a:bodyPr/>
          <a:p/>
        </p:txBody>
      </p:sp>
      <p:sp>
        <p:nvSpPr>
          <p:cNvPr id="8" name="care_head1"/>
          <p:cNvSpPr txBox="1"/>
          <p:nvPr/>
        </p:nvSpPr>
        <p:spPr>
          <a:xfrm>
            <a:off x="3456432" y="1920240"/>
            <a:ext cx="224028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2"/>
                </a:solidFill>
              </a:rPr>
              <a:t>正解はありません</a:t>
            </a:r>
            <a:endParaRPr lang="en-US" sz="1900" dirty="0"/>
          </a:p>
        </p:txBody>
      </p:sp>
      <p:sp>
        <p:nvSpPr>
          <p:cNvPr id="9" name="care_body1"/>
          <p:cNvSpPr txBox="1"/>
          <p:nvPr/>
        </p:nvSpPr>
        <p:spPr>
          <a:xfrm>
            <a:off x="3456432" y="2468880"/>
            <a:ext cx="2240280" cy="10972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感じ方は人それぞれ</a:t>
            </a:r>
            <a:endParaRPr lang="en-US" sz="1600" dirty="0"/>
          </a:p>
        </p:txBody>
      </p:sp>
      <p:sp>
        <p:nvSpPr>
          <p:cNvPr id="10" name="care_card2"/>
          <p:cNvSpPr/>
          <p:nvPr/>
        </p:nvSpPr>
        <p:spPr>
          <a:xfrm>
            <a:off x="6089904" y="1737360"/>
            <a:ext cx="2596896" cy="2103120"/>
          </a:xfrm>
          <a:prstGeom prst="roundRect">
            <a:avLst>
              <a:gd name="adj" fmla="val 5217"/>
            </a:avLst>
          </a:prstGeom>
          <a:solidFill>
            <a:srgbClr val="E6F3EF"/>
          </a:solidFill>
          <a:ln w="9525">
            <a:solidFill>
              <a:srgbClr val="E9D9B6"/>
            </a:solidFill>
            <a:prstDash val="solid"/>
          </a:ln>
        </p:spPr>
        <p:txBody>
          <a:bodyPr/>
          <a:p/>
        </p:txBody>
      </p:sp>
      <p:sp>
        <p:nvSpPr>
          <p:cNvPr id="11" name="care_head2"/>
          <p:cNvSpPr txBox="1"/>
          <p:nvPr/>
        </p:nvSpPr>
        <p:spPr>
          <a:xfrm>
            <a:off x="6272784" y="1920240"/>
            <a:ext cx="224028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2"/>
                </a:solidFill>
              </a:rPr>
              <a:t>今日の目標</a:t>
            </a:r>
            <a:endParaRPr lang="en-US" sz="1900" dirty="0"/>
          </a:p>
        </p:txBody>
      </p:sp>
      <p:sp>
        <p:nvSpPr>
          <p:cNvPr id="12" name="care_body2"/>
          <p:cNvSpPr txBox="1"/>
          <p:nvPr/>
        </p:nvSpPr>
        <p:spPr>
          <a:xfrm>
            <a:off x="6272784" y="2468880"/>
            <a:ext cx="2240280" cy="10972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一つ気づいて、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一つ持ち帰る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08A4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第1部　魂の傷を聴く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278892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直感でおしえてください（0〜20分）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答えたくない質問は、飛ばして大丈夫です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"/>
          <p:cNvSpPr/>
          <p:nvPr/>
        </p:nvSpPr>
        <p:spPr>
          <a:xfrm>
            <a:off x="228600" y="137160"/>
            <a:ext cx="8686800" cy="4526280"/>
          </a:xfrm>
          <a:prstGeom prst="rect">
            <a:avLst/>
          </a:prstGeom>
          <a:ln w="12700">
            <a:solidFill>
              <a:srgbClr val="B08A4E"/>
            </a:solidFill>
            <a:prstDash val="solid"/>
          </a:ln>
        </p:spPr>
        <p:txBody>
          <a:bodyPr/>
          <a:p/>
        </p:txBody>
      </p:sp>
      <p:sp>
        <p:nvSpPr>
          <p:cNvPr id="3" name="qlabel"/>
          <p:cNvSpPr txBox="1"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どのような事でお悩みですか？</a:t>
            </a:r>
            <a:endParaRPr lang="en-US" sz="13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914400" y="1554480"/>
            <a:ext cx="7315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お悩みの内容を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おしえてください</a:t>
            </a:r>
            <a:endParaRPr lang="en-US" sz="32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accent2"/>
                </a:solidFill>
              </a:rPr>
              <a:t>直感で大丈夫です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08A4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"/>
          <p:cNvSpPr/>
          <p:nvPr/>
        </p:nvSpPr>
        <p:spPr>
          <a:xfrm>
            <a:off x="228600" y="137160"/>
            <a:ext cx="8686800" cy="4526280"/>
          </a:xfrm>
          <a:prstGeom prst="rect">
            <a:avLst/>
          </a:prstGeom>
          <a:ln w="12700">
            <a:solidFill>
              <a:srgbClr val="B08A4E"/>
            </a:solidFill>
            <a:prstDash val="solid"/>
          </a:ln>
        </p:spPr>
        <p:txBody>
          <a:bodyPr/>
          <a:p/>
        </p:txBody>
      </p:sp>
      <p:sp>
        <p:nvSpPr>
          <p:cNvPr id="3" name="qlabel"/>
          <p:cNvSpPr txBox="1"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どのような事でお悩みですか？</a:t>
            </a:r>
            <a:endParaRPr lang="en-US" sz="13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914400" y="1554480"/>
            <a:ext cx="7315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それは、いつからですか？</a:t>
            </a:r>
            <a:endParaRPr lang="en-US" sz="32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accent2"/>
                </a:solidFill>
              </a:rPr>
              <a:t>どのくらいの期間、続いていますか？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08A4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"/>
          <p:cNvSpPr/>
          <p:nvPr/>
        </p:nvSpPr>
        <p:spPr>
          <a:xfrm>
            <a:off x="228600" y="137160"/>
            <a:ext cx="8686800" cy="4526280"/>
          </a:xfrm>
          <a:prstGeom prst="rect">
            <a:avLst/>
          </a:prstGeom>
          <a:ln w="12700">
            <a:solidFill>
              <a:srgbClr val="B08A4E"/>
            </a:solidFill>
            <a:prstDash val="solid"/>
          </a:ln>
        </p:spPr>
        <p:txBody>
          <a:bodyPr/>
          <a:p/>
        </p:txBody>
      </p:sp>
      <p:sp>
        <p:nvSpPr>
          <p:cNvPr id="3" name="qlabel"/>
          <p:cNvSpPr txBox="1"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どのような事でお悩みですか？</a:t>
            </a:r>
            <a:endParaRPr lang="en-US" sz="13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914400" y="1554480"/>
            <a:ext cx="7315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1〜10で言うと、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今どの段階ですか？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08A4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"/>
          <p:cNvSpPr/>
          <p:nvPr/>
        </p:nvSpPr>
        <p:spPr>
          <a:xfrm>
            <a:off x="228600" y="137160"/>
            <a:ext cx="8686800" cy="4526280"/>
          </a:xfrm>
          <a:prstGeom prst="rect">
            <a:avLst/>
          </a:prstGeom>
          <a:ln w="12700">
            <a:solidFill>
              <a:srgbClr val="B08A4E"/>
            </a:solidFill>
            <a:prstDash val="solid"/>
          </a:ln>
        </p:spPr>
        <p:txBody>
          <a:bodyPr/>
          <a:p/>
        </p:txBody>
      </p:sp>
      <p:sp>
        <p:nvSpPr>
          <p:cNvPr id="3" name="qlabel"/>
          <p:cNvSpPr txBox="1"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どのような事でお悩みですか？</a:t>
            </a:r>
            <a:endParaRPr lang="en-US" sz="13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914400" y="1554480"/>
            <a:ext cx="7315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その悩みは、あなたの人生に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どのような影響がありますか？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08A4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"/>
          <p:cNvSpPr/>
          <p:nvPr/>
        </p:nvSpPr>
        <p:spPr>
          <a:xfrm>
            <a:off x="228600" y="137160"/>
            <a:ext cx="8686800" cy="4526280"/>
          </a:xfrm>
          <a:prstGeom prst="rect">
            <a:avLst/>
          </a:prstGeom>
          <a:ln w="12700">
            <a:solidFill>
              <a:srgbClr val="B08A4E"/>
            </a:solidFill>
            <a:prstDash val="solid"/>
          </a:ln>
        </p:spPr>
        <p:txBody>
          <a:bodyPr/>
          <a:p/>
        </p:txBody>
      </p:sp>
      <p:sp>
        <p:nvSpPr>
          <p:cNvPr id="3" name="qlabel"/>
          <p:cNvSpPr txBox="1"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ゴールデンエイジ</a:t>
            </a:r>
            <a:endParaRPr lang="en-US" sz="13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914400" y="1554480"/>
            <a:ext cx="7315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子どもの頃に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見たこと・聞いたことが、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今の「当たり前」になりやすい</a:t>
            </a:r>
            <a:endParaRPr lang="en-US" sz="32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accent2"/>
                </a:solidFill>
              </a:rPr>
              <a:t>この大切な時期を「ゴールデンエイジ」と呼びます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08A4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"/>
          <p:cNvSpPr/>
          <p:nvPr/>
        </p:nvSpPr>
        <p:spPr>
          <a:xfrm>
            <a:off x="228600" y="137160"/>
            <a:ext cx="8686800" cy="4526280"/>
          </a:xfrm>
          <a:prstGeom prst="rect">
            <a:avLst/>
          </a:prstGeom>
          <a:ln w="12700">
            <a:solidFill>
              <a:srgbClr val="B08A4E"/>
            </a:solidFill>
            <a:prstDash val="solid"/>
          </a:ln>
        </p:spPr>
        <p:txBody>
          <a:bodyPr/>
          <a:p/>
        </p:txBody>
      </p:sp>
      <p:sp>
        <p:nvSpPr>
          <p:cNvPr id="3" name="qlabel"/>
          <p:cNvSpPr txBox="1"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幼少期のこと</a:t>
            </a:r>
            <a:endParaRPr lang="en-US" sz="13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914400" y="1554480"/>
            <a:ext cx="7315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子ども時代のことも、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聴かせていただいても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いいですか？</a:t>
            </a:r>
            <a:endParaRPr lang="en-US" sz="32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accent2"/>
                </a:solidFill>
              </a:rPr>
              <a:t>事前にいただいたメッセージにも、子どもの頃のことがありましたね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chemeClr val="accent2"/>
                </a:solidFill>
              </a:rPr>
              <a:t>話したくないことは、話さなくて大丈夫です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08A4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"/>
          <p:cNvSpPr/>
          <p:nvPr/>
        </p:nvSpPr>
        <p:spPr>
          <a:xfrm>
            <a:off x="228600" y="137160"/>
            <a:ext cx="8686800" cy="4526280"/>
          </a:xfrm>
          <a:prstGeom prst="rect">
            <a:avLst/>
          </a:prstGeom>
          <a:ln w="12700">
            <a:solidFill>
              <a:srgbClr val="B08A4E"/>
            </a:solidFill>
            <a:prstDash val="solid"/>
          </a:ln>
        </p:spPr>
        <p:txBody>
          <a:bodyPr/>
          <a:p/>
        </p:txBody>
      </p:sp>
      <p:sp>
        <p:nvSpPr>
          <p:cNvPr id="3" name="qlabel"/>
          <p:cNvSpPr txBox="1"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問題の心理状況：幼少期の影響</a:t>
            </a:r>
            <a:endParaRPr lang="en-US" sz="13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914400" y="1554480"/>
            <a:ext cx="7315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どのような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お子さんでしたか？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08A4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"/>
          <p:cNvSpPr/>
          <p:nvPr/>
        </p:nvSpPr>
        <p:spPr>
          <a:xfrm>
            <a:off x="228600" y="137160"/>
            <a:ext cx="8686800" cy="4526280"/>
          </a:xfrm>
          <a:prstGeom prst="rect">
            <a:avLst/>
          </a:prstGeom>
          <a:ln w="12700">
            <a:solidFill>
              <a:srgbClr val="B08A4E"/>
            </a:solidFill>
            <a:prstDash val="solid"/>
          </a:ln>
        </p:spPr>
        <p:txBody>
          <a:bodyPr/>
          <a:p/>
        </p:txBody>
      </p:sp>
      <p:sp>
        <p:nvSpPr>
          <p:cNvPr id="3" name="qlabel"/>
          <p:cNvSpPr txBox="1"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問題の心理状況：幼少期の影響</a:t>
            </a:r>
            <a:endParaRPr lang="en-US" sz="13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914400" y="1554480"/>
            <a:ext cx="7315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ご両親は、厳しかったですか？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優しかったですか？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08A4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"/>
          <p:cNvSpPr/>
          <p:nvPr/>
        </p:nvSpPr>
        <p:spPr>
          <a:xfrm>
            <a:off x="228600" y="137160"/>
            <a:ext cx="8686800" cy="4526280"/>
          </a:xfrm>
          <a:prstGeom prst="rect">
            <a:avLst/>
          </a:prstGeom>
          <a:ln w="12700">
            <a:solidFill>
              <a:srgbClr val="B08A4E"/>
            </a:solidFill>
            <a:prstDash val="solid"/>
          </a:ln>
        </p:spPr>
        <p:txBody>
          <a:bodyPr/>
          <a:p/>
        </p:txBody>
      </p:sp>
      <p:sp>
        <p:nvSpPr>
          <p:cNvPr id="3" name="qlabel"/>
          <p:cNvSpPr txBox="1"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問題の心理状況：幼少期の影響</a:t>
            </a:r>
            <a:endParaRPr lang="en-US" sz="13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914400" y="1554480"/>
            <a:ext cx="7315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ご両親に、かけてほしかった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言葉はありますか？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08A4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"/>
          <p:cNvSpPr/>
          <p:nvPr/>
        </p:nvSpPr>
        <p:spPr>
          <a:xfrm>
            <a:off x="228600" y="137160"/>
            <a:ext cx="8686800" cy="4526280"/>
          </a:xfrm>
          <a:prstGeom prst="rect">
            <a:avLst/>
          </a:prstGeom>
          <a:ln w="12700">
            <a:solidFill>
              <a:srgbClr val="B08A4E"/>
            </a:solidFill>
            <a:prstDash val="solid"/>
          </a:ln>
        </p:spPr>
        <p:txBody>
          <a:bodyPr/>
          <a:p/>
        </p:txBody>
      </p:sp>
      <p:sp>
        <p:nvSpPr>
          <p:cNvPr id="3" name="qlabel"/>
          <p:cNvSpPr txBox="1"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幼少期のお金の記憶</a:t>
            </a:r>
            <a:endParaRPr lang="en-US" sz="13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914400" y="1554480"/>
            <a:ext cx="7315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「＿＿＿＿＿＿」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（事前に聞いたエピソードを入れる）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その頃、何を感じていましたか？</a:t>
            </a:r>
            <a:endParaRPr lang="en-US" sz="32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accent2"/>
                </a:solidFill>
              </a:rPr>
              <a:t>ご両親を責めるのではなく、当時のあなたの気持ちを大切にします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08A4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"/>
          <p:cNvSpPr/>
          <p:nvPr/>
        </p:nvSpPr>
        <p:spPr>
          <a:xfrm>
            <a:off x="228600" y="137160"/>
            <a:ext cx="8686800" cy="4526280"/>
          </a:xfrm>
          <a:prstGeom prst="rect">
            <a:avLst/>
          </a:prstGeom>
          <a:ln w="12700">
            <a:solidFill>
              <a:srgbClr val="B08A4E"/>
            </a:solidFill>
            <a:prstDash val="solid"/>
          </a:ln>
        </p:spPr>
        <p:txBody>
          <a:bodyPr/>
          <a:p/>
        </p:txBody>
      </p:sp>
      <p:sp>
        <p:nvSpPr>
          <p:cNvPr id="3" name="qlabel"/>
          <p:cNvSpPr txBox="1"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第2部へ</a:t>
            </a:r>
            <a:endParaRPr lang="en-US" sz="13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914400" y="1554480"/>
            <a:ext cx="7315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お話を聴かせてくださって、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ありがとうございます</a:t>
            </a:r>
            <a:endParaRPr lang="en-US" sz="32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accent2"/>
                </a:solidFill>
              </a:rPr>
              <a:t>ここで少し、頭の仕組みのお話をさせてください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08A4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第2部　頭の構造を知る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278892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なぜ「わかっているのに」変われないのか（20〜35分）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"/>
          <p:cNvSpPr/>
          <p:nvPr/>
        </p:nvSpPr>
        <p:spPr>
          <a:xfrm>
            <a:off x="228600" y="137160"/>
            <a:ext cx="8686800" cy="4526280"/>
          </a:xfrm>
          <a:prstGeom prst="rect">
            <a:avLst/>
          </a:prstGeom>
          <a:ln w="12700">
            <a:solidFill>
              <a:srgbClr val="B08A4E"/>
            </a:solidFill>
            <a:prstDash val="solid"/>
          </a:ln>
        </p:spPr>
        <p:txBody>
          <a:bodyPr/>
          <a:p/>
        </p:txBody>
      </p:sp>
      <p:sp>
        <p:nvSpPr>
          <p:cNvPr id="3" name="qlabel"/>
          <p:cNvSpPr txBox="1"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第2部のはじめに</a:t>
            </a:r>
            <a:endParaRPr lang="en-US" sz="13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914400" y="1554480"/>
            <a:ext cx="7315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頭ではわかっているのに、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お金のことになると、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なぜか同じところで止まってしまう</a:t>
            </a:r>
            <a:endParaRPr lang="en-US" sz="32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accent2"/>
                </a:solidFill>
              </a:rPr>
              <a:t>その理由を、頭の仕組みからお話しします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08A4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57200" y="182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第2部　頭の構造を知る ｜ 1 / 7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人は「頭」ではなく「感情」で動いている</a:t>
            </a:r>
            <a:endParaRPr lang="en-US" sz="2400" dirty="0"/>
          </a:p>
        </p:txBody>
      </p:sp>
      <p:pic>
        <p:nvPicPr>
          <p:cNvPr id="4" name="Image 0" descr="講座スライド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5120640" cy="2880360"/>
          </a:xfrm>
          <a:prstGeom prst="rect">
            <a:avLst/>
          </a:prstGeom>
        </p:spPr>
      </p:pic>
      <p:sp>
        <p:nvSpPr>
          <p:cNvPr id="5" name="money_card"/>
          <p:cNvSpPr/>
          <p:nvPr/>
        </p:nvSpPr>
        <p:spPr>
          <a:xfrm>
            <a:off x="5806440" y="1234440"/>
            <a:ext cx="2880360" cy="2880360"/>
          </a:xfrm>
          <a:prstGeom prst="roundRect">
            <a:avLst>
              <a:gd name="adj" fmla="val 3810"/>
            </a:avLst>
          </a:prstGeom>
          <a:solidFill>
            <a:srgbClr val="F8EBEE"/>
          </a:solidFill>
          <a:ln w="9525">
            <a:solidFill>
              <a:srgbClr val="E9D9B6"/>
            </a:solidFill>
            <a:prstDash val="solid"/>
          </a:ln>
        </p:spPr>
        <p:txBody>
          <a:bodyPr/>
          <a:p/>
        </p:txBody>
      </p:sp>
      <p:sp>
        <p:nvSpPr>
          <p:cNvPr id="6" name="money_head"/>
          <p:cNvSpPr txBox="1"/>
          <p:nvPr/>
        </p:nvSpPr>
        <p:spPr>
          <a:xfrm>
            <a:off x="5989320" y="1371600"/>
            <a:ext cx="256032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お金で言うと…</a:t>
            </a:r>
            <a:endParaRPr lang="en-US" sz="1500" dirty="0"/>
          </a:p>
        </p:txBody>
      </p:sp>
      <p:sp>
        <p:nvSpPr>
          <p:cNvPr id="7" name="money_body"/>
          <p:cNvSpPr txBox="1"/>
          <p:nvPr/>
        </p:nvSpPr>
        <p:spPr>
          <a:xfrm>
            <a:off x="5989320" y="1783080"/>
            <a:ext cx="2560320" cy="22402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「わかっているのに変われない」のは、意志が弱いからではありません。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頭で考えるより先に、感情が動いているからです。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08A4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"/>
          <p:cNvSpPr/>
          <p:nvPr/>
        </p:nvSpPr>
        <p:spPr>
          <a:xfrm>
            <a:off x="228600" y="137160"/>
            <a:ext cx="8686800" cy="4526280"/>
          </a:xfrm>
          <a:prstGeom prst="rect">
            <a:avLst/>
          </a:prstGeom>
          <a:ln w="12700">
            <a:solidFill>
              <a:srgbClr val="B08A4E"/>
            </a:solidFill>
            <a:prstDash val="solid"/>
          </a:ln>
        </p:spPr>
        <p:txBody>
          <a:bodyPr/>
          <a:p/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914400" y="1554480"/>
            <a:ext cx="7315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ピンクの象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08A4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57200" y="182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第2部　頭の構造を知る ｜ 2 / 7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脳のクセ①　「〜しない」がわからない</a:t>
            </a:r>
            <a:endParaRPr lang="en-US" sz="2400" dirty="0"/>
          </a:p>
        </p:txBody>
      </p:sp>
      <p:pic>
        <p:nvPicPr>
          <p:cNvPr id="4" name="Image 0" descr="講座スライド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5120640" cy="2880360"/>
          </a:xfrm>
          <a:prstGeom prst="rect">
            <a:avLst/>
          </a:prstGeom>
        </p:spPr>
      </p:pic>
      <p:sp>
        <p:nvSpPr>
          <p:cNvPr id="5" name="money_card"/>
          <p:cNvSpPr/>
          <p:nvPr/>
        </p:nvSpPr>
        <p:spPr>
          <a:xfrm>
            <a:off x="5806440" y="1234440"/>
            <a:ext cx="2880360" cy="2880360"/>
          </a:xfrm>
          <a:prstGeom prst="roundRect">
            <a:avLst>
              <a:gd name="adj" fmla="val 3810"/>
            </a:avLst>
          </a:prstGeom>
          <a:solidFill>
            <a:srgbClr val="F8EBEE"/>
          </a:solidFill>
          <a:ln w="9525">
            <a:solidFill>
              <a:srgbClr val="E9D9B6"/>
            </a:solidFill>
            <a:prstDash val="solid"/>
          </a:ln>
        </p:spPr>
        <p:txBody>
          <a:bodyPr/>
          <a:p/>
        </p:txBody>
      </p:sp>
      <p:sp>
        <p:nvSpPr>
          <p:cNvPr id="6" name="money_head"/>
          <p:cNvSpPr txBox="1"/>
          <p:nvPr/>
        </p:nvSpPr>
        <p:spPr>
          <a:xfrm>
            <a:off x="5989320" y="1371600"/>
            <a:ext cx="256032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お金で言うと…</a:t>
            </a:r>
            <a:endParaRPr lang="en-US" sz="1500" dirty="0"/>
          </a:p>
        </p:txBody>
      </p:sp>
      <p:sp>
        <p:nvSpPr>
          <p:cNvPr id="7" name="money_body"/>
          <p:cNvSpPr txBox="1"/>
          <p:nvPr/>
        </p:nvSpPr>
        <p:spPr>
          <a:xfrm>
            <a:off x="5989320" y="1783080"/>
            <a:ext cx="2560320" cy="22402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「お金で困らないように」と思うほど、脳は「困る」場面を思い描いてしまいます。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08A4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57200" y="182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第2部　頭の構造を知る ｜ 3 / 7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脳のクセ②　過去の「強い思い」に引っ張られる</a:t>
            </a:r>
            <a:endParaRPr lang="en-US" sz="2400" dirty="0"/>
          </a:p>
        </p:txBody>
      </p:sp>
      <p:pic>
        <p:nvPicPr>
          <p:cNvPr id="4" name="Image 0" descr="講座スライド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5120640" cy="2880360"/>
          </a:xfrm>
          <a:prstGeom prst="rect">
            <a:avLst/>
          </a:prstGeom>
        </p:spPr>
      </p:pic>
      <p:sp>
        <p:nvSpPr>
          <p:cNvPr id="5" name="money_card"/>
          <p:cNvSpPr/>
          <p:nvPr/>
        </p:nvSpPr>
        <p:spPr>
          <a:xfrm>
            <a:off x="5806440" y="1234440"/>
            <a:ext cx="2880360" cy="2880360"/>
          </a:xfrm>
          <a:prstGeom prst="roundRect">
            <a:avLst>
              <a:gd name="adj" fmla="val 3810"/>
            </a:avLst>
          </a:prstGeom>
          <a:solidFill>
            <a:srgbClr val="F8EBEE"/>
          </a:solidFill>
          <a:ln w="9525">
            <a:solidFill>
              <a:srgbClr val="E9D9B6"/>
            </a:solidFill>
            <a:prstDash val="solid"/>
          </a:ln>
        </p:spPr>
        <p:txBody>
          <a:bodyPr/>
          <a:p/>
        </p:txBody>
      </p:sp>
      <p:sp>
        <p:nvSpPr>
          <p:cNvPr id="6" name="money_head"/>
          <p:cNvSpPr txBox="1"/>
          <p:nvPr/>
        </p:nvSpPr>
        <p:spPr>
          <a:xfrm>
            <a:off x="5989320" y="1371600"/>
            <a:ext cx="256032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お金で言うと…</a:t>
            </a:r>
            <a:endParaRPr lang="en-US" sz="1500" dirty="0"/>
          </a:p>
        </p:txBody>
      </p:sp>
      <p:sp>
        <p:nvSpPr>
          <p:cNvPr id="7" name="money_body"/>
          <p:cNvSpPr txBox="1"/>
          <p:nvPr/>
        </p:nvSpPr>
        <p:spPr>
          <a:xfrm>
            <a:off x="5989320" y="1783080"/>
            <a:ext cx="2560320" cy="22402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子どもの頃の強い体験は「二度と触れるな」と保存されて、今のお金の判断にブレーキをかけます。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08A4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57200" y="182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第2部　頭の構造を知る ｜ 4 / 7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その「強い思い」が刻まれるのが、ゴールデンエイジ</a:t>
            </a:r>
            <a:endParaRPr lang="en-US" sz="2400" dirty="0"/>
          </a:p>
        </p:txBody>
      </p:sp>
      <p:sp>
        <p:nvSpPr>
          <p:cNvPr id="4" name="ga_card0"/>
          <p:cNvSpPr/>
          <p:nvPr/>
        </p:nvSpPr>
        <p:spPr>
          <a:xfrm>
            <a:off x="457200" y="1234440"/>
            <a:ext cx="5120640" cy="822960"/>
          </a:xfrm>
          <a:prstGeom prst="roundRect">
            <a:avLst>
              <a:gd name="adj" fmla="val 13333"/>
            </a:avLst>
          </a:prstGeom>
          <a:solidFill>
            <a:srgbClr val="FDFAF4"/>
          </a:solidFill>
          <a:ln w="9525">
            <a:solidFill>
              <a:srgbClr val="E9D9B6"/>
            </a:solidFill>
            <a:prstDash val="solid"/>
          </a:ln>
        </p:spPr>
        <p:txBody>
          <a:bodyPr/>
          <a:p/>
        </p:txBody>
      </p:sp>
      <p:sp>
        <p:nvSpPr>
          <p:cNvPr id="5" name="ga0_c"/>
          <p:cNvSpPr/>
          <p:nvPr/>
        </p:nvSpPr>
        <p:spPr>
          <a:xfrm>
            <a:off x="621792" y="1453896"/>
            <a:ext cx="384048" cy="384048"/>
          </a:xfrm>
          <a:prstGeom prst="ellipse">
            <a:avLst/>
          </a:prstGeom>
          <a:solidFill>
            <a:srgbClr val="B08A4E"/>
          </a:solidFill>
          <a:ln/>
        </p:spPr>
        <p:txBody>
          <a:bodyPr/>
          <a:p/>
        </p:txBody>
      </p:sp>
      <p:sp>
        <p:nvSpPr>
          <p:cNvPr id="6" name="ga0_n"/>
          <p:cNvSpPr txBox="1"/>
          <p:nvPr/>
        </p:nvSpPr>
        <p:spPr>
          <a:xfrm>
            <a:off x="621792" y="1453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ga_head0"/>
          <p:cNvSpPr txBox="1"/>
          <p:nvPr/>
        </p:nvSpPr>
        <p:spPr>
          <a:xfrm>
            <a:off x="1143000" y="1298448"/>
            <a:ext cx="4297680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子どもの頃</a:t>
            </a:r>
            <a:endParaRPr lang="en-US" sz="1600" dirty="0"/>
          </a:p>
        </p:txBody>
      </p:sp>
      <p:sp>
        <p:nvSpPr>
          <p:cNvPr id="8" name="ga_body0"/>
          <p:cNvSpPr txBox="1"/>
          <p:nvPr/>
        </p:nvSpPr>
        <p:spPr>
          <a:xfrm>
            <a:off x="1143000" y="1645920"/>
            <a:ext cx="429768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家の中で見たこと・聞いた言葉・言われ方</a:t>
            </a:r>
            <a:endParaRPr lang="en-US" sz="1400" dirty="0"/>
          </a:p>
        </p:txBody>
      </p:sp>
      <p:sp>
        <p:nvSpPr>
          <p:cNvPr id="9" name="ga_card1"/>
          <p:cNvSpPr/>
          <p:nvPr/>
        </p:nvSpPr>
        <p:spPr>
          <a:xfrm>
            <a:off x="457200" y="2221992"/>
            <a:ext cx="5120640" cy="822960"/>
          </a:xfrm>
          <a:prstGeom prst="roundRect">
            <a:avLst>
              <a:gd name="adj" fmla="val 13333"/>
            </a:avLst>
          </a:prstGeom>
          <a:solidFill>
            <a:srgbClr val="FDFAF4"/>
          </a:solidFill>
          <a:ln w="9525">
            <a:solidFill>
              <a:srgbClr val="E9D9B6"/>
            </a:solidFill>
            <a:prstDash val="solid"/>
          </a:ln>
        </p:spPr>
        <p:txBody>
          <a:bodyPr/>
          <a:p/>
        </p:txBody>
      </p:sp>
      <p:sp>
        <p:nvSpPr>
          <p:cNvPr id="10" name="ga1_c"/>
          <p:cNvSpPr/>
          <p:nvPr/>
        </p:nvSpPr>
        <p:spPr>
          <a:xfrm>
            <a:off x="621792" y="2441448"/>
            <a:ext cx="384048" cy="384048"/>
          </a:xfrm>
          <a:prstGeom prst="ellipse">
            <a:avLst/>
          </a:prstGeom>
          <a:solidFill>
            <a:srgbClr val="B08A4E"/>
          </a:solidFill>
          <a:ln/>
        </p:spPr>
        <p:txBody>
          <a:bodyPr/>
          <a:p/>
        </p:txBody>
      </p:sp>
      <p:sp>
        <p:nvSpPr>
          <p:cNvPr id="11" name="ga1_n"/>
          <p:cNvSpPr txBox="1"/>
          <p:nvPr/>
        </p:nvSpPr>
        <p:spPr>
          <a:xfrm>
            <a:off x="621792" y="2441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2" name="ga_head1"/>
          <p:cNvSpPr txBox="1"/>
          <p:nvPr/>
        </p:nvSpPr>
        <p:spPr>
          <a:xfrm>
            <a:off x="1143000" y="2286000"/>
            <a:ext cx="4297680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脳が保存</a:t>
            </a:r>
            <a:endParaRPr lang="en-US" sz="1600" dirty="0"/>
          </a:p>
        </p:txBody>
      </p:sp>
      <p:sp>
        <p:nvSpPr>
          <p:cNvPr id="13" name="ga_body1"/>
          <p:cNvSpPr txBox="1"/>
          <p:nvPr/>
        </p:nvSpPr>
        <p:spPr>
          <a:xfrm>
            <a:off x="1143000" y="2633472"/>
            <a:ext cx="429768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「これが当たり前」として記憶する</a:t>
            </a:r>
            <a:endParaRPr lang="en-US" sz="1400" dirty="0"/>
          </a:p>
        </p:txBody>
      </p:sp>
      <p:sp>
        <p:nvSpPr>
          <p:cNvPr id="14" name="ga_card2"/>
          <p:cNvSpPr/>
          <p:nvPr/>
        </p:nvSpPr>
        <p:spPr>
          <a:xfrm>
            <a:off x="457200" y="3209544"/>
            <a:ext cx="5120640" cy="822960"/>
          </a:xfrm>
          <a:prstGeom prst="roundRect">
            <a:avLst>
              <a:gd name="adj" fmla="val 13333"/>
            </a:avLst>
          </a:prstGeom>
          <a:solidFill>
            <a:srgbClr val="F8EBEE"/>
          </a:solidFill>
          <a:ln w="9525">
            <a:solidFill>
              <a:srgbClr val="E9D9B6"/>
            </a:solidFill>
            <a:prstDash val="solid"/>
          </a:ln>
        </p:spPr>
        <p:txBody>
          <a:bodyPr/>
          <a:p/>
        </p:txBody>
      </p:sp>
      <p:sp>
        <p:nvSpPr>
          <p:cNvPr id="15" name="ga2_c"/>
          <p:cNvSpPr/>
          <p:nvPr/>
        </p:nvSpPr>
        <p:spPr>
          <a:xfrm>
            <a:off x="621792" y="3429000"/>
            <a:ext cx="384048" cy="384048"/>
          </a:xfrm>
          <a:prstGeom prst="ellipse">
            <a:avLst/>
          </a:prstGeom>
          <a:solidFill>
            <a:srgbClr val="B08A4E"/>
          </a:solidFill>
          <a:ln/>
        </p:spPr>
        <p:txBody>
          <a:bodyPr/>
          <a:p/>
        </p:txBody>
      </p:sp>
      <p:sp>
        <p:nvSpPr>
          <p:cNvPr id="16" name="ga2_n"/>
          <p:cNvSpPr txBox="1"/>
          <p:nvPr/>
        </p:nvSpPr>
        <p:spPr>
          <a:xfrm>
            <a:off x="621792" y="3429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7" name="ga_head2"/>
          <p:cNvSpPr txBox="1"/>
          <p:nvPr/>
        </p:nvSpPr>
        <p:spPr>
          <a:xfrm>
            <a:off x="1143000" y="3273552"/>
            <a:ext cx="4297680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大人になった今</a:t>
            </a:r>
            <a:endParaRPr lang="en-US" sz="1600" dirty="0"/>
          </a:p>
        </p:txBody>
      </p:sp>
      <p:sp>
        <p:nvSpPr>
          <p:cNvPr id="18" name="ga_body2"/>
          <p:cNvSpPr txBox="1"/>
          <p:nvPr/>
        </p:nvSpPr>
        <p:spPr>
          <a:xfrm>
            <a:off x="1143000" y="3621024"/>
            <a:ext cx="429768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その当たり前が、自分の基準として動き続ける</a:t>
            </a:r>
            <a:endParaRPr lang="en-US" sz="1400" dirty="0"/>
          </a:p>
        </p:txBody>
      </p:sp>
      <p:sp>
        <p:nvSpPr>
          <p:cNvPr id="19" name="money_card"/>
          <p:cNvSpPr/>
          <p:nvPr/>
        </p:nvSpPr>
        <p:spPr>
          <a:xfrm>
            <a:off x="5806440" y="1234440"/>
            <a:ext cx="2880360" cy="2798064"/>
          </a:xfrm>
          <a:prstGeom prst="roundRect">
            <a:avLst>
              <a:gd name="adj" fmla="val 3922"/>
            </a:avLst>
          </a:prstGeom>
          <a:solidFill>
            <a:srgbClr val="F8EBEE"/>
          </a:solidFill>
          <a:ln w="9525">
            <a:solidFill>
              <a:srgbClr val="E9D9B6"/>
            </a:solidFill>
            <a:prstDash val="solid"/>
          </a:ln>
        </p:spPr>
        <p:txBody>
          <a:bodyPr/>
          <a:p/>
        </p:txBody>
      </p:sp>
      <p:sp>
        <p:nvSpPr>
          <p:cNvPr id="20" name="money_head"/>
          <p:cNvSpPr txBox="1"/>
          <p:nvPr/>
        </p:nvSpPr>
        <p:spPr>
          <a:xfrm>
            <a:off x="5989320" y="1371600"/>
            <a:ext cx="256032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お金で言うと…</a:t>
            </a:r>
            <a:endParaRPr lang="en-US" sz="1500" dirty="0"/>
          </a:p>
        </p:txBody>
      </p:sp>
      <p:sp>
        <p:nvSpPr>
          <p:cNvPr id="21" name="money_body"/>
          <p:cNvSpPr txBox="1"/>
          <p:nvPr/>
        </p:nvSpPr>
        <p:spPr>
          <a:xfrm>
            <a:off x="5989320" y="1783080"/>
            <a:ext cx="2560320" cy="21031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子どもの頃に、お金のまわりで見たこと・聞いたことが、今の「お金の当たり前」になっています。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08A4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57200" y="182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第2部　頭の構造を知る ｜ 5 / 7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でも、その「当たり前」は人によって全然ちがう</a:t>
            </a:r>
            <a:endParaRPr lang="en-US" sz="2400" dirty="0"/>
          </a:p>
        </p:txBody>
      </p:sp>
      <p:pic>
        <p:nvPicPr>
          <p:cNvPr id="4" name="Image 0" descr="講座スライド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5120640" cy="2880360"/>
          </a:xfrm>
          <a:prstGeom prst="rect">
            <a:avLst/>
          </a:prstGeom>
        </p:spPr>
      </p:pic>
      <p:sp>
        <p:nvSpPr>
          <p:cNvPr id="5" name="money_card"/>
          <p:cNvSpPr/>
          <p:nvPr/>
        </p:nvSpPr>
        <p:spPr>
          <a:xfrm>
            <a:off x="5806440" y="1234440"/>
            <a:ext cx="2880360" cy="2880360"/>
          </a:xfrm>
          <a:prstGeom prst="roundRect">
            <a:avLst>
              <a:gd name="adj" fmla="val 3810"/>
            </a:avLst>
          </a:prstGeom>
          <a:solidFill>
            <a:srgbClr val="F8EBEE"/>
          </a:solidFill>
          <a:ln w="9525">
            <a:solidFill>
              <a:srgbClr val="E9D9B6"/>
            </a:solidFill>
            <a:prstDash val="solid"/>
          </a:ln>
        </p:spPr>
        <p:txBody>
          <a:bodyPr/>
          <a:p/>
        </p:txBody>
      </p:sp>
      <p:sp>
        <p:nvSpPr>
          <p:cNvPr id="6" name="money_head"/>
          <p:cNvSpPr txBox="1"/>
          <p:nvPr/>
        </p:nvSpPr>
        <p:spPr>
          <a:xfrm>
            <a:off x="5989320" y="1371600"/>
            <a:ext cx="256032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お金で言うと…</a:t>
            </a:r>
            <a:endParaRPr lang="en-US" sz="1500" dirty="0"/>
          </a:p>
        </p:txBody>
      </p:sp>
      <p:sp>
        <p:nvSpPr>
          <p:cNvPr id="7" name="money_body"/>
          <p:cNvSpPr txBox="1"/>
          <p:nvPr/>
        </p:nvSpPr>
        <p:spPr>
          <a:xfrm>
            <a:off x="5989320" y="1783080"/>
            <a:ext cx="2560320" cy="22402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あなたの「お金の当たり前」は、あなたの家で作られたもの。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作られたものだから、書き換えられます。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08A4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57200" y="182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第2部　頭の構造を知る ｜ 6 / 7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ポジティブとは「入れ替えられる」こと</a:t>
            </a:r>
            <a:endParaRPr lang="en-US" sz="2400" dirty="0"/>
          </a:p>
        </p:txBody>
      </p:sp>
      <p:pic>
        <p:nvPicPr>
          <p:cNvPr id="4" name="Image 0" descr="講座スライド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5120640" cy="2880360"/>
          </a:xfrm>
          <a:prstGeom prst="rect">
            <a:avLst/>
          </a:prstGeom>
        </p:spPr>
      </p:pic>
      <p:sp>
        <p:nvSpPr>
          <p:cNvPr id="5" name="money_card"/>
          <p:cNvSpPr/>
          <p:nvPr/>
        </p:nvSpPr>
        <p:spPr>
          <a:xfrm>
            <a:off x="5806440" y="1234440"/>
            <a:ext cx="2880360" cy="2880360"/>
          </a:xfrm>
          <a:prstGeom prst="roundRect">
            <a:avLst>
              <a:gd name="adj" fmla="val 3810"/>
            </a:avLst>
          </a:prstGeom>
          <a:solidFill>
            <a:srgbClr val="F8EBEE"/>
          </a:solidFill>
          <a:ln w="9525">
            <a:solidFill>
              <a:srgbClr val="E9D9B6"/>
            </a:solidFill>
            <a:prstDash val="solid"/>
          </a:ln>
        </p:spPr>
        <p:txBody>
          <a:bodyPr/>
          <a:p/>
        </p:txBody>
      </p:sp>
      <p:sp>
        <p:nvSpPr>
          <p:cNvPr id="6" name="money_head"/>
          <p:cNvSpPr txBox="1"/>
          <p:nvPr/>
        </p:nvSpPr>
        <p:spPr>
          <a:xfrm>
            <a:off x="5989320" y="1371600"/>
            <a:ext cx="256032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お金で言うと…</a:t>
            </a:r>
            <a:endParaRPr lang="en-US" sz="1500" dirty="0"/>
          </a:p>
        </p:txBody>
      </p:sp>
      <p:sp>
        <p:nvSpPr>
          <p:cNvPr id="7" name="money_body"/>
          <p:cNvSpPr txBox="1"/>
          <p:nvPr/>
        </p:nvSpPr>
        <p:spPr>
          <a:xfrm>
            <a:off x="5989320" y="1783080"/>
            <a:ext cx="2560320" cy="22402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「お金は怖い」を無理に「お金が好き」に変えることではありません。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古い情報を、新しい情報に入れ替えられる状態のことです。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08A4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57200" y="182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第2部　頭の構造を知る ｜ 7 / 7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入れ替えるには、感情を順番に感じ切る</a:t>
            </a:r>
            <a:endParaRPr lang="en-US" sz="2400" dirty="0"/>
          </a:p>
        </p:txBody>
      </p:sp>
      <p:pic>
        <p:nvPicPr>
          <p:cNvPr id="4" name="Image 0" descr="講座スライド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5120640" cy="2857957"/>
          </a:xfrm>
          <a:prstGeom prst="rect">
            <a:avLst/>
          </a:prstGeom>
        </p:spPr>
      </p:pic>
      <p:sp>
        <p:nvSpPr>
          <p:cNvPr id="5" name="money_card"/>
          <p:cNvSpPr/>
          <p:nvPr/>
        </p:nvSpPr>
        <p:spPr>
          <a:xfrm>
            <a:off x="5806440" y="1234440"/>
            <a:ext cx="2880360" cy="2857957"/>
          </a:xfrm>
          <a:prstGeom prst="roundRect">
            <a:avLst>
              <a:gd name="adj" fmla="val 3839"/>
            </a:avLst>
          </a:prstGeom>
          <a:solidFill>
            <a:srgbClr val="F8EBEE"/>
          </a:solidFill>
          <a:ln w="9525">
            <a:solidFill>
              <a:srgbClr val="E9D9B6"/>
            </a:solidFill>
            <a:prstDash val="solid"/>
          </a:ln>
        </p:spPr>
        <p:txBody>
          <a:bodyPr/>
          <a:p/>
        </p:txBody>
      </p:sp>
      <p:sp>
        <p:nvSpPr>
          <p:cNvPr id="6" name="money_head"/>
          <p:cNvSpPr txBox="1"/>
          <p:nvPr/>
        </p:nvSpPr>
        <p:spPr>
          <a:xfrm>
            <a:off x="5989320" y="1371600"/>
            <a:ext cx="256032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お金で言うと…</a:t>
            </a:r>
            <a:endParaRPr lang="en-US" sz="1500" dirty="0"/>
          </a:p>
        </p:txBody>
      </p:sp>
      <p:sp>
        <p:nvSpPr>
          <p:cNvPr id="7" name="money_body"/>
          <p:cNvSpPr txBox="1"/>
          <p:nvPr/>
        </p:nvSpPr>
        <p:spPr>
          <a:xfrm>
            <a:off x="5989320" y="1783080"/>
            <a:ext cx="2560320" cy="2217877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怒りや悲しみが出てきても大丈夫。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それは消化が進んでいるサインです。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08A4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ワーク　思い込みを書き換える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278892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思い込みが生まれた場面に戻って、書き換えていきます（35〜75分）</a:t>
            </a:r>
            <a:endParaRPr lang="en-US" sz="1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"/>
          <p:cNvSpPr/>
          <p:nvPr/>
        </p:nvSpPr>
        <p:spPr>
          <a:xfrm>
            <a:off x="228600" y="137160"/>
            <a:ext cx="8686800" cy="4526280"/>
          </a:xfrm>
          <a:prstGeom prst="rect">
            <a:avLst/>
          </a:prstGeom>
          <a:ln w="12700">
            <a:solidFill>
              <a:srgbClr val="B08A4E"/>
            </a:solidFill>
            <a:prstDash val="solid"/>
          </a:ln>
        </p:spPr>
        <p:txBody>
          <a:bodyPr/>
          <a:p/>
        </p:txBody>
      </p:sp>
      <p:sp>
        <p:nvSpPr>
          <p:cNvPr id="3" name="qlabel"/>
          <p:cNvSpPr txBox="1"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ワークの前に</a:t>
            </a:r>
            <a:endParaRPr lang="en-US" sz="1300" dirty="0"/>
          </a:p>
        </p:txBody>
      </p:sp>
      <p:sp>
        <p:nvSpPr>
          <p:cNvPr id="4" name="pre_main"/>
          <p:cNvSpPr txBox="1"/>
          <p:nvPr/>
        </p:nvSpPr>
        <p:spPr>
          <a:xfrm>
            <a:off x="731520" y="1097280"/>
            <a:ext cx="7680960" cy="12801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今回、一番大きいと感じる思い込みに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向き合っていきます</a:t>
            </a:r>
            <a:endParaRPr lang="en-US" sz="2800" dirty="0"/>
          </a:p>
        </p:txBody>
      </p:sp>
      <p:sp>
        <p:nvSpPr>
          <p:cNvPr id="5" name="pre_sub"/>
          <p:cNvSpPr txBox="1"/>
          <p:nvPr/>
        </p:nvSpPr>
        <p:spPr>
          <a:xfrm>
            <a:off x="731520" y="2606040"/>
            <a:ext cx="7680960" cy="1371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chemeClr val="tx1"/>
                </a:solidFill>
              </a:rPr>
              <a:t>ただ、それが整理されると、次の思い込みや感情に気づくこともあります。</a:t>
            </a:r>
            <a:endParaRPr lang="en-US" sz="16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chemeClr val="tx1"/>
                </a:solidFill>
              </a:rPr>
              <a:t>だからこそ、一度で終わりではなく、</a:t>
            </a:r>
            <a:endParaRPr lang="en-US" sz="16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chemeClr val="tx1"/>
                </a:solidFill>
              </a:rPr>
              <a:t>自分自身で繰り返し向き合っていくことが大切です。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08A4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isenai_band"/>
          <p:cNvSpPr/>
          <p:nvPr/>
        </p:nvSpPr>
        <p:spPr>
          <a:xfrm>
            <a:off x="457200" y="182880"/>
            <a:ext cx="8229600" cy="502920"/>
          </a:xfrm>
          <a:prstGeom prst="roundRect">
            <a:avLst>
              <a:gd name="adj" fmla="val 18182"/>
            </a:avLst>
          </a:prstGeom>
          <a:solidFill>
            <a:srgbClr val="8C6A34"/>
          </a:solidFill>
          <a:ln/>
        </p:spPr>
        <p:txBody>
          <a:bodyPr/>
          <a:p/>
        </p:txBody>
      </p:sp>
      <p:sp>
        <p:nvSpPr>
          <p:cNvPr id="3" name="misenai"/>
          <p:cNvSpPr txBox="1"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【共有停止】</a:t>
            </a:r>
            <a:endParaRPr lang="en-US" sz="1800" dirty="0"/>
          </a:p>
        </p:txBody>
      </p:sp>
      <p:sp>
        <p:nvSpPr>
          <p:cNvPr id="4" name="facil_title"/>
          <p:cNvSpPr txBox="1"/>
          <p:nvPr/>
        </p:nvSpPr>
        <p:spPr>
          <a:xfrm>
            <a:off x="457200" y="7772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STEP 1〜2 の進め方</a:t>
            </a:r>
            <a:endParaRPr lang="en-US" sz="2200" dirty="0"/>
          </a:p>
        </p:txBody>
      </p:sp>
      <p:sp>
        <p:nvSpPr>
          <p:cNvPr id="5" name="facil_card"/>
          <p:cNvSpPr/>
          <p:nvPr/>
        </p:nvSpPr>
        <p:spPr>
          <a:xfrm>
            <a:off x="457200" y="1188720"/>
            <a:ext cx="5394960" cy="3383280"/>
          </a:xfrm>
          <a:prstGeom prst="roundRect">
            <a:avLst>
              <a:gd name="adj" fmla="val 3243"/>
            </a:avLst>
          </a:prstGeom>
          <a:solidFill>
            <a:srgbClr val="FFF8E8"/>
          </a:solidFill>
          <a:ln w="9525">
            <a:solidFill>
              <a:srgbClr val="E9D9B6"/>
            </a:solidFill>
            <a:prstDash val="solid"/>
          </a:ln>
        </p:spPr>
        <p:txBody>
          <a:bodyPr/>
          <a:p/>
        </p:txBody>
      </p:sp>
      <p:sp>
        <p:nvSpPr>
          <p:cNvPr id="6" name="facil_list"/>
          <p:cNvSpPr txBox="1"/>
          <p:nvPr/>
        </p:nvSpPr>
        <p:spPr>
          <a:xfrm>
            <a:off x="594360" y="1280160"/>
            <a:ext cx="5120640" cy="3200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chemeClr val="tx1"/>
                </a:solidFill>
              </a:rPr>
              <a:t>穴埋め「お金とは、＿」「お金を受け取る私は、＿」→本人の言葉を打ち込む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chemeClr val="tx1"/>
                </a:solidFill>
              </a:rPr>
              <a:t>「その言葉は、守っている？選択を狭めている？」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chemeClr val="tx1"/>
                </a:solidFill>
              </a:rPr>
              <a:t>すごい質問「何があなたをそう思わせるのですか？」（見える・色・聞こえる・体の感じ）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chemeClr val="tx1"/>
                </a:solidFill>
              </a:rPr>
              <a:t>1階層目を5つ以上 → 表に打ち込み、100点満点で点数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chemeClr val="tx1"/>
                </a:solidFill>
              </a:rPr>
              <a:t>1階層目で一番強いものを軸に、2階層目も同じ質問で（全部で10個くらい）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chemeClr val="tx1"/>
                </a:solidFill>
              </a:rPr>
              <a:t>点数がわからない時はOリング・筋肉反射</a:t>
            </a:r>
            <a:endParaRPr lang="en-US" sz="1200" dirty="0"/>
          </a:p>
        </p:txBody>
      </p:sp>
      <p:pic>
        <p:nvPicPr>
          <p:cNvPr id="7" name="Image 0" descr="ガイドブック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0" y="1188720"/>
            <a:ext cx="2377440" cy="336499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08A4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"/>
          <p:cNvSpPr/>
          <p:nvPr/>
        </p:nvSpPr>
        <p:spPr>
          <a:xfrm>
            <a:off x="228600" y="137160"/>
            <a:ext cx="8686800" cy="4526280"/>
          </a:xfrm>
          <a:prstGeom prst="rect">
            <a:avLst/>
          </a:prstGeom>
          <a:ln w="12700">
            <a:solidFill>
              <a:srgbClr val="B08A4E"/>
            </a:solidFill>
            <a:prstDash val="solid"/>
          </a:ln>
        </p:spPr>
        <p:txBody>
          <a:bodyPr/>
          <a:p/>
        </p:txBody>
      </p:sp>
      <p:sp>
        <p:nvSpPr>
          <p:cNvPr id="3" name="qlabel"/>
          <p:cNvSpPr txBox="1"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STEP 1　お金の思い込みを言葉にする</a:t>
            </a:r>
            <a:endParaRPr lang="en-US" sz="1300" dirty="0"/>
          </a:p>
        </p:txBody>
      </p:sp>
      <p:sp>
        <p:nvSpPr>
          <p:cNvPr id="4" name="fill1"/>
          <p:cNvSpPr txBox="1"/>
          <p:nvPr/>
        </p:nvSpPr>
        <p:spPr>
          <a:xfrm>
            <a:off x="731520" y="1188720"/>
            <a:ext cx="7680960" cy="822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「お金とは、＿＿＿＿＿＿＿＿」</a:t>
            </a:r>
            <a:endParaRPr lang="en-US" sz="3000" dirty="0"/>
          </a:p>
        </p:txBody>
      </p:sp>
      <p:sp>
        <p:nvSpPr>
          <p:cNvPr id="5" name="fill2"/>
          <p:cNvSpPr txBox="1"/>
          <p:nvPr/>
        </p:nvSpPr>
        <p:spPr>
          <a:xfrm>
            <a:off x="731520" y="2103120"/>
            <a:ext cx="7680960" cy="822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「お金を受け取る私は、＿＿＿＿＿＿＿＿」</a:t>
            </a:r>
            <a:endParaRPr lang="en-US" sz="3000" dirty="0"/>
          </a:p>
        </p:txBody>
      </p:sp>
      <p:sp>
        <p:nvSpPr>
          <p:cNvPr id="6" name="fill_hint"/>
          <p:cNvSpPr txBox="1"/>
          <p:nvPr/>
        </p:nvSpPr>
        <p:spPr>
          <a:xfrm>
            <a:off x="731520" y="3200400"/>
            <a:ext cx="768096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accent2"/>
                </a:solidFill>
              </a:rPr>
              <a:t>正解を探さず、浮かんだ言葉をそのまま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08A4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"/>
          <p:cNvSpPr/>
          <p:nvPr/>
        </p:nvSpPr>
        <p:spPr>
          <a:xfrm>
            <a:off x="228600" y="137160"/>
            <a:ext cx="8686800" cy="4526280"/>
          </a:xfrm>
          <a:prstGeom prst="rect">
            <a:avLst/>
          </a:prstGeom>
          <a:ln w="12700">
            <a:solidFill>
              <a:srgbClr val="B08A4E"/>
            </a:solidFill>
            <a:prstDash val="solid"/>
          </a:ln>
        </p:spPr>
        <p:txBody>
          <a:bodyPr/>
          <a:p/>
        </p:txBody>
      </p:sp>
      <p:sp>
        <p:nvSpPr>
          <p:cNvPr id="3" name="qlabel"/>
          <p:cNvSpPr txBox="1"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STEP 1</a:t>
            </a:r>
            <a:endParaRPr lang="en-US" sz="13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914400" y="1554480"/>
            <a:ext cx="7315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その言葉は、今のあなたを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守っていますか？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それとも、選択を狭めていますか？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08A4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"/>
          <p:cNvSpPr/>
          <p:nvPr/>
        </p:nvSpPr>
        <p:spPr>
          <a:xfrm>
            <a:off x="228600" y="137160"/>
            <a:ext cx="8686800" cy="4526280"/>
          </a:xfrm>
          <a:prstGeom prst="rect">
            <a:avLst/>
          </a:prstGeom>
          <a:ln w="12700">
            <a:solidFill>
              <a:srgbClr val="B08A4E"/>
            </a:solidFill>
            <a:prstDash val="solid"/>
          </a:ln>
        </p:spPr>
        <p:txBody>
          <a:bodyPr/>
          <a:p/>
        </p:txBody>
      </p:sp>
      <p:sp>
        <p:nvSpPr>
          <p:cNvPr id="3" name="qlabel"/>
          <p:cNvSpPr txBox="1"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STEP 1　すごい質問</a:t>
            </a:r>
            <a:endParaRPr lang="en-US" sz="13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914400" y="1554480"/>
            <a:ext cx="7315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何があなたを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そう思わせるのですか？</a:t>
            </a:r>
            <a:endParaRPr lang="en-US" sz="32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accent2"/>
                </a:solidFill>
              </a:rPr>
              <a:t>何が見えますか？　どんな色ですか？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chemeClr val="accent2"/>
                </a:solidFill>
              </a:rPr>
              <a:t>何が聞こえますか？　体はどんな感じがしますか？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08A4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STEP 2　思い込みに点数をつける（100点満点）</a:t>
            </a:r>
            <a:endParaRPr lang="en-US" sz="24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530352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3749040"/>
                <a:gridCol w="1005840"/>
              </a:tblGrid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No.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8A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思い込み（気持ちや想い）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8A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点数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8A4E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A4440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B08A4E"/>
                          </a:solidFill>
                        </a:rPr>
                        <a:t>／100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A4440"/>
                          </a:solidFill>
                        </a:rPr>
                        <a:t>2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B08A4E"/>
                          </a:solidFill>
                        </a:rPr>
                        <a:t>／100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A4440"/>
                          </a:solidFill>
                        </a:rPr>
                        <a:t>3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B08A4E"/>
                          </a:solidFill>
                        </a:rPr>
                        <a:t>／100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A4440"/>
                          </a:solidFill>
                        </a:rPr>
                        <a:t>4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B08A4E"/>
                          </a:solidFill>
                        </a:rPr>
                        <a:t>／100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A4440"/>
                          </a:solidFill>
                        </a:rPr>
                        <a:t>5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B08A4E"/>
                          </a:solidFill>
                        </a:rPr>
                        <a:t>／100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A4440"/>
                          </a:solidFill>
                        </a:rPr>
                        <a:t>6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B08A4E"/>
                          </a:solidFill>
                        </a:rPr>
                        <a:t>／100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A4440"/>
                          </a:solidFill>
                        </a:rPr>
                        <a:t>7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B08A4E"/>
                          </a:solidFill>
                        </a:rPr>
                        <a:t>／100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A4440"/>
                          </a:solidFill>
                        </a:rPr>
                        <a:t>8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B08A4E"/>
                          </a:solidFill>
                        </a:rPr>
                        <a:t>／100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A4440"/>
                          </a:solidFill>
                        </a:rPr>
                        <a:t>9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B08A4E"/>
                          </a:solidFill>
                        </a:rPr>
                        <a:t>／100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A4440"/>
                          </a:solidFill>
                        </a:rPr>
                        <a:t>10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B08A4E"/>
                          </a:solidFill>
                        </a:rPr>
                        <a:t>／100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D9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2_note"/>
          <p:cNvSpPr/>
          <p:nvPr/>
        </p:nvSpPr>
        <p:spPr>
          <a:xfrm>
            <a:off x="6035040" y="1188720"/>
            <a:ext cx="2651760" cy="3319272"/>
          </a:xfrm>
          <a:prstGeom prst="roundRect">
            <a:avLst>
              <a:gd name="adj" fmla="val 4138"/>
            </a:avLst>
          </a:prstGeom>
          <a:solidFill>
            <a:srgbClr val="FDFAF4"/>
          </a:solidFill>
          <a:ln w="9525">
            <a:solidFill>
              <a:srgbClr val="E9D9B6"/>
            </a:solidFill>
            <a:prstDash val="solid"/>
          </a:ln>
        </p:spPr>
        <p:txBody>
          <a:bodyPr/>
          <a:p/>
        </p:txBody>
      </p:sp>
      <p:sp>
        <p:nvSpPr>
          <p:cNvPr id="5" name="s2_note_t"/>
          <p:cNvSpPr txBox="1"/>
          <p:nvPr/>
        </p:nvSpPr>
        <p:spPr>
          <a:xfrm>
            <a:off x="6172200" y="1298448"/>
            <a:ext cx="2377440" cy="3108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chemeClr val="accent2"/>
                </a:solidFill>
              </a:rPr>
              <a:t>思いつくまま、いくつでも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点数は、直感で大丈夫です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正解・不正解はありません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08A4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isenai_band"/>
          <p:cNvSpPr/>
          <p:nvPr/>
        </p:nvSpPr>
        <p:spPr>
          <a:xfrm>
            <a:off x="457200" y="182880"/>
            <a:ext cx="8229600" cy="502920"/>
          </a:xfrm>
          <a:prstGeom prst="roundRect">
            <a:avLst>
              <a:gd name="adj" fmla="val 18182"/>
            </a:avLst>
          </a:prstGeom>
          <a:solidFill>
            <a:srgbClr val="8C6A34"/>
          </a:solidFill>
          <a:ln/>
        </p:spPr>
        <p:txBody>
          <a:bodyPr/>
          <a:p/>
        </p:txBody>
      </p:sp>
      <p:sp>
        <p:nvSpPr>
          <p:cNvPr id="3" name="misenai"/>
          <p:cNvSpPr txBox="1"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【共有停止】</a:t>
            </a:r>
            <a:endParaRPr lang="en-US" sz="1800" dirty="0"/>
          </a:p>
        </p:txBody>
      </p:sp>
      <p:sp>
        <p:nvSpPr>
          <p:cNvPr id="4" name="facil_title"/>
          <p:cNvSpPr txBox="1"/>
          <p:nvPr/>
        </p:nvSpPr>
        <p:spPr>
          <a:xfrm>
            <a:off x="457200" y="7772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STEP 3〜4 の進め方</a:t>
            </a:r>
            <a:endParaRPr lang="en-US" sz="2200" dirty="0"/>
          </a:p>
        </p:txBody>
      </p:sp>
      <p:sp>
        <p:nvSpPr>
          <p:cNvPr id="5" name="facil_card"/>
          <p:cNvSpPr/>
          <p:nvPr/>
        </p:nvSpPr>
        <p:spPr>
          <a:xfrm>
            <a:off x="457200" y="1188720"/>
            <a:ext cx="5394960" cy="3383280"/>
          </a:xfrm>
          <a:prstGeom prst="roundRect">
            <a:avLst>
              <a:gd name="adj" fmla="val 3243"/>
            </a:avLst>
          </a:prstGeom>
          <a:solidFill>
            <a:srgbClr val="FFF8E8"/>
          </a:solidFill>
          <a:ln w="9525">
            <a:solidFill>
              <a:srgbClr val="E9D9B6"/>
            </a:solidFill>
            <a:prstDash val="solid"/>
          </a:ln>
        </p:spPr>
        <p:txBody>
          <a:bodyPr/>
          <a:p/>
        </p:txBody>
      </p:sp>
      <p:sp>
        <p:nvSpPr>
          <p:cNvPr id="6" name="facil_list"/>
          <p:cNvSpPr txBox="1"/>
          <p:nvPr/>
        </p:nvSpPr>
        <p:spPr>
          <a:xfrm>
            <a:off x="594360" y="1280160"/>
            <a:ext cx="5120640" cy="3200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chemeClr val="tx1"/>
                </a:solidFill>
              </a:rPr>
              <a:t>上位3つに印 → 一番邪魔している思い込みを1つ（Oリング可）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chemeClr val="tx1"/>
                </a:solidFill>
              </a:rPr>
              <a:t>確認「ゆるんだら、よい影響が出そう？」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chemeClr val="tx1"/>
                </a:solidFill>
              </a:rPr>
              <a:t>思い込みが生まれた場面へ（見える・色・聞こえる・体の感じ）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chemeClr val="tx1"/>
                </a:solidFill>
              </a:rPr>
              <a:t>外から見る「本当はどうして欲しかった？」「本当はどうしたかった？」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chemeClr val="tx1"/>
                </a:solidFill>
              </a:rPr>
              <a:t>理想のあなたを思い浮かべる「どんなあなたですか？」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chemeClr val="tx1"/>
                </a:solidFill>
              </a:rPr>
              <a:t>理想のあなたから「あの時のあなたへ、＿」→「伝えてみて、どんな気持ち？」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chemeClr val="tx1"/>
                </a:solidFill>
              </a:rPr>
              <a:t>「これから選びたいお金の考え」を本人の言葉で（由香が打ち込む）</a:t>
            </a:r>
            <a:endParaRPr lang="en-US" sz="1200" dirty="0"/>
          </a:p>
        </p:txBody>
      </p:sp>
      <p:pic>
        <p:nvPicPr>
          <p:cNvPr id="7" name="Image 0" descr="ガイドブック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0" y="1188720"/>
            <a:ext cx="2377440" cy="336499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08A4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"/>
          <p:cNvSpPr/>
          <p:nvPr/>
        </p:nvSpPr>
        <p:spPr>
          <a:xfrm>
            <a:off x="228600" y="137160"/>
            <a:ext cx="8686800" cy="4526280"/>
          </a:xfrm>
          <a:prstGeom prst="rect">
            <a:avLst/>
          </a:prstGeom>
          <a:ln w="12700">
            <a:solidFill>
              <a:srgbClr val="B08A4E"/>
            </a:solidFill>
            <a:prstDash val="solid"/>
          </a:ln>
        </p:spPr>
        <p:txBody>
          <a:bodyPr/>
          <a:p/>
        </p:txBody>
      </p:sp>
      <p:sp>
        <p:nvSpPr>
          <p:cNvPr id="3" name="qlabel"/>
          <p:cNvSpPr txBox="1"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STEP 3</a:t>
            </a:r>
            <a:endParaRPr lang="en-US" sz="13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914400" y="1554480"/>
            <a:ext cx="7315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一番、邪魔している思い込みは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どれですか？</a:t>
            </a:r>
            <a:endParaRPr lang="en-US" sz="32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accent2"/>
                </a:solidFill>
              </a:rPr>
              <a:t>点数の高い上位3つの中から、1つ選びます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08A4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"/>
          <p:cNvSpPr/>
          <p:nvPr/>
        </p:nvSpPr>
        <p:spPr>
          <a:xfrm>
            <a:off x="228600" y="137160"/>
            <a:ext cx="8686800" cy="4526280"/>
          </a:xfrm>
          <a:prstGeom prst="rect">
            <a:avLst/>
          </a:prstGeom>
          <a:ln w="12700">
            <a:solidFill>
              <a:srgbClr val="B08A4E"/>
            </a:solidFill>
            <a:prstDash val="solid"/>
          </a:ln>
        </p:spPr>
        <p:txBody>
          <a:bodyPr/>
          <a:p/>
        </p:txBody>
      </p:sp>
      <p:sp>
        <p:nvSpPr>
          <p:cNvPr id="3" name="qlabel"/>
          <p:cNvSpPr txBox="1"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STEP 3　確認の質問</a:t>
            </a:r>
            <a:endParaRPr lang="en-US" sz="13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914400" y="1554480"/>
            <a:ext cx="7315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その思いが“ゆるんだら”、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目標達成によい影響が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出そうですか？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08A4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"/>
          <p:cNvSpPr/>
          <p:nvPr/>
        </p:nvSpPr>
        <p:spPr>
          <a:xfrm>
            <a:off x="228600" y="137160"/>
            <a:ext cx="8686800" cy="4526280"/>
          </a:xfrm>
          <a:prstGeom prst="rect">
            <a:avLst/>
          </a:prstGeom>
          <a:ln w="12700">
            <a:solidFill>
              <a:srgbClr val="B08A4E"/>
            </a:solidFill>
            <a:prstDash val="solid"/>
          </a:ln>
        </p:spPr>
        <p:txBody>
          <a:bodyPr/>
          <a:p/>
        </p:txBody>
      </p:sp>
      <p:sp>
        <p:nvSpPr>
          <p:cNvPr id="3" name="qlabel"/>
          <p:cNvSpPr txBox="1"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STEP 4</a:t>
            </a:r>
            <a:endParaRPr lang="en-US" sz="13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914400" y="1554480"/>
            <a:ext cx="7315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その思い込みが生まれた場面に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戻ってみましょう</a:t>
            </a:r>
            <a:endParaRPr lang="en-US" sz="32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accent2"/>
                </a:solidFill>
              </a:rPr>
              <a:t>何が見えますか？　どんな色ですか？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chemeClr val="accent2"/>
                </a:solidFill>
              </a:rPr>
              <a:t>何が聞こえますか？　体はどんな感じがしますか？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chemeClr val="accent2"/>
                </a:solidFill>
              </a:rPr>
              <a:t>苦しくなったら、いったん止めて、息を吐き切りましょう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08A4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"/>
          <p:cNvSpPr/>
          <p:nvPr/>
        </p:nvSpPr>
        <p:spPr>
          <a:xfrm>
            <a:off x="228600" y="137160"/>
            <a:ext cx="8686800" cy="4526280"/>
          </a:xfrm>
          <a:prstGeom prst="rect">
            <a:avLst/>
          </a:prstGeom>
          <a:ln w="12700">
            <a:solidFill>
              <a:srgbClr val="B08A4E"/>
            </a:solidFill>
            <a:prstDash val="solid"/>
          </a:ln>
        </p:spPr>
        <p:txBody>
          <a:bodyPr/>
          <a:p/>
        </p:txBody>
      </p:sp>
      <p:sp>
        <p:nvSpPr>
          <p:cNvPr id="3" name="qlabel"/>
          <p:cNvSpPr txBox="1"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STEP 4　外から見ながら</a:t>
            </a:r>
            <a:endParaRPr lang="en-US" sz="13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914400" y="1554480"/>
            <a:ext cx="7315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本当は、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どうして欲しかったの？</a:t>
            </a:r>
            <a:endParaRPr lang="en-US" sz="32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accent2"/>
                </a:solidFill>
              </a:rPr>
              <a:t>「満たされていない想い」を、言葉にしていきます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08A4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"/>
          <p:cNvSpPr/>
          <p:nvPr/>
        </p:nvSpPr>
        <p:spPr>
          <a:xfrm>
            <a:off x="228600" y="137160"/>
            <a:ext cx="8686800" cy="4526280"/>
          </a:xfrm>
          <a:prstGeom prst="rect">
            <a:avLst/>
          </a:prstGeom>
          <a:ln w="12700">
            <a:solidFill>
              <a:srgbClr val="B08A4E"/>
            </a:solidFill>
            <a:prstDash val="solid"/>
          </a:ln>
        </p:spPr>
        <p:txBody>
          <a:bodyPr/>
          <a:p/>
        </p:txBody>
      </p:sp>
      <p:sp>
        <p:nvSpPr>
          <p:cNvPr id="3" name="qlabel"/>
          <p:cNvSpPr txBox="1"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STEP 4　外から見ながら</a:t>
            </a:r>
            <a:endParaRPr lang="en-US" sz="13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914400" y="1554480"/>
            <a:ext cx="7315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本当は、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どうしたかったの？</a:t>
            </a:r>
            <a:endParaRPr lang="en-US" sz="32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accent2"/>
                </a:solidFill>
              </a:rPr>
              <a:t>相手の中にも入ってみる？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08A4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"/>
          <p:cNvSpPr/>
          <p:nvPr/>
        </p:nvSpPr>
        <p:spPr>
          <a:xfrm>
            <a:off x="228600" y="137160"/>
            <a:ext cx="8686800" cy="4526280"/>
          </a:xfrm>
          <a:prstGeom prst="rect">
            <a:avLst/>
          </a:prstGeom>
          <a:ln w="12700">
            <a:solidFill>
              <a:srgbClr val="B08A4E"/>
            </a:solidFill>
            <a:prstDash val="solid"/>
          </a:ln>
        </p:spPr>
        <p:txBody>
          <a:bodyPr/>
          <a:p/>
        </p:txBody>
      </p:sp>
      <p:sp>
        <p:nvSpPr>
          <p:cNvPr id="3" name="qlabel"/>
          <p:cNvSpPr txBox="1"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STEP 4　理想のあなた</a:t>
            </a:r>
            <a:endParaRPr lang="en-US" sz="13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914400" y="1554480"/>
            <a:ext cx="7315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理想のあなたを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思い浮かべてください</a:t>
            </a:r>
            <a:endParaRPr lang="en-US" sz="32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accent2"/>
                </a:solidFill>
              </a:rPr>
              <a:t>どんなあなたですか？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08A4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"/>
          <p:cNvSpPr/>
          <p:nvPr/>
        </p:nvSpPr>
        <p:spPr>
          <a:xfrm>
            <a:off x="228600" y="137160"/>
            <a:ext cx="8686800" cy="4526280"/>
          </a:xfrm>
          <a:prstGeom prst="rect">
            <a:avLst/>
          </a:prstGeom>
          <a:ln w="12700">
            <a:solidFill>
              <a:srgbClr val="B08A4E"/>
            </a:solidFill>
            <a:prstDash val="solid"/>
          </a:ln>
        </p:spPr>
        <p:txBody>
          <a:bodyPr/>
          <a:p/>
        </p:txBody>
      </p:sp>
      <p:sp>
        <p:nvSpPr>
          <p:cNvPr id="3" name="qlabel"/>
          <p:cNvSpPr txBox="1"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STEP 4　理想のあなたから</a:t>
            </a:r>
            <a:endParaRPr lang="en-US" sz="13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914400" y="1554480"/>
            <a:ext cx="7315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あの時のあなたへ、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＿＿＿＿＿＿＿＿</a:t>
            </a:r>
            <a:endParaRPr lang="en-US" sz="32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accent2"/>
                </a:solidFill>
              </a:rPr>
              <a:t>伝えてみて、どんな気持ちですか？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08A4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これから選びたい、お金の考え</a:t>
            </a:r>
            <a:endParaRPr lang="en-US" sz="2400" dirty="0"/>
          </a:p>
        </p:txBody>
      </p:sp>
      <p:sp>
        <p:nvSpPr>
          <p:cNvPr id="3" name="old_card"/>
          <p:cNvSpPr/>
          <p:nvPr/>
        </p:nvSpPr>
        <p:spPr>
          <a:xfrm>
            <a:off x="457200" y="1280160"/>
            <a:ext cx="3977640" cy="2468880"/>
          </a:xfrm>
          <a:prstGeom prst="roundRect">
            <a:avLst>
              <a:gd name="adj" fmla="val 4444"/>
            </a:avLst>
          </a:prstGeom>
          <a:solidFill>
            <a:srgbClr val="FDFAF4"/>
          </a:solidFill>
          <a:ln w="9525">
            <a:solidFill>
              <a:srgbClr val="E9D9B6"/>
            </a:solidFill>
            <a:prstDash val="solid"/>
          </a:ln>
        </p:spPr>
        <p:txBody>
          <a:bodyPr/>
          <a:p/>
        </p:txBody>
      </p:sp>
      <p:sp>
        <p:nvSpPr>
          <p:cNvPr id="4" name="old_head"/>
          <p:cNvSpPr txBox="1"/>
          <p:nvPr/>
        </p:nvSpPr>
        <p:spPr>
          <a:xfrm>
            <a:off x="640080" y="1417320"/>
            <a:ext cx="365760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今までの考え</a:t>
            </a:r>
            <a:endParaRPr lang="en-US" sz="1600" dirty="0"/>
          </a:p>
        </p:txBody>
      </p:sp>
      <p:sp>
        <p:nvSpPr>
          <p:cNvPr id="5" name="old_body"/>
          <p:cNvSpPr txBox="1"/>
          <p:nvPr/>
        </p:nvSpPr>
        <p:spPr>
          <a:xfrm>
            <a:off x="640080" y="1874520"/>
            <a:ext cx="3657600" cy="17373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6" name="new_card"/>
          <p:cNvSpPr/>
          <p:nvPr/>
        </p:nvSpPr>
        <p:spPr>
          <a:xfrm>
            <a:off x="4709160" y="1280160"/>
            <a:ext cx="3977640" cy="2468880"/>
          </a:xfrm>
          <a:prstGeom prst="roundRect">
            <a:avLst>
              <a:gd name="adj" fmla="val 4444"/>
            </a:avLst>
          </a:prstGeom>
          <a:solidFill>
            <a:srgbClr val="F8EBEE"/>
          </a:solidFill>
          <a:ln w="9525">
            <a:solidFill>
              <a:srgbClr val="E9D9B6"/>
            </a:solidFill>
            <a:prstDash val="solid"/>
          </a:ln>
        </p:spPr>
        <p:txBody>
          <a:bodyPr/>
          <a:p/>
        </p:txBody>
      </p:sp>
      <p:sp>
        <p:nvSpPr>
          <p:cNvPr id="7" name="new_head"/>
          <p:cNvSpPr txBox="1"/>
          <p:nvPr/>
        </p:nvSpPr>
        <p:spPr>
          <a:xfrm>
            <a:off x="4892040" y="1417320"/>
            <a:ext cx="365760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これから選びたい考え</a:t>
            </a:r>
            <a:endParaRPr lang="en-US" sz="1600" dirty="0"/>
          </a:p>
        </p:txBody>
      </p:sp>
      <p:sp>
        <p:nvSpPr>
          <p:cNvPr id="8" name="new_body"/>
          <p:cNvSpPr txBox="1"/>
          <p:nvPr/>
        </p:nvSpPr>
        <p:spPr>
          <a:xfrm>
            <a:off x="4892040" y="1874520"/>
            <a:ext cx="3657600" cy="17373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9" name="new_note"/>
          <p:cNvSpPr txBox="1"/>
          <p:nvPr/>
        </p:nvSpPr>
        <p:spPr>
          <a:xfrm>
            <a:off x="457200" y="3931920"/>
            <a:ext cx="822960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無理にポジティブな言葉にせず、自分が納得できる言葉で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08A4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エネルギーで取り除く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278892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残っているものを、やさしく手放していきます（75〜85分）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はじめる前に、今の気持ちと体の感じを確かめます。終わったら、感じたことを言葉にしてみましょう</a:t>
            </a:r>
            <a:endParaRPr lang="en-US" sz="16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"/>
          <p:cNvSpPr/>
          <p:nvPr/>
        </p:nvSpPr>
        <p:spPr>
          <a:xfrm>
            <a:off x="228600" y="137160"/>
            <a:ext cx="8686800" cy="4526280"/>
          </a:xfrm>
          <a:prstGeom prst="rect">
            <a:avLst/>
          </a:prstGeom>
          <a:ln w="12700">
            <a:solidFill>
              <a:srgbClr val="B08A4E"/>
            </a:solidFill>
            <a:prstDash val="solid"/>
          </a:ln>
        </p:spPr>
        <p:txBody>
          <a:bodyPr/>
          <a:p/>
        </p:txBody>
      </p:sp>
      <p:sp>
        <p:nvSpPr>
          <p:cNvPr id="3" name="qlabel"/>
          <p:cNvSpPr txBox="1"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ふり返り</a:t>
            </a:r>
            <a:endParaRPr lang="en-US" sz="13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914400" y="1554480"/>
            <a:ext cx="7315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最初に「1〜10」で聞いた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今の段階は、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いまどのくらいですか？</a:t>
            </a:r>
            <a:endParaRPr lang="en-US" sz="32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accent2"/>
                </a:solidFill>
              </a:rPr>
              <a:t>はじめ：＿＿　→　いま：＿＿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08A4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"/>
          <p:cNvSpPr/>
          <p:nvPr/>
        </p:nvSpPr>
        <p:spPr>
          <a:xfrm>
            <a:off x="228600" y="137160"/>
            <a:ext cx="8686800" cy="4526280"/>
          </a:xfrm>
          <a:prstGeom prst="rect">
            <a:avLst/>
          </a:prstGeom>
          <a:ln w="12700">
            <a:solidFill>
              <a:srgbClr val="B08A4E"/>
            </a:solidFill>
            <a:prstDash val="solid"/>
          </a:ln>
        </p:spPr>
        <p:txBody>
          <a:bodyPr/>
          <a:p/>
        </p:txBody>
      </p:sp>
      <p:sp>
        <p:nvSpPr>
          <p:cNvPr id="3" name="qlabel"/>
          <p:cNvSpPr txBox="1"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ふり返り</a:t>
            </a:r>
            <a:endParaRPr lang="en-US" sz="13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914400" y="1554480"/>
            <a:ext cx="7315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今日、いちばん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変わったと感じることは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何ですか？</a:t>
            </a:r>
            <a:endParaRPr lang="en-US" sz="32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accent2"/>
                </a:solidFill>
              </a:rPr>
              <a:t>それが、今日持ち帰るものです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08A4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"/>
          <p:cNvSpPr/>
          <p:nvPr/>
        </p:nvSpPr>
        <p:spPr>
          <a:xfrm>
            <a:off x="228600" y="137160"/>
            <a:ext cx="8686800" cy="4526280"/>
          </a:xfrm>
          <a:prstGeom prst="rect">
            <a:avLst/>
          </a:prstGeom>
          <a:ln w="12700">
            <a:solidFill>
              <a:srgbClr val="B08A4E"/>
            </a:solidFill>
            <a:prstDash val="solid"/>
          </a:ln>
        </p:spPr>
        <p:txBody>
          <a:bodyPr/>
          <a:p/>
        </p:txBody>
      </p:sp>
      <p:sp>
        <p:nvSpPr>
          <p:cNvPr id="3" name="qlabel"/>
          <p:cNvSpPr txBox="1"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これから</a:t>
            </a:r>
            <a:endParaRPr lang="en-US" sz="13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914400" y="1554480"/>
            <a:ext cx="7315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次に同じ感情が出てきたら、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自分にどんな言葉を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かけてあげたいですか？</a:t>
            </a:r>
            <a:endParaRPr lang="en-US" sz="32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accent2"/>
                </a:solidFill>
              </a:rPr>
              <a:t>気づいたら、責めずに見つめる。そして、今の自分で選び直す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08A4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gic_main"/>
          <p:cNvSpPr txBox="1"/>
          <p:nvPr/>
        </p:nvSpPr>
        <p:spPr>
          <a:xfrm>
            <a:off x="548640" y="1005840"/>
            <a:ext cx="8046720" cy="21031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根深いものは、</a:t>
            </a:r>
            <a:endParaRPr lang="en-US" sz="3400" dirty="0"/>
          </a:p>
          <a:p>
            <a:pPr algn="ctr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何度も何度も</a:t>
            </a:r>
            <a:endParaRPr lang="en-US" sz="3400" dirty="0"/>
          </a:p>
          <a:p>
            <a:pPr algn="ctr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自分に魔法をかけて、とっていく</a:t>
            </a:r>
            <a:endParaRPr lang="en-US" sz="3400" dirty="0"/>
          </a:p>
        </p:txBody>
      </p:sp>
      <p:sp>
        <p:nvSpPr>
          <p:cNvPr id="3" name="magic_sub"/>
          <p:cNvSpPr txBox="1"/>
          <p:nvPr/>
        </p:nvSpPr>
        <p:spPr>
          <a:xfrm>
            <a:off x="731520" y="3246120"/>
            <a:ext cx="768096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あなたが自分にかける言葉が、魔法になります</a:t>
            </a:r>
            <a:endParaRPr lang="en-US" sz="18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絶対的安心感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0003"/>
            <a:ext cx="9144000" cy="5103495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海音ロ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9080" y="411480"/>
            <a:ext cx="1005840" cy="973836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1417320"/>
            <a:ext cx="7680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chemeClr val="tx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ありがとうございました</a:t>
            </a:r>
            <a:endParaRPr lang="en-US" sz="38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269748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1週間後に、LINEでその後のご様子をお伺いします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海音（かのん）〜心体の調律〜　髙橋 由香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anon">
  <a:themeElements>
    <a:clrScheme name="Kanon">
      <a:dk1>
        <a:srgbClr val="4A4440"/>
      </a:dk1>
      <a:lt1>
        <a:srgbClr val="FFFFFF"/>
      </a:lt1>
      <a:dk2>
        <a:srgbClr val="5C4A2E"/>
      </a:dk2>
      <a:lt2>
        <a:srgbClr val="FDFAF4"/>
      </a:lt2>
      <a:accent1>
        <a:srgbClr val="B08A4E"/>
      </a:accent1>
      <a:accent2>
        <a:srgbClr val="8C6A34"/>
      </a:accent2>
      <a:accent3>
        <a:srgbClr val="E9D9B6"/>
      </a:accent3>
      <a:accent4>
        <a:srgbClr val="EFE8F6"/>
      </a:accent4>
      <a:accent5>
        <a:srgbClr val="E6F3EF"/>
      </a:accent5>
      <a:accent6>
        <a:srgbClr val="F8EBEE"/>
      </a:accent6>
      <a:hlink>
        <a:srgbClr val="8C6A34"/>
      </a:hlink>
      <a:folHlink>
        <a:srgbClr val="7A716A"/>
      </a:folHlink>
    </a:clrScheme>
    <a:fontScheme name="Kanon">
      <a:majorFont>
        <a:latin typeface="Yu Minch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Yu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48</Slides>
  <Notes>48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お金のブロックを外す 単発セッション</dc:title>
  <dc:subject>PptxGenJS Presentation</dc:subject>
  <dc:creator>海音（かのん）〜心体の調律〜 髙橋由香</dc:creator>
  <cp:lastModifiedBy>海音（かのん）〜心体の調律〜 髙橋由香</cp:lastModifiedBy>
  <cp:revision>1</cp:revision>
  <dcterms:created xsi:type="dcterms:W3CDTF">2026-10-27T15:49:00Z</dcterms:created>
  <dcterms:modified xsi:type="dcterms:W3CDTF">2026-10-27T15:49:00Z</dcterms:modified>
</cp:coreProperties>
</file>
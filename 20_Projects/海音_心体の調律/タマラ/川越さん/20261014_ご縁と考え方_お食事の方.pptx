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2350"/>
                </a:solidFill>
                <a:latin typeface="Meiryo UI"/>
              </a:rPr>
              <a:t>お食事に行く方とのご縁と、これからの考え方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 UI"/>
              </a:rPr>
              <a:t>由香さんの見立て（感覚でとらえたもので、確かなものではありません）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5120640" cy="489204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B2350"/>
                </a:solidFill>
                <a:latin typeface="Meiryo UI"/>
              </a:rPr>
              <a:t>前世の構図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74519" y="2240280"/>
            <a:ext cx="2286000" cy="77724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川越さん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（領主・位の高い人）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600200" y="3035808"/>
            <a:ext cx="86868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566160" y="3035808"/>
            <a:ext cx="86868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566160"/>
            <a:ext cx="2240280" cy="777240"/>
          </a:xfrm>
          <a:prstGeom prst="roundRect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Meiryo UI"/>
              </a:rPr>
              <a:t>お食事に行く方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22402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第一夫人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（政略結婚）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甘えられず、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一緒に出かけたいと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言えなかった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566160"/>
            <a:ext cx="2240280" cy="77724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Meiryo UI"/>
              </a:rPr>
              <a:t>一戸さん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389120"/>
            <a:ext cx="22402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第二夫人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川越さんが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本当に好きだった人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（由香さんは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こちらに仕えていた）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64592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B2350"/>
                </a:solidFill>
                <a:latin typeface="Meiryo UI"/>
              </a:rPr>
              <a:t>ここからの考え方</a:t>
            </a:r>
          </a:p>
        </p:txBody>
      </p:sp>
      <p:sp>
        <p:nvSpPr>
          <p:cNvPr id="14" name="Oval 13"/>
          <p:cNvSpPr/>
          <p:nvPr/>
        </p:nvSpPr>
        <p:spPr>
          <a:xfrm>
            <a:off x="5897880" y="2103120"/>
            <a:ext cx="384048" cy="384048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29968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2A2A"/>
                </a:solidFill>
                <a:latin typeface="Meiryo UI"/>
              </a:rPr>
              <a:t>罪滅ぼしは、もう終わっています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5303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今世で一緒に出かけ、食事やお話を楽しんだことで、前世の思い残しは解消。彼女が結婚に踏み切れたのは「満足できた」から</a:t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2843784"/>
            <a:ext cx="384048" cy="384048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70632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2A2A"/>
                </a:solidFill>
                <a:latin typeface="Meiryo UI"/>
              </a:rPr>
              <a:t>これは「昔の彼女」の話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18104"/>
            <a:ext cx="5303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今の彼女の気持ちとは別。ここからは今世の情や愛情＝川越さんがどうしたいか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584448"/>
            <a:ext cx="384048" cy="384048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11296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2A2A"/>
                </a:solidFill>
                <a:latin typeface="Meiryo UI"/>
              </a:rPr>
              <a:t>手放してあげるのが、これからの課題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58768"/>
            <a:ext cx="5303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離れていくのを待つのではなく、「もう君も自由になりなさい」と川越さんから言ってあげられるか</a:t>
            </a:r>
          </a:p>
        </p:txBody>
      </p:sp>
      <p:sp>
        <p:nvSpPr>
          <p:cNvPr id="23" name="Oval 22"/>
          <p:cNvSpPr/>
          <p:nvPr/>
        </p:nvSpPr>
        <p:spPr>
          <a:xfrm>
            <a:off x="5897880" y="4325112"/>
            <a:ext cx="384048" cy="384048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519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2A2A"/>
                </a:solidFill>
                <a:latin typeface="Meiryo UI"/>
              </a:rPr>
              <a:t>現実のことも大切に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99432"/>
            <a:ext cx="5303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これ以上近づくと、彼女が今のご主人に罪悪感を抱えることに。法律や今の暮らしの中で考える必要があります</a:t>
            </a:r>
          </a:p>
        </p:txBody>
      </p:sp>
      <p:sp>
        <p:nvSpPr>
          <p:cNvPr id="26" name="Oval 25"/>
          <p:cNvSpPr/>
          <p:nvPr/>
        </p:nvSpPr>
        <p:spPr>
          <a:xfrm>
            <a:off x="5897880" y="5065776"/>
            <a:ext cx="384048" cy="384048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992624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2A2A"/>
                </a:solidFill>
                <a:latin typeface="Meiryo UI"/>
              </a:rPr>
              <a:t>守りは続けて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340096"/>
            <a:ext cx="53035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お相手のご主人の無意識のやきもちで、エネルギーを持っていかれることも。寝る前のプロテクト（守り）を続けて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97880" y="5989320"/>
            <a:ext cx="5806440" cy="50292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>
                <a:solidFill>
                  <a:srgbClr val="2B2350"/>
                </a:solidFill>
                <a:latin typeface="Meiryo UI"/>
              </a:rPr>
              <a:t>ご縁を来世へつなぐか、今世で一段落にするかは、川越さんが決めること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
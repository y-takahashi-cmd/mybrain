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0" d="100"/>
          <a:sy n="60" d="100"/>
        </p:scale>
        <p:origin x="78" y="105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B2350"/>
                </a:solidFill>
                <a:latin typeface="Meiryo UI"/>
              </a:rPr>
              <a:t>お食事に行く方とのご縁と、これからの道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33855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lang="ja-JP" altLang="en-US" sz="1600">
                <a:solidFill>
                  <a:srgbClr val="666666"/>
                </a:solidFill>
                <a:latin typeface="Meiryo UI"/>
              </a:rPr>
              <a:t>髙橋の</a:t>
            </a:r>
            <a:r>
              <a:rPr lang="ja-JP" altLang="en-US" sz="1600" dirty="0">
                <a:solidFill>
                  <a:srgbClr val="666666"/>
                </a:solidFill>
                <a:latin typeface="Meiryo UI"/>
              </a:rPr>
              <a:t>見立て</a:t>
            </a:r>
            <a:r>
              <a:rPr sz="1600" b="0" dirty="0">
                <a:solidFill>
                  <a:srgbClr val="666666"/>
                </a:solidFill>
                <a:latin typeface="Meiryo UI"/>
              </a:rPr>
              <a:t>（</a:t>
            </a:r>
            <a:r>
              <a:rPr sz="1600" b="0" dirty="0" err="1">
                <a:solidFill>
                  <a:srgbClr val="666666"/>
                </a:solidFill>
                <a:latin typeface="Meiryo UI"/>
              </a:rPr>
              <a:t>感覚でとらえたもので</a:t>
            </a:r>
            <a:r>
              <a:rPr sz="1600" b="0" dirty="0">
                <a:solidFill>
                  <a:srgbClr val="666666"/>
                </a:solidFill>
                <a:latin typeface="Meiryo UI"/>
              </a:rPr>
              <a:t>、</a:t>
            </a:r>
            <a:r>
              <a:rPr lang="ja-JP" altLang="en-US" sz="1600" b="0" dirty="0">
                <a:solidFill>
                  <a:srgbClr val="666666"/>
                </a:solidFill>
                <a:latin typeface="Meiryo UI"/>
              </a:rPr>
              <a:t>川越</a:t>
            </a:r>
            <a:r>
              <a:rPr lang="ja-JP" altLang="en-US" sz="1600" b="0">
                <a:solidFill>
                  <a:srgbClr val="666666"/>
                </a:solidFill>
                <a:latin typeface="Meiryo UI"/>
              </a:rPr>
              <a:t>さんの参考になさってください</a:t>
            </a:r>
            <a:r>
              <a:rPr sz="1600" b="0">
                <a:solidFill>
                  <a:srgbClr val="666666"/>
                </a:solidFill>
                <a:latin typeface="Meiryo UI"/>
              </a:rPr>
              <a:t>）</a:t>
            </a:r>
            <a:endParaRPr sz="1600" b="0" dirty="0">
              <a:solidFill>
                <a:srgbClr val="666666"/>
              </a:solidFill>
              <a:latin typeface="Meiryo UI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457200" y="1417320"/>
            <a:ext cx="4480560" cy="4343400"/>
          </a:xfrm>
          <a:prstGeom prst="roundRect">
            <a:avLst/>
          </a:prstGeom>
          <a:solidFill>
            <a:srgbClr val="F4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41148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2B2350"/>
                </a:solidFill>
                <a:latin typeface="Meiryo UI"/>
              </a:rPr>
              <a:t>前世の構図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54480" y="2011680"/>
            <a:ext cx="2286000" cy="731520"/>
          </a:xfrm>
          <a:prstGeom prst="roundRect">
            <a:avLst/>
          </a:prstGeom>
          <a:solidFill>
            <a:srgbClr val="2B23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eiryo UI"/>
              </a:rPr>
              <a:t>川越さん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Meiryo UI"/>
              </a:rPr>
              <a:t>（領主・位の高い人）</a:t>
            </a:r>
          </a:p>
        </p:txBody>
      </p:sp>
      <p:cxnSp>
        <p:nvCxnSpPr>
          <p:cNvPr id="7" name="Connector 6"/>
          <p:cNvCxnSpPr/>
          <p:nvPr/>
        </p:nvCxnSpPr>
        <p:spPr>
          <a:xfrm flipH="1">
            <a:off x="1600200" y="2761488"/>
            <a:ext cx="502920" cy="484632"/>
          </a:xfrm>
          <a:prstGeom prst="line">
            <a:avLst/>
          </a:prstGeom>
          <a:ln w="38100">
            <a:solidFill>
              <a:srgbClr val="C9973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291840" y="2761488"/>
            <a:ext cx="502920" cy="484632"/>
          </a:xfrm>
          <a:prstGeom prst="line">
            <a:avLst/>
          </a:prstGeom>
          <a:ln w="38100">
            <a:solidFill>
              <a:srgbClr val="C9973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640080" y="3291840"/>
            <a:ext cx="1965960" cy="685800"/>
          </a:xfrm>
          <a:prstGeom prst="roundRect">
            <a:avLst/>
          </a:prstGeom>
          <a:solidFill>
            <a:srgbClr val="EE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Meiryo UI"/>
              </a:rPr>
              <a:t>お食事に行く方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069080"/>
            <a:ext cx="1965960" cy="1323439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dirty="0" err="1">
                <a:solidFill>
                  <a:srgbClr val="2A2A2A"/>
                </a:solidFill>
                <a:latin typeface="Meiryo UI"/>
              </a:rPr>
              <a:t>第一夫人</a:t>
            </a:r>
            <a:endParaRPr sz="1300" b="0" dirty="0">
              <a:solidFill>
                <a:srgbClr val="2A2A2A"/>
              </a:solidFill>
              <a:latin typeface="Meiryo UI"/>
            </a:endParaRPr>
          </a:p>
          <a:p>
            <a:pPr algn="ctr">
              <a:spcAft>
                <a:spcPts val="600"/>
              </a:spcAft>
            </a:pPr>
            <a:r>
              <a:rPr sz="1300" b="0" dirty="0">
                <a:solidFill>
                  <a:srgbClr val="2A2A2A"/>
                </a:solidFill>
                <a:latin typeface="Meiryo UI"/>
              </a:rPr>
              <a:t>（</a:t>
            </a:r>
            <a:r>
              <a:rPr sz="1300" b="0" dirty="0" err="1">
                <a:solidFill>
                  <a:srgbClr val="2A2A2A"/>
                </a:solidFill>
                <a:latin typeface="Meiryo UI"/>
              </a:rPr>
              <a:t>政略結婚</a:t>
            </a:r>
            <a:r>
              <a:rPr sz="1300" b="0" dirty="0">
                <a:solidFill>
                  <a:srgbClr val="2A2A2A"/>
                </a:solidFill>
                <a:latin typeface="Meiryo UI"/>
              </a:rPr>
              <a:t>）</a:t>
            </a:r>
          </a:p>
          <a:p>
            <a:pPr algn="ctr">
              <a:spcAft>
                <a:spcPts val="600"/>
              </a:spcAft>
            </a:pPr>
            <a:r>
              <a:rPr sz="1300" b="0" dirty="0" err="1">
                <a:solidFill>
                  <a:srgbClr val="2A2A2A"/>
                </a:solidFill>
                <a:latin typeface="Meiryo UI"/>
              </a:rPr>
              <a:t>甘えられず</a:t>
            </a:r>
            <a:r>
              <a:rPr sz="1300" b="0" dirty="0">
                <a:solidFill>
                  <a:srgbClr val="2A2A2A"/>
                </a:solidFill>
                <a:latin typeface="Meiryo UI"/>
              </a:rPr>
              <a:t>、</a:t>
            </a:r>
          </a:p>
          <a:p>
            <a:pPr algn="ctr">
              <a:spcAft>
                <a:spcPts val="600"/>
              </a:spcAft>
            </a:pPr>
            <a:r>
              <a:rPr lang="ja-JP" altLang="en-US" sz="1300" dirty="0">
                <a:solidFill>
                  <a:srgbClr val="2A2A2A"/>
                </a:solidFill>
                <a:latin typeface="Meiryo UI"/>
              </a:rPr>
              <a:t>一緒に楽しみたい</a:t>
            </a:r>
            <a:br>
              <a:rPr lang="en-US" altLang="ja-JP" sz="1300">
                <a:solidFill>
                  <a:srgbClr val="2A2A2A"/>
                </a:solidFill>
                <a:latin typeface="Meiryo UI"/>
              </a:rPr>
            </a:br>
            <a:r>
              <a:rPr lang="ja-JP" altLang="en-US" sz="1300">
                <a:solidFill>
                  <a:srgbClr val="2A2A2A"/>
                </a:solidFill>
                <a:latin typeface="Meiryo UI"/>
              </a:rPr>
              <a:t>と言えなかった</a:t>
            </a:r>
            <a:endParaRPr sz="1300" b="0" dirty="0">
              <a:solidFill>
                <a:srgbClr val="2A2A2A"/>
              </a:solidFill>
              <a:latin typeface="Meiryo UI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2788920" y="3291840"/>
            <a:ext cx="1965960" cy="685800"/>
          </a:xfrm>
          <a:prstGeom prst="roundRect">
            <a:avLst/>
          </a:prstGeom>
          <a:solidFill>
            <a:srgbClr val="D94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Meiryo UI"/>
              </a:rPr>
              <a:t>一戸さん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4069080"/>
            <a:ext cx="1965960" cy="1400383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dirty="0" err="1">
                <a:solidFill>
                  <a:srgbClr val="2A2A2A"/>
                </a:solidFill>
                <a:latin typeface="Meiryo UI"/>
              </a:rPr>
              <a:t>第二夫人</a:t>
            </a:r>
            <a:endParaRPr sz="1300" b="0" dirty="0">
              <a:solidFill>
                <a:srgbClr val="2A2A2A"/>
              </a:solidFill>
              <a:latin typeface="Meiryo UI"/>
            </a:endParaRPr>
          </a:p>
          <a:p>
            <a:pPr algn="ctr">
              <a:spcAft>
                <a:spcPts val="600"/>
              </a:spcAft>
            </a:pPr>
            <a:r>
              <a:rPr sz="1300" b="0" dirty="0" err="1">
                <a:solidFill>
                  <a:srgbClr val="2A2A2A"/>
                </a:solidFill>
                <a:latin typeface="Meiryo UI"/>
              </a:rPr>
              <a:t>川越さんが</a:t>
            </a:r>
            <a:endParaRPr sz="1300" b="0" dirty="0">
              <a:solidFill>
                <a:srgbClr val="2A2A2A"/>
              </a:solidFill>
              <a:latin typeface="Meiryo UI"/>
            </a:endParaRPr>
          </a:p>
          <a:p>
            <a:pPr algn="ctr">
              <a:spcAft>
                <a:spcPts val="600"/>
              </a:spcAft>
            </a:pPr>
            <a:r>
              <a:rPr sz="1300" b="0" dirty="0" err="1">
                <a:solidFill>
                  <a:srgbClr val="2A2A2A"/>
                </a:solidFill>
                <a:latin typeface="Meiryo UI"/>
              </a:rPr>
              <a:t>本当に好きだった人</a:t>
            </a:r>
            <a:endParaRPr sz="1300" b="0" dirty="0">
              <a:solidFill>
                <a:srgbClr val="2A2A2A"/>
              </a:solidFill>
              <a:latin typeface="Meiryo UI"/>
            </a:endParaRP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2A2A2A"/>
                </a:solidFill>
                <a:latin typeface="Meiryo UI"/>
              </a:rPr>
              <a:t>（</a:t>
            </a:r>
            <a:r>
              <a:rPr lang="ja-JP" altLang="en-US" sz="1300">
                <a:solidFill>
                  <a:srgbClr val="2A2A2A"/>
                </a:solidFill>
                <a:latin typeface="Meiryo UI"/>
              </a:rPr>
              <a:t>髙橋</a:t>
            </a:r>
            <a:r>
              <a:rPr sz="1300" b="0">
                <a:solidFill>
                  <a:srgbClr val="2A2A2A"/>
                </a:solidFill>
                <a:latin typeface="Meiryo UI"/>
              </a:rPr>
              <a:t>は</a:t>
            </a:r>
            <a:endParaRPr sz="1300" b="0" dirty="0">
              <a:solidFill>
                <a:srgbClr val="2A2A2A"/>
              </a:solidFill>
              <a:latin typeface="Meiryo UI"/>
            </a:endParaRPr>
          </a:p>
          <a:p>
            <a:pPr algn="ctr">
              <a:spcAft>
                <a:spcPts val="600"/>
              </a:spcAft>
            </a:pPr>
            <a:r>
              <a:rPr sz="1300" b="0" dirty="0" err="1">
                <a:solidFill>
                  <a:srgbClr val="2A2A2A"/>
                </a:solidFill>
                <a:latin typeface="Meiryo UI"/>
              </a:rPr>
              <a:t>こちらに仕えていた</a:t>
            </a:r>
            <a:r>
              <a:rPr lang="ja-JP" altLang="en-US" sz="1300" b="0" dirty="0">
                <a:solidFill>
                  <a:srgbClr val="2A2A2A"/>
                </a:solidFill>
                <a:latin typeface="Meiryo UI"/>
              </a:rPr>
              <a:t>可能性</a:t>
            </a:r>
            <a:r>
              <a:rPr sz="1300" b="0" dirty="0">
                <a:solidFill>
                  <a:srgbClr val="2A2A2A"/>
                </a:solidFill>
                <a:latin typeface="Meiryo UI"/>
              </a:rPr>
              <a:t>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1417320"/>
            <a:ext cx="6519672" cy="685800"/>
          </a:xfrm>
          <a:prstGeom prst="roundRect">
            <a:avLst/>
          </a:prstGeom>
          <a:solidFill>
            <a:srgbClr val="FB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/>
            <a:r>
              <a:rPr sz="1300" b="1" dirty="0" err="1">
                <a:solidFill>
                  <a:srgbClr val="2B2350"/>
                </a:solidFill>
                <a:latin typeface="Meiryo UI"/>
              </a:rPr>
              <a:t>前世の罪滅ぼしは、もう終わっています</a:t>
            </a:r>
            <a:endParaRPr sz="1300" b="1" dirty="0">
              <a:solidFill>
                <a:srgbClr val="2B2350"/>
              </a:solidFill>
              <a:latin typeface="Meiryo UI"/>
            </a:endParaRPr>
          </a:p>
          <a:p>
            <a:pPr algn="ctr"/>
            <a:r>
              <a:rPr sz="1300" b="1" dirty="0" err="1">
                <a:solidFill>
                  <a:srgbClr val="2B2350"/>
                </a:solidFill>
                <a:latin typeface="Meiryo UI"/>
              </a:rPr>
              <a:t>一緒に出かけ、</a:t>
            </a:r>
            <a:r>
              <a:rPr sz="1300" b="1" err="1">
                <a:solidFill>
                  <a:srgbClr val="2B2350"/>
                </a:solidFill>
                <a:latin typeface="Meiryo UI"/>
              </a:rPr>
              <a:t>食事を楽しめたことで解消</a:t>
            </a:r>
            <a:r>
              <a:rPr sz="1300" b="1">
                <a:solidFill>
                  <a:srgbClr val="2B2350"/>
                </a:solidFill>
                <a:latin typeface="Meiryo UI"/>
              </a:rPr>
              <a:t>。</a:t>
            </a:r>
            <a:r>
              <a:rPr lang="ja-JP" altLang="en-US" sz="1300" b="1">
                <a:solidFill>
                  <a:srgbClr val="2B2350"/>
                </a:solidFill>
                <a:latin typeface="Meiryo UI"/>
              </a:rPr>
              <a:t>彼女の結婚は、カルマが</a:t>
            </a:r>
            <a:r>
              <a:rPr sz="1300" b="1">
                <a:solidFill>
                  <a:srgbClr val="2B2350"/>
                </a:solidFill>
                <a:latin typeface="Meiryo UI"/>
              </a:rPr>
              <a:t>「</a:t>
            </a:r>
            <a:r>
              <a:rPr sz="1300" b="1" dirty="0" err="1">
                <a:solidFill>
                  <a:srgbClr val="2B2350"/>
                </a:solidFill>
                <a:latin typeface="Meiryo UI"/>
              </a:rPr>
              <a:t>満足できた」しるし</a:t>
            </a:r>
            <a:endParaRPr sz="1300" b="1" dirty="0">
              <a:solidFill>
                <a:srgbClr val="2B2350"/>
              </a:solidFill>
              <a:latin typeface="Meiryo U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212080" y="2194560"/>
            <a:ext cx="64922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2B2350"/>
                </a:solidFill>
                <a:latin typeface="Meiryo UI"/>
              </a:rPr>
              <a:t>ここからの道は2つ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12080" y="2651760"/>
            <a:ext cx="3154680" cy="3108960"/>
          </a:xfrm>
          <a:prstGeom prst="roundRect">
            <a:avLst/>
          </a:prstGeom>
          <a:solidFill>
            <a:srgbClr val="FB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5394960" y="2788920"/>
            <a:ext cx="2788920" cy="594360"/>
          </a:xfrm>
          <a:prstGeom prst="roundRect">
            <a:avLst/>
          </a:prstGeom>
          <a:solidFill>
            <a:srgbClr val="D94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Meiryo UI"/>
              </a:rPr>
              <a:t>今、関係を深める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94960" y="3474720"/>
            <a:ext cx="2788920" cy="9601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2A2A2A"/>
                </a:solidFill>
                <a:latin typeface="Meiryo UI"/>
              </a:rPr>
              <a:t>彼女の周りの人も、
川越さんの周りの人も
傷つけることになりかねない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784848" y="4498848"/>
            <a:ext cx="0" cy="274320"/>
          </a:xfrm>
          <a:prstGeom prst="line">
            <a:avLst/>
          </a:prstGeom>
          <a:ln w="38100">
            <a:solidFill>
              <a:srgbClr val="D9443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394960" y="4846320"/>
            <a:ext cx="2788920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D9443B"/>
                </a:solidFill>
                <a:latin typeface="Meiryo UI"/>
              </a:rPr>
              <a:t>新しい因縁（闇）を生み、
来世へ持ち越す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77072" y="2651760"/>
            <a:ext cx="3154680" cy="3108960"/>
          </a:xfrm>
          <a:prstGeom prst="roundRect">
            <a:avLst/>
          </a:prstGeom>
          <a:solidFill>
            <a:srgbClr val="FB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8759952" y="2788920"/>
            <a:ext cx="2788920" cy="594360"/>
          </a:xfrm>
          <a:prstGeom prst="roundRect">
            <a:avLst/>
          </a:prstGeom>
          <a:solidFill>
            <a:srgbClr val="C997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/>
            <a:r>
              <a:rPr sz="1600" b="1" dirty="0" err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今の関係を大切にする</a:t>
            </a:r>
            <a:endParaRPr lang="en-US" sz="1600" b="1" dirty="0">
              <a:solidFill>
                <a:srgbClr val="FFFFFF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algn="ctr"/>
            <a:r>
              <a:rPr lang="ja-JP" altLang="en-US" sz="1600" b="1">
                <a:solidFill>
                  <a:srgbClr val="FFFF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または手放す</a:t>
            </a:r>
            <a:endParaRPr sz="1600" b="1" dirty="0">
              <a:solidFill>
                <a:srgbClr val="FFFFFF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8759952" y="3474720"/>
            <a:ext cx="2788920" cy="9601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2A2A2A"/>
                </a:solidFill>
                <a:latin typeface="Meiryo UI"/>
              </a:rPr>
              <a:t>彼女の今の暮らしと
幸せを見守る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0149840" y="4498848"/>
            <a:ext cx="0" cy="274320"/>
          </a:xfrm>
          <a:prstGeom prst="line">
            <a:avLst/>
          </a:prstGeom>
          <a:ln w="38100">
            <a:solidFill>
              <a:srgbClr val="C9973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8759952" y="4846320"/>
            <a:ext cx="2788920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C9973A"/>
                </a:solidFill>
                <a:latin typeface="Meiryo UI"/>
              </a:rPr>
              <a:t>来世で、良いご縁として
一緒になる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5943600"/>
            <a:ext cx="11274552" cy="731520"/>
          </a:xfrm>
          <a:prstGeom prst="roundRect">
            <a:avLst/>
          </a:prstGeom>
          <a:solidFill>
            <a:srgbClr val="2B23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Meiryo UI"/>
              </a:rPr>
              <a:t>来世で良いご縁となるのか、因縁になるのかは、ここからの川越さんの行動しだいです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250</TotalTime>
  <Words>104</Words>
  <Application>Microsoft Office PowerPoint</Application>
  <PresentationFormat>ワイド画面</PresentationFormat>
  <Paragraphs>27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5" baseType="lpstr">
      <vt:lpstr>Meiryo UI</vt:lpstr>
      <vt:lpstr>Arial</vt:lpstr>
      <vt:lpstr>Calibri</vt:lpstr>
      <vt:lpstr>Office Theme</vt:lpstr>
      <vt:lpstr>PowerPoint プレゼンテーション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y-takahashi</dc:creator>
  <cp:keywords/>
  <dc:description>generated using python-pptx</dc:description>
  <cp:lastModifiedBy>KANON_Takahashi Yuka</cp:lastModifiedBy>
  <cp:revision>6</cp:revision>
  <dcterms:created xsi:type="dcterms:W3CDTF">2013-01-27T09:14:16Z</dcterms:created>
  <dcterms:modified xsi:type="dcterms:W3CDTF">2026-10-14T09:31:15Z</dcterms:modified>
  <cp:category/>
</cp:coreProperties>
</file>
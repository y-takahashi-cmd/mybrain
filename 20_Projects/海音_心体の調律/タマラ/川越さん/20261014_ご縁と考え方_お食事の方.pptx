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3200" b="1">
                <a:solidFill>
                  <a:srgbClr val="2B2350"/>
                </a:solidFill>
                <a:latin typeface="Meiryo UI"/>
              </a:rPr>
              <a:t>お食事に行く方とのご縁と、これからの考え方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666666"/>
                </a:solidFill>
                <a:latin typeface="Meiryo UI"/>
              </a:rPr>
              <a:t>由香さんの見立て（感覚でとらえたもので、確かなものではありません）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417320"/>
            <a:ext cx="4480560" cy="4572000"/>
          </a:xfrm>
          <a:prstGeom prst="roundRect">
            <a:avLst/>
          </a:prstGeom>
          <a:solidFill>
            <a:srgbClr val="F4F1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2350"/>
                </a:solidFill>
                <a:latin typeface="Meiryo UI"/>
              </a:rPr>
              <a:t>前世の構図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4480" y="2011680"/>
            <a:ext cx="2286000" cy="731520"/>
          </a:xfrm>
          <a:prstGeom prst="roundRect">
            <a:avLst/>
          </a:prstGeom>
          <a:solidFill>
            <a:srgbClr val="2B23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川越さん</a:t>
            </a:r>
          </a:p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（領主・位の高い人）</a:t>
            </a:r>
          </a:p>
        </p:txBody>
      </p:sp>
      <p:cxnSp>
        <p:nvCxnSpPr>
          <p:cNvPr id="7" name="Connector 6"/>
          <p:cNvCxnSpPr/>
          <p:nvPr/>
        </p:nvCxnSpPr>
        <p:spPr>
          <a:xfrm flipH="1">
            <a:off x="1600200" y="2761488"/>
            <a:ext cx="50292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3291840" y="2761488"/>
            <a:ext cx="502920" cy="484632"/>
          </a:xfrm>
          <a:prstGeom prst="line">
            <a:avLst/>
          </a:prstGeom>
          <a:ln w="38100">
            <a:solidFill>
              <a:srgbClr val="C9973A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640080" y="3291840"/>
            <a:ext cx="1965960" cy="685800"/>
          </a:xfrm>
          <a:prstGeom prst="roundRect">
            <a:avLst/>
          </a:prstGeom>
          <a:solidFill>
            <a:srgbClr val="EE8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お食事に行く方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069080"/>
            <a:ext cx="19659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第一夫人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（政略結婚）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甘えられず、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一緒に出かけたいと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言えなかった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88920" y="3291840"/>
            <a:ext cx="1965960" cy="685800"/>
          </a:xfrm>
          <a:prstGeom prst="roundRect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400" b="1">
                <a:solidFill>
                  <a:srgbClr val="FFFFFF"/>
                </a:solidFill>
                <a:latin typeface="Meiryo UI"/>
              </a:rPr>
              <a:t>一戸さん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4069080"/>
            <a:ext cx="196596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第二夫人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川越さんが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本当に好きだった人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（由香さんは</a:t>
            </a:r>
          </a:p>
          <a:p>
            <a:pPr algn="ctr">
              <a:spcAft>
                <a:spcPts val="600"/>
              </a:spcAft>
            </a:pPr>
            <a:r>
              <a:rPr sz="1300" b="0">
                <a:solidFill>
                  <a:srgbClr val="2A2A2A"/>
                </a:solidFill>
                <a:latin typeface="Meiryo UI"/>
              </a:rPr>
              <a:t>こちらに仕えていた）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1371600"/>
            <a:ext cx="6583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>
                <a:solidFill>
                  <a:srgbClr val="2B2350"/>
                </a:solidFill>
                <a:latin typeface="Meiryo UI"/>
              </a:rPr>
              <a:t>ここからの考え方</a:t>
            </a:r>
          </a:p>
        </p:txBody>
      </p:sp>
      <p:sp>
        <p:nvSpPr>
          <p:cNvPr id="14" name="Oval 13"/>
          <p:cNvSpPr/>
          <p:nvPr/>
        </p:nvSpPr>
        <p:spPr>
          <a:xfrm>
            <a:off x="5212080" y="1847088"/>
            <a:ext cx="347472" cy="347472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0" y="1783080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2A2A"/>
                </a:solidFill>
                <a:latin typeface="Meiryo UI"/>
              </a:rPr>
              <a:t>罪滅ぼしは、もう終わっています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084831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一緒に出かけ、食事を楽しんだことで解消。彼女の結婚が「満足できた」しるし</a:t>
            </a:r>
          </a:p>
        </p:txBody>
      </p:sp>
      <p:sp>
        <p:nvSpPr>
          <p:cNvPr id="17" name="Oval 16"/>
          <p:cNvSpPr/>
          <p:nvPr/>
        </p:nvSpPr>
        <p:spPr>
          <a:xfrm>
            <a:off x="5212080" y="2450592"/>
            <a:ext cx="347472" cy="347472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2386584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2A2A"/>
                </a:solidFill>
                <a:latin typeface="Meiryo UI"/>
              </a:rPr>
              <a:t>これは「昔の彼女」の話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0" y="2688336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今の彼女の気持ちとは別。ここからは今世の情や愛情＝川越さんがどうしたいか</a:t>
            </a:r>
          </a:p>
        </p:txBody>
      </p:sp>
      <p:sp>
        <p:nvSpPr>
          <p:cNvPr id="20" name="Oval 19"/>
          <p:cNvSpPr/>
          <p:nvPr/>
        </p:nvSpPr>
        <p:spPr>
          <a:xfrm>
            <a:off x="5212080" y="3054096"/>
            <a:ext cx="347472" cy="347472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0" y="2990088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2A2A"/>
                </a:solidFill>
                <a:latin typeface="Meiryo UI"/>
              </a:rPr>
              <a:t>手放してあげるのが、これからの課題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0" y="3291839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「もう君も自由になりなさい」と、川越さんから言ってあげられるか</a:t>
            </a:r>
          </a:p>
        </p:txBody>
      </p:sp>
      <p:sp>
        <p:nvSpPr>
          <p:cNvPr id="23" name="Oval 22"/>
          <p:cNvSpPr/>
          <p:nvPr/>
        </p:nvSpPr>
        <p:spPr>
          <a:xfrm>
            <a:off x="5212080" y="3657600"/>
            <a:ext cx="347472" cy="347472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593592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2A2A"/>
                </a:solidFill>
                <a:latin typeface="Meiryo UI"/>
              </a:rPr>
              <a:t>現実のことも大切に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0" y="3895344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これ以上近づくと、彼女が今のご主人への罪悪感を抱えることに。法律の面も考えて</a:t>
            </a:r>
          </a:p>
        </p:txBody>
      </p:sp>
      <p:sp>
        <p:nvSpPr>
          <p:cNvPr id="26" name="Oval 25"/>
          <p:cNvSpPr/>
          <p:nvPr/>
        </p:nvSpPr>
        <p:spPr>
          <a:xfrm>
            <a:off x="5212080" y="4261104"/>
            <a:ext cx="347472" cy="347472"/>
          </a:xfrm>
          <a:prstGeom prst="ellipse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0" y="4197096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9443B"/>
                </a:solidFill>
                <a:latin typeface="Meiryo UI"/>
              </a:rPr>
              <a:t>今以上を願うと、彼女の家庭を壊しかねません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498848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家庭が揺らげば新しい恨みが生まれ、それが川越さんの体に返ってくる可能性があります</a:t>
            </a:r>
          </a:p>
        </p:txBody>
      </p:sp>
      <p:sp>
        <p:nvSpPr>
          <p:cNvPr id="29" name="Oval 28"/>
          <p:cNvSpPr/>
          <p:nvPr/>
        </p:nvSpPr>
        <p:spPr>
          <a:xfrm>
            <a:off x="5212080" y="4864608"/>
            <a:ext cx="347472" cy="347472"/>
          </a:xfrm>
          <a:prstGeom prst="ellipse">
            <a:avLst/>
          </a:prstGeom>
          <a:solidFill>
            <a:srgbClr val="D94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4800600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D9443B"/>
                </a:solidFill>
                <a:latin typeface="Meiryo UI"/>
              </a:rPr>
              <a:t>来世に、新しいカルマのタネをつくることに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0" y="5102352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今世で終わらせられるご縁を、また来世へ持ち越すことになります</a:t>
            </a:r>
          </a:p>
        </p:txBody>
      </p:sp>
      <p:sp>
        <p:nvSpPr>
          <p:cNvPr id="32" name="Oval 31"/>
          <p:cNvSpPr/>
          <p:nvPr/>
        </p:nvSpPr>
        <p:spPr>
          <a:xfrm>
            <a:off x="5212080" y="5468112"/>
            <a:ext cx="347472" cy="347472"/>
          </a:xfrm>
          <a:prstGeom prst="ellipse">
            <a:avLst/>
          </a:prstGeom>
          <a:solidFill>
            <a:srgbClr val="C997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300" b="1">
                <a:solidFill>
                  <a:srgbClr val="FFFFFF"/>
                </a:solidFill>
                <a:latin typeface="Meiryo UI"/>
              </a:rPr>
              <a:t>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669280" y="5404103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A2A2A"/>
                </a:solidFill>
                <a:latin typeface="Meiryo UI"/>
              </a:rPr>
              <a:t>エネルギーはやさしく送る・守りは続ける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0" y="5705855"/>
            <a:ext cx="6126480" cy="329184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>
                <a:solidFill>
                  <a:srgbClr val="666666"/>
                </a:solidFill>
                <a:latin typeface="Meiryo UI"/>
              </a:rPr>
              <a:t>「思い通りに」を乗せると相手には強い圧に。ご主人のやきもちには寝る前のプロテクトを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172200"/>
            <a:ext cx="11274552" cy="502920"/>
          </a:xfrm>
          <a:prstGeom prst="roundRect">
            <a:avLst/>
          </a:prstGeom>
          <a:solidFill>
            <a:srgbClr val="FBF4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/>
            <a:r>
              <a:rPr sz="1600" b="1">
                <a:solidFill>
                  <a:srgbClr val="2B2350"/>
                </a:solidFill>
                <a:latin typeface="Meiryo UI"/>
              </a:rPr>
              <a:t>ご縁を来世へつなぐか、今世で一段落にするかは、川越さんが決めること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
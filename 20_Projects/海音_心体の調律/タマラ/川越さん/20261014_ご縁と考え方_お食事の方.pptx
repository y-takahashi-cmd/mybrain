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2350"/>
                </a:solidFill>
                <a:latin typeface="Meiryo UI"/>
              </a:rPr>
              <a:t>お食事に行く方とのご縁と、これからの道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ja-JP" altLang="en-US" sz="1600">
                <a:solidFill>
                  <a:srgbClr val="666666"/>
                </a:solidFill>
                <a:latin typeface="Meiryo UI"/>
              </a:rPr>
              <a:t>髙橋の</a:t>
            </a:r>
            <a:r>
              <a:rPr lang="ja-JP" altLang="en-US" sz="1600" dirty="0">
                <a:solidFill>
                  <a:srgbClr val="666666"/>
                </a:solidFill>
                <a:latin typeface="Meiryo UI"/>
              </a:rPr>
              <a:t>見立て</a:t>
            </a:r>
            <a:r>
              <a:rPr sz="1600" b="0" dirty="0">
                <a:solidFill>
                  <a:srgbClr val="666666"/>
                </a:solidFill>
                <a:latin typeface="Meiryo UI"/>
              </a:rPr>
              <a:t>（</a:t>
            </a:r>
            <a:r>
              <a:rPr sz="1600" b="0" dirty="0" err="1">
                <a:solidFill>
                  <a:srgbClr val="666666"/>
                </a:solidFill>
                <a:latin typeface="Meiryo UI"/>
              </a:rPr>
              <a:t>感覚でとらえたもので</a:t>
            </a:r>
            <a:r>
              <a:rPr sz="1600" b="0" dirty="0">
                <a:solidFill>
                  <a:srgbClr val="666666"/>
                </a:solidFill>
                <a:latin typeface="Meiryo UI"/>
              </a:rPr>
              <a:t>、</a:t>
            </a:r>
            <a:r>
              <a:rPr lang="ja-JP" altLang="en-US" sz="1600" b="0" dirty="0">
                <a:solidFill>
                  <a:srgbClr val="666666"/>
                </a:solidFill>
                <a:latin typeface="Meiryo UI"/>
              </a:rPr>
              <a:t>川越</a:t>
            </a:r>
            <a:r>
              <a:rPr lang="ja-JP" altLang="en-US" sz="1600" b="0">
                <a:solidFill>
                  <a:srgbClr val="666666"/>
                </a:solidFill>
                <a:latin typeface="Meiryo UI"/>
              </a:rPr>
              <a:t>さんの参考になさってください</a:t>
            </a:r>
            <a:r>
              <a:rPr sz="1600" b="0">
                <a:solidFill>
                  <a:srgbClr val="666666"/>
                </a:solidFill>
                <a:latin typeface="Meiryo UI"/>
              </a:rPr>
              <a:t>）</a:t>
            </a:r>
            <a:endParaRPr sz="1600" b="0" dirty="0">
              <a:solidFill>
                <a:srgbClr val="666666"/>
              </a:solidFill>
              <a:latin typeface="Meiryo U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480560" cy="43434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4114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2350"/>
                </a:solidFill>
                <a:latin typeface="Meiryo UI"/>
              </a:rPr>
              <a:t>前世の構図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2011680"/>
            <a:ext cx="2286000" cy="73152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川越さん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（領主・位の高い人）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600200" y="2761488"/>
            <a:ext cx="50292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761488"/>
            <a:ext cx="50292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3291840"/>
            <a:ext cx="1965960" cy="685800"/>
          </a:xfrm>
          <a:prstGeom prst="roundRect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お食事に行く方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1965960" cy="13234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第一夫人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 dirty="0">
                <a:solidFill>
                  <a:srgbClr val="2A2A2A"/>
                </a:solidFill>
                <a:latin typeface="Meiryo UI"/>
              </a:rPr>
              <a:t>（</a:t>
            </a:r>
            <a:r>
              <a:rPr sz="1300" b="0" dirty="0" err="1">
                <a:solidFill>
                  <a:srgbClr val="2A2A2A"/>
                </a:solidFill>
                <a:latin typeface="Meiryo UI"/>
              </a:rPr>
              <a:t>政略結婚</a:t>
            </a:r>
            <a:r>
              <a:rPr sz="1300" b="0" dirty="0">
                <a:solidFill>
                  <a:srgbClr val="2A2A2A"/>
                </a:solidFill>
                <a:latin typeface="Meiryo UI"/>
              </a:rPr>
              <a:t>）</a:t>
            </a:r>
          </a:p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甘えられず</a:t>
            </a:r>
            <a:r>
              <a:rPr sz="1300" b="0" dirty="0">
                <a:solidFill>
                  <a:srgbClr val="2A2A2A"/>
                </a:solidFill>
                <a:latin typeface="Meiryo UI"/>
              </a:rPr>
              <a:t>、</a:t>
            </a:r>
          </a:p>
          <a:p>
            <a:pPr algn="ctr">
              <a:spcAft>
                <a:spcPts val="600"/>
              </a:spcAft>
            </a:pPr>
            <a:r>
              <a:rPr lang="ja-JP" altLang="en-US" sz="1300" dirty="0">
                <a:solidFill>
                  <a:srgbClr val="2A2A2A"/>
                </a:solidFill>
                <a:latin typeface="Meiryo UI"/>
              </a:rPr>
              <a:t>一緒に楽しみたい</a:t>
            </a:r>
            <a:br>
              <a:rPr lang="en-US" altLang="ja-JP" sz="1300">
                <a:solidFill>
                  <a:srgbClr val="2A2A2A"/>
                </a:solidFill>
                <a:latin typeface="Meiryo UI"/>
              </a:rPr>
            </a:br>
            <a:r>
              <a:rPr lang="ja-JP" altLang="en-US" sz="1300">
                <a:solidFill>
                  <a:srgbClr val="2A2A2A"/>
                </a:solidFill>
                <a:latin typeface="Meiryo UI"/>
              </a:rPr>
              <a:t>と言えなかった</a:t>
            </a:r>
            <a:endParaRPr sz="1300" b="0" dirty="0">
              <a:solidFill>
                <a:srgbClr val="2A2A2A"/>
              </a:solidFill>
              <a:latin typeface="Meiryo U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788920" y="3291840"/>
            <a:ext cx="1965960" cy="68580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一戸さん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4069080"/>
            <a:ext cx="1965960" cy="140038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第二夫人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川越さんが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本当に好きだった人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（</a:t>
            </a:r>
            <a:r>
              <a:rPr lang="ja-JP" altLang="en-US" sz="1300">
                <a:solidFill>
                  <a:srgbClr val="2A2A2A"/>
                </a:solidFill>
                <a:latin typeface="Meiryo UI"/>
              </a:rPr>
              <a:t>髙橋</a:t>
            </a:r>
            <a:r>
              <a:rPr sz="1300" b="0">
                <a:solidFill>
                  <a:srgbClr val="2A2A2A"/>
                </a:solidFill>
                <a:latin typeface="Meiryo UI"/>
              </a:rPr>
              <a:t>は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こちらに仕えていた</a:t>
            </a:r>
            <a:r>
              <a:rPr lang="ja-JP" altLang="en-US" sz="1300" b="0" dirty="0">
                <a:solidFill>
                  <a:srgbClr val="2A2A2A"/>
                </a:solidFill>
                <a:latin typeface="Meiryo UI"/>
              </a:rPr>
              <a:t>可能性</a:t>
            </a:r>
            <a:r>
              <a:rPr sz="1300" b="0" dirty="0">
                <a:solidFill>
                  <a:srgbClr val="2A2A2A"/>
                </a:solidFill>
                <a:latin typeface="Meiryo UI"/>
              </a:rPr>
              <a:t>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417320"/>
            <a:ext cx="6519672" cy="685800"/>
          </a:xfrm>
          <a:prstGeom prst="round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 dirty="0" err="1">
                <a:solidFill>
                  <a:srgbClr val="2B2350"/>
                </a:solidFill>
                <a:latin typeface="Meiryo UI"/>
              </a:rPr>
              <a:t>前世の罪滅ぼしは、もう終わっています</a:t>
            </a:r>
            <a:endParaRPr sz="1300" b="1" dirty="0">
              <a:solidFill>
                <a:srgbClr val="2B2350"/>
              </a:solidFill>
              <a:latin typeface="Meiryo UI"/>
            </a:endParaRPr>
          </a:p>
          <a:p>
            <a:pPr algn="ctr"/>
            <a:r>
              <a:rPr sz="1300" b="1" dirty="0" err="1">
                <a:solidFill>
                  <a:srgbClr val="2B2350"/>
                </a:solidFill>
                <a:latin typeface="Meiryo UI"/>
              </a:rPr>
              <a:t>一緒に出かけ、</a:t>
            </a:r>
            <a:r>
              <a:rPr sz="1300" b="1" err="1">
                <a:solidFill>
                  <a:srgbClr val="2B2350"/>
                </a:solidFill>
                <a:latin typeface="Meiryo UI"/>
              </a:rPr>
              <a:t>食事を楽しめたことで解消</a:t>
            </a:r>
            <a:r>
              <a:rPr sz="1300" b="1">
                <a:solidFill>
                  <a:srgbClr val="2B2350"/>
                </a:solidFill>
                <a:latin typeface="Meiryo UI"/>
              </a:rPr>
              <a:t>。</a:t>
            </a:r>
            <a:r>
              <a:rPr lang="ja-JP" altLang="en-US" sz="1300" b="1">
                <a:solidFill>
                  <a:srgbClr val="2B2350"/>
                </a:solidFill>
                <a:latin typeface="Meiryo UI"/>
              </a:rPr>
              <a:t>彼女の結婚は、カルマが</a:t>
            </a:r>
            <a:r>
              <a:rPr sz="1300" b="1">
                <a:solidFill>
                  <a:srgbClr val="2B2350"/>
                </a:solidFill>
                <a:latin typeface="Meiryo UI"/>
              </a:rPr>
              <a:t>「</a:t>
            </a:r>
            <a:r>
              <a:rPr sz="1300" b="1" dirty="0" err="1">
                <a:solidFill>
                  <a:srgbClr val="2B2350"/>
                </a:solidFill>
                <a:latin typeface="Meiryo UI"/>
              </a:rPr>
              <a:t>満足できた」しるし</a:t>
            </a:r>
            <a:endParaRPr sz="1300" b="1" dirty="0">
              <a:solidFill>
                <a:srgbClr val="2B2350"/>
              </a:solidFill>
              <a:latin typeface="Meiryo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212080" y="2194560"/>
            <a:ext cx="6492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2350"/>
                </a:solidFill>
                <a:latin typeface="Meiryo UI"/>
              </a:rPr>
              <a:t>ここからの道は2つ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2651760"/>
            <a:ext cx="3154680" cy="3108960"/>
          </a:xfrm>
          <a:prstGeom prst="round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394960" y="2788920"/>
            <a:ext cx="2788920" cy="59436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今、関係を深める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474720"/>
            <a:ext cx="2788920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A2A2A"/>
                </a:solidFill>
                <a:latin typeface="Meiryo UI"/>
              </a:rPr>
              <a:t>彼女の周りの人も、
川越さんの周りの人も
傷つけることになりかねない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84848" y="4498848"/>
            <a:ext cx="0" cy="274320"/>
          </a:xfrm>
          <a:prstGeom prst="line">
            <a:avLst/>
          </a:prstGeom>
          <a:ln w="38100">
            <a:solidFill>
              <a:srgbClr val="D944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394960" y="4846320"/>
            <a:ext cx="2788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D9443B"/>
                </a:solidFill>
                <a:latin typeface="Meiryo UI"/>
              </a:rPr>
              <a:t>新しい因縁（闇）を生み、
来世へ持ち越す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7072" y="2651760"/>
            <a:ext cx="3154680" cy="3108960"/>
          </a:xfrm>
          <a:prstGeom prst="round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59952" y="2788920"/>
            <a:ext cx="2788920" cy="59436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今の関係を大切にする</a:t>
            </a:r>
            <a:endParaRPr lang="en-US" sz="1600" b="1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または手放す</a:t>
            </a:r>
            <a:endParaRPr sz="1600" b="1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759952" y="3474720"/>
            <a:ext cx="2788920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A2A2A"/>
                </a:solidFill>
                <a:latin typeface="Meiryo UI"/>
              </a:rPr>
              <a:t>彼女の今の暮らしと
幸せを見守る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149840" y="4498848"/>
            <a:ext cx="0" cy="274320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759952" y="4846320"/>
            <a:ext cx="2788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C9973A"/>
                </a:solidFill>
                <a:latin typeface="Meiryo UI"/>
              </a:rPr>
              <a:t>来世で、良いご縁として
一緒になる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943600"/>
            <a:ext cx="11274552" cy="73152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来世で良いご縁となるのか、因縁になるのかは、ここからの川越さんの行動しだいです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104</Words>
  <Application>Microsoft Office PowerPoint</Application>
  <PresentationFormat>ワイド画面</PresentationFormat>
  <Paragraphs>27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Meiryo UI</vt:lpstr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KANON_Takahashi Yuka</cp:lastModifiedBy>
  <cp:revision>5</cp:revision>
  <dcterms:created xsi:type="dcterms:W3CDTF">2013-01-27T09:14:16Z</dcterms:created>
  <dcterms:modified xsi:type="dcterms:W3CDTF">2026-10-14T05:28:20Z</dcterms:modified>
  <cp:category/>
</cp:coreProperties>
</file>
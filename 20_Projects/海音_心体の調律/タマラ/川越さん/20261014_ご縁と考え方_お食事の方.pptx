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B2350"/>
                </a:solidFill>
                <a:latin typeface="Meiryo UI"/>
              </a:rPr>
              <a:t>お食事に行く方とのご縁と、これからの考え方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66666"/>
                </a:solidFill>
                <a:latin typeface="Meiryo UI"/>
              </a:rPr>
              <a:t>由香さんの見立て（感覚でとらえたもので、確かなものではありません）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5120640" cy="489204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350"/>
                </a:solidFill>
                <a:latin typeface="Meiryo UI"/>
              </a:rPr>
              <a:t>前世の構図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2240280"/>
            <a:ext cx="2286000" cy="777240"/>
          </a:xfrm>
          <a:prstGeom prst="roundRect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川越さん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（領主・位の高い人）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600200" y="3035808"/>
            <a:ext cx="868680" cy="484632"/>
          </a:xfrm>
          <a:prstGeom prst="line">
            <a:avLst/>
          </a:prstGeom>
          <a:ln w="381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66160" y="3035808"/>
            <a:ext cx="868680" cy="484632"/>
          </a:xfrm>
          <a:prstGeom prst="line">
            <a:avLst/>
          </a:prstGeom>
          <a:ln w="38100">
            <a:solidFill>
              <a:srgbClr val="C997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566160"/>
            <a:ext cx="2240280" cy="777240"/>
          </a:xfrm>
          <a:prstGeom prst="roundRect">
            <a:avLst/>
          </a:prstGeom>
          <a:solidFill>
            <a:srgbClr val="EE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お食事に行く方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22402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第一夫人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（政略結婚）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甘えられず、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一緒に出かけたいと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言えなかった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3566160"/>
            <a:ext cx="2240280" cy="777240"/>
          </a:xfrm>
          <a:prstGeom prst="roundRect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一戸さん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389120"/>
            <a:ext cx="22402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第二夫人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川越さんが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本当に好きだった人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（由香さんは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  <a:latin typeface="Meiryo UI"/>
              </a:rPr>
              <a:t>こちらに仕えていた）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64592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B2350"/>
                </a:solidFill>
                <a:latin typeface="Meiryo UI"/>
              </a:rPr>
              <a:t>ここからの考え方</a:t>
            </a:r>
          </a:p>
        </p:txBody>
      </p:sp>
      <p:sp>
        <p:nvSpPr>
          <p:cNvPr id="14" name="Oval 13"/>
          <p:cNvSpPr/>
          <p:nvPr/>
        </p:nvSpPr>
        <p:spPr>
          <a:xfrm>
            <a:off x="5897880" y="2221992"/>
            <a:ext cx="384048" cy="384048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2A2A"/>
                </a:solidFill>
                <a:latin typeface="Meiryo UI"/>
              </a:rPr>
              <a:t>罪滅ぼしは、もう終わっています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96312"/>
            <a:ext cx="5303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今世で一緒に出かけ、食事やお話を楽しんだことで、前世の思い残しは解消。彼女が結婚に踏み切れたのは「満足できた」から</a:t>
            </a:r>
          </a:p>
        </p:txBody>
      </p:sp>
      <p:sp>
        <p:nvSpPr>
          <p:cNvPr id="17" name="Oval 16"/>
          <p:cNvSpPr/>
          <p:nvPr/>
        </p:nvSpPr>
        <p:spPr>
          <a:xfrm>
            <a:off x="5897880" y="3154680"/>
            <a:ext cx="384048" cy="384048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81528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2A2A"/>
                </a:solidFill>
                <a:latin typeface="Meiryo UI"/>
              </a:rPr>
              <a:t>これは「昔の彼女」の話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5303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今の彼女の気持ちとは別。ここからは今世の情や愛情＝川越さんがどうしたいか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4087368"/>
            <a:ext cx="384048" cy="384048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14216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2A2A"/>
                </a:solidFill>
                <a:latin typeface="Meiryo UI"/>
              </a:rPr>
              <a:t>手放してあげるのが、これからの課題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61688"/>
            <a:ext cx="5303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離れていくのを待つのではなく、「もう君も自由になりなさい」と川越さんから言ってあげられるか</a:t>
            </a:r>
          </a:p>
        </p:txBody>
      </p:sp>
      <p:sp>
        <p:nvSpPr>
          <p:cNvPr id="23" name="Oval 22"/>
          <p:cNvSpPr/>
          <p:nvPr/>
        </p:nvSpPr>
        <p:spPr>
          <a:xfrm>
            <a:off x="5897880" y="5020056"/>
            <a:ext cx="384048" cy="384048"/>
          </a:xfrm>
          <a:prstGeom prst="ellipse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46904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2A2A"/>
                </a:solidFill>
                <a:latin typeface="Meiryo UI"/>
              </a:rPr>
              <a:t>現実のことも大切に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94376"/>
            <a:ext cx="53035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Meiryo UI"/>
              </a:rPr>
              <a:t>これ以上近づくと、彼女が今のご主人に罪悪感を抱えることに。法律や今の暮らしの中で考える必要があります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5897880"/>
            <a:ext cx="5806440" cy="594360"/>
          </a:xfrm>
          <a:prstGeom prst="round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>
                <a:solidFill>
                  <a:srgbClr val="2B2350"/>
                </a:solidFill>
                <a:latin typeface="Meiryo UI"/>
              </a:rPr>
              <a:t>ご縁を来世へつなぐか、今世で一段落にするかは、川越さんが決めること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
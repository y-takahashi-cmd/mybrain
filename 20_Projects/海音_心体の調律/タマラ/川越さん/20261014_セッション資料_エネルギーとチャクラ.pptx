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3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731520"/>
            <a:ext cx="502920" cy="502920"/>
          </a:xfrm>
          <a:prstGeom prst="ellipse">
            <a:avLst/>
          </a:prstGeom>
          <a:solidFill>
            <a:srgbClr val="8E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1508760"/>
            <a:ext cx="502920" cy="502920"/>
          </a:xfrm>
          <a:prstGeom prst="ellipse">
            <a:avLst/>
          </a:prstGeom>
          <a:solidFill>
            <a:srgbClr val="4B4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92640" y="2286000"/>
            <a:ext cx="502920" cy="502920"/>
          </a:xfrm>
          <a:prstGeom prst="ellipse">
            <a:avLst/>
          </a:prstGeom>
          <a:solidFill>
            <a:srgbClr val="3D8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92640" y="3063239"/>
            <a:ext cx="502920" cy="502920"/>
          </a:xfrm>
          <a:prstGeom prst="ellipse">
            <a:avLst/>
          </a:prstGeom>
          <a:solidFill>
            <a:srgbClr val="4FA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92640" y="3840480"/>
            <a:ext cx="502920" cy="502920"/>
          </a:xfrm>
          <a:prstGeom prst="ellipse">
            <a:avLst/>
          </a:prstGeom>
          <a:solidFill>
            <a:srgbClr val="E8C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92640" y="4617720"/>
            <a:ext cx="502920" cy="502920"/>
          </a:xfrm>
          <a:prstGeom prst="ellipse">
            <a:avLst/>
          </a:prstGeom>
          <a:solidFill>
            <a:srgbClr val="EE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92640" y="5394959"/>
            <a:ext cx="502920" cy="502920"/>
          </a:xfrm>
          <a:prstGeom prst="ellipse">
            <a:avLst/>
          </a:prstGeom>
          <a:solidFill>
            <a:srgbClr val="D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82296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D8D2EC"/>
                </a:solidFill>
                <a:latin typeface="Meiryo UI"/>
              </a:rPr>
              <a:t>川越 昭 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82296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Meiryo UI"/>
              </a:rPr>
              <a:t>エネルギーとチャクラ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6616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D8D2EC"/>
                </a:solidFill>
                <a:latin typeface="Meiryo UI"/>
              </a:rPr>
              <a:t>2026年10月14日 セッション資料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572000"/>
            <a:ext cx="7498079" cy="822960"/>
          </a:xfrm>
          <a:prstGeom prst="roundRect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200" b="1">
                <a:solidFill>
                  <a:srgbClr val="FFFFFF"/>
                </a:solidFill>
                <a:latin typeface="Meiryo UI"/>
              </a:rPr>
              <a:t>めざす姿：100歳まで元気に。朝の元気が戻る体へ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2B2350"/>
                </a:solidFill>
                <a:latin typeface="Meiryo UI"/>
              </a:rPr>
              <a:t>エネルギーを入れる順番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 UI"/>
              </a:rPr>
              <a:t>この順番で、毎日くり返します</a:t>
            </a:r>
          </a:p>
        </p:txBody>
      </p:sp>
      <p:sp>
        <p:nvSpPr>
          <p:cNvPr id="4" name="Oval 3"/>
          <p:cNvSpPr/>
          <p:nvPr/>
        </p:nvSpPr>
        <p:spPr>
          <a:xfrm>
            <a:off x="1143000" y="2011680"/>
            <a:ext cx="822960" cy="822960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800" b="1">
                <a:solidFill>
                  <a:srgbClr val="FFFFFF"/>
                </a:solidFill>
                <a:latin typeface="Meiryo UI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063240"/>
            <a:ext cx="2011680" cy="155448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900" b="1">
                <a:solidFill>
                  <a:srgbClr val="2B2350"/>
                </a:solidFill>
                <a:latin typeface="Meiryo UI"/>
              </a:rPr>
              <a:t>ミトコンドリア</a:t>
            </a:r>
          </a:p>
          <a:p>
            <a:pPr algn="ctr"/>
            <a:r>
              <a:rPr sz="1900" b="1">
                <a:solidFill>
                  <a:srgbClr val="2B2350"/>
                </a:solidFill>
                <a:latin typeface="Meiryo UI"/>
              </a:rPr>
              <a:t>活性化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78608" y="3840480"/>
            <a:ext cx="237744" cy="0"/>
          </a:xfrm>
          <a:prstGeom prst="line">
            <a:avLst/>
          </a:prstGeom>
          <a:ln w="38100">
            <a:solidFill>
              <a:srgbClr val="C997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429000" y="2011680"/>
            <a:ext cx="822960" cy="822960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800" b="1">
                <a:solidFill>
                  <a:srgbClr val="FFFFFF"/>
                </a:solidFill>
                <a:latin typeface="Meiryo U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3063240"/>
            <a:ext cx="2011680" cy="155448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900" b="1">
                <a:solidFill>
                  <a:srgbClr val="2B2350"/>
                </a:solidFill>
                <a:latin typeface="Meiryo UI"/>
              </a:rPr>
              <a:t>細胞</a:t>
            </a:r>
          </a:p>
          <a:p>
            <a:pPr algn="ctr"/>
            <a:r>
              <a:rPr sz="1900" b="1">
                <a:solidFill>
                  <a:srgbClr val="2B2350"/>
                </a:solidFill>
                <a:latin typeface="Meiryo UI"/>
              </a:rPr>
              <a:t>活性化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64608" y="3840480"/>
            <a:ext cx="237744" cy="0"/>
          </a:xfrm>
          <a:prstGeom prst="line">
            <a:avLst/>
          </a:prstGeom>
          <a:ln w="38100">
            <a:solidFill>
              <a:srgbClr val="C997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715000" y="2011680"/>
            <a:ext cx="822960" cy="822960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800" b="1">
                <a:solidFill>
                  <a:srgbClr val="FFFFFF"/>
                </a:solidFill>
                <a:latin typeface="Meiryo UI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3063240"/>
            <a:ext cx="2011680" cy="155448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900" b="1">
                <a:solidFill>
                  <a:srgbClr val="2B2350"/>
                </a:solidFill>
                <a:latin typeface="Meiryo UI"/>
              </a:rPr>
              <a:t>テストステロン</a:t>
            </a:r>
          </a:p>
          <a:p>
            <a:pPr algn="ctr"/>
            <a:r>
              <a:rPr sz="1900" b="1">
                <a:solidFill>
                  <a:srgbClr val="2B2350"/>
                </a:solidFill>
                <a:latin typeface="Meiryo UI"/>
              </a:rPr>
              <a:t>封入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50608" y="3840480"/>
            <a:ext cx="237744" cy="0"/>
          </a:xfrm>
          <a:prstGeom prst="line">
            <a:avLst/>
          </a:prstGeom>
          <a:ln w="38100">
            <a:solidFill>
              <a:srgbClr val="C997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8001000" y="2011680"/>
            <a:ext cx="822960" cy="822960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800" b="1">
                <a:solidFill>
                  <a:srgbClr val="FFFFFF"/>
                </a:solidFill>
                <a:latin typeface="Meiryo UI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3063240"/>
            <a:ext cx="2011680" cy="155448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900" b="1">
                <a:solidFill>
                  <a:srgbClr val="2B2350"/>
                </a:solidFill>
                <a:latin typeface="Meiryo UI"/>
              </a:rPr>
              <a:t>血流</a:t>
            </a:r>
          </a:p>
          <a:p>
            <a:pPr algn="ctr"/>
            <a:r>
              <a:rPr sz="1900" b="1">
                <a:solidFill>
                  <a:srgbClr val="2B2350"/>
                </a:solidFill>
                <a:latin typeface="Meiryo UI"/>
              </a:rPr>
              <a:t>増加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436608" y="3840480"/>
            <a:ext cx="237744" cy="0"/>
          </a:xfrm>
          <a:prstGeom prst="line">
            <a:avLst/>
          </a:prstGeom>
          <a:ln w="38100">
            <a:solidFill>
              <a:srgbClr val="C997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0287000" y="2011680"/>
            <a:ext cx="822960" cy="822960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800" b="1">
                <a:solidFill>
                  <a:srgbClr val="FFFFFF"/>
                </a:solidFill>
                <a:latin typeface="Meiryo UI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3063240"/>
            <a:ext cx="2011680" cy="155448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900" b="1">
                <a:solidFill>
                  <a:srgbClr val="2B2350"/>
                </a:solidFill>
                <a:latin typeface="Meiryo UI"/>
              </a:rPr>
              <a:t>自律神経</a:t>
            </a:r>
          </a:p>
          <a:p>
            <a:pPr algn="ctr"/>
            <a:r>
              <a:rPr sz="1900" b="1">
                <a:solidFill>
                  <a:srgbClr val="2B2350"/>
                </a:solidFill>
                <a:latin typeface="Meiryo UI"/>
              </a:rPr>
              <a:t>調律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2064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土台（細胞の発電所）から始めて、体全体の巡り、最後に心と体のバランスへ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2B2350"/>
                </a:solidFill>
                <a:latin typeface="Meiryo UI"/>
              </a:rPr>
              <a:t>① ミトコンドリア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11064240" cy="73152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200" b="1">
                <a:solidFill>
                  <a:srgbClr val="2B2350"/>
                </a:solidFill>
                <a:latin typeface="Meiryo UI"/>
              </a:rPr>
              <a:t>細胞の中にある「元気の発電所」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2286000"/>
            <a:ext cx="4572000" cy="3749039"/>
          </a:xfrm>
          <a:prstGeom prst="ellipse">
            <a:avLst/>
          </a:prstGeom>
          <a:solidFill>
            <a:srgbClr val="FBE9E7"/>
          </a:solidFill>
          <a:ln w="19050">
            <a:solidFill>
              <a:srgbClr val="D94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8880" y="3611880"/>
            <a:ext cx="1280160" cy="1097280"/>
          </a:xfrm>
          <a:prstGeom prst="ellipse">
            <a:avLst/>
          </a:prstGeom>
          <a:solidFill>
            <a:srgbClr val="B9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600" b="1">
                <a:solidFill>
                  <a:srgbClr val="2B2350"/>
                </a:solidFill>
                <a:latin typeface="Meiryo UI"/>
              </a:rPr>
              <a:t>核</a:t>
            </a:r>
          </a:p>
        </p:txBody>
      </p:sp>
      <p:sp>
        <p:nvSpPr>
          <p:cNvPr id="6" name="Oval 5"/>
          <p:cNvSpPr/>
          <p:nvPr/>
        </p:nvSpPr>
        <p:spPr>
          <a:xfrm>
            <a:off x="1371600" y="2743200"/>
            <a:ext cx="1097280" cy="548640"/>
          </a:xfrm>
          <a:prstGeom prst="ellipse">
            <a:avLst/>
          </a:prstGeom>
          <a:solidFill>
            <a:srgbClr val="EE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566160" y="2697480"/>
            <a:ext cx="1097280" cy="548640"/>
          </a:xfrm>
          <a:prstGeom prst="ellipse">
            <a:avLst/>
          </a:prstGeom>
          <a:solidFill>
            <a:srgbClr val="EE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88720" y="4572000"/>
            <a:ext cx="1097280" cy="548640"/>
          </a:xfrm>
          <a:prstGeom prst="ellipse">
            <a:avLst/>
          </a:prstGeom>
          <a:solidFill>
            <a:srgbClr val="EE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840480" y="4480560"/>
            <a:ext cx="1097280" cy="548640"/>
          </a:xfrm>
          <a:prstGeom prst="ellipse">
            <a:avLst/>
          </a:prstGeom>
          <a:solidFill>
            <a:srgbClr val="EE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377440" y="5120640"/>
            <a:ext cx="1097280" cy="548640"/>
          </a:xfrm>
          <a:prstGeom prst="ellipse">
            <a:avLst/>
          </a:prstGeom>
          <a:solidFill>
            <a:srgbClr val="EE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12648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 UI"/>
              </a:rPr>
              <a:t>細胞の中のオレンジ色＝ミトコンドリア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377440"/>
            <a:ext cx="5577840" cy="4023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・食べ物と、呼吸で取り入れた酸素から、体を動かすエネルギーを作る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・1つの細胞に数百〜数千個ある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・年齢とともに働きがゆっくりになりやすい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・深い呼吸・体を動かすこと・よく眠ることが、発電所の味方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2B2350"/>
                </a:solidFill>
                <a:latin typeface="Meiryo UI"/>
              </a:rPr>
              <a:t>② 細胞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11064240" cy="73152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200" b="1">
                <a:solidFill>
                  <a:srgbClr val="2B2350"/>
                </a:solidFill>
                <a:latin typeface="Meiryo UI"/>
              </a:rPr>
              <a:t>体は約37兆個の細胞でできている</a:t>
            </a:r>
          </a:p>
        </p:txBody>
      </p:sp>
      <p:sp>
        <p:nvSpPr>
          <p:cNvPr id="4" name="Hexagon 3"/>
          <p:cNvSpPr/>
          <p:nvPr/>
        </p:nvSpPr>
        <p:spPr>
          <a:xfrm>
            <a:off x="731520" y="2377440"/>
            <a:ext cx="914400" cy="822960"/>
          </a:xfrm>
          <a:prstGeom prst="hexagon">
            <a:avLst/>
          </a:prstGeom>
          <a:solidFill>
            <a:srgbClr val="FBE9E7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1645920" y="2377440"/>
            <a:ext cx="914400" cy="822960"/>
          </a:xfrm>
          <a:prstGeom prst="hexagon">
            <a:avLst/>
          </a:prstGeom>
          <a:solidFill>
            <a:srgbClr val="FDEBD3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2560320" y="2377440"/>
            <a:ext cx="914400" cy="822960"/>
          </a:xfrm>
          <a:prstGeom prst="hexagon">
            <a:avLst/>
          </a:prstGeom>
          <a:solidFill>
            <a:srgbClr val="FFF6CC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3474720" y="2377440"/>
            <a:ext cx="914400" cy="822960"/>
          </a:xfrm>
          <a:prstGeom prst="hexagon">
            <a:avLst/>
          </a:prstGeom>
          <a:solidFill>
            <a:srgbClr val="E3F2E5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4389120" y="2377440"/>
            <a:ext cx="914400" cy="822960"/>
          </a:xfrm>
          <a:prstGeom prst="hexagon">
            <a:avLst/>
          </a:prstGeom>
          <a:solidFill>
            <a:srgbClr val="E1EEF9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1188720" y="3246120"/>
            <a:ext cx="914400" cy="822960"/>
          </a:xfrm>
          <a:prstGeom prst="hexagon">
            <a:avLst/>
          </a:prstGeom>
          <a:solidFill>
            <a:srgbClr val="FDEBD3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xagon 9"/>
          <p:cNvSpPr/>
          <p:nvPr/>
        </p:nvSpPr>
        <p:spPr>
          <a:xfrm>
            <a:off x="2103120" y="3246120"/>
            <a:ext cx="914400" cy="822960"/>
          </a:xfrm>
          <a:prstGeom prst="hexagon">
            <a:avLst/>
          </a:prstGeom>
          <a:solidFill>
            <a:srgbClr val="FFF6CC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3017520" y="3246120"/>
            <a:ext cx="914400" cy="822960"/>
          </a:xfrm>
          <a:prstGeom prst="hexagon">
            <a:avLst/>
          </a:prstGeom>
          <a:solidFill>
            <a:srgbClr val="E3F2E5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3931920" y="3246120"/>
            <a:ext cx="914400" cy="822960"/>
          </a:xfrm>
          <a:prstGeom prst="hexagon">
            <a:avLst/>
          </a:prstGeom>
          <a:solidFill>
            <a:srgbClr val="E1EEF9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4846320" y="3246120"/>
            <a:ext cx="914400" cy="822960"/>
          </a:xfrm>
          <a:prstGeom prst="hexagon">
            <a:avLst/>
          </a:prstGeom>
          <a:solidFill>
            <a:srgbClr val="FBE9E7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731520" y="4114800"/>
            <a:ext cx="914400" cy="822960"/>
          </a:xfrm>
          <a:prstGeom prst="hexagon">
            <a:avLst/>
          </a:prstGeom>
          <a:solidFill>
            <a:srgbClr val="FFF6CC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1645920" y="4114800"/>
            <a:ext cx="914400" cy="822960"/>
          </a:xfrm>
          <a:prstGeom prst="hexagon">
            <a:avLst/>
          </a:prstGeom>
          <a:solidFill>
            <a:srgbClr val="E3F2E5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2560320" y="4114800"/>
            <a:ext cx="914400" cy="822960"/>
          </a:xfrm>
          <a:prstGeom prst="hexagon">
            <a:avLst/>
          </a:prstGeom>
          <a:solidFill>
            <a:srgbClr val="E1EEF9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3474720" y="4114800"/>
            <a:ext cx="914400" cy="822960"/>
          </a:xfrm>
          <a:prstGeom prst="hexagon">
            <a:avLst/>
          </a:prstGeom>
          <a:solidFill>
            <a:srgbClr val="FBE9E7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4389120" y="4114800"/>
            <a:ext cx="914400" cy="822960"/>
          </a:xfrm>
          <a:prstGeom prst="hexagon">
            <a:avLst/>
          </a:prstGeom>
          <a:solidFill>
            <a:srgbClr val="FDEBD3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1188720" y="4983479"/>
            <a:ext cx="914400" cy="822960"/>
          </a:xfrm>
          <a:prstGeom prst="hexagon">
            <a:avLst/>
          </a:prstGeom>
          <a:solidFill>
            <a:srgbClr val="E3F2E5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2103120" y="4983479"/>
            <a:ext cx="914400" cy="822960"/>
          </a:xfrm>
          <a:prstGeom prst="hexagon">
            <a:avLst/>
          </a:prstGeom>
          <a:solidFill>
            <a:srgbClr val="E1EEF9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3017520" y="4983479"/>
            <a:ext cx="914400" cy="822960"/>
          </a:xfrm>
          <a:prstGeom prst="hexagon">
            <a:avLst/>
          </a:prstGeom>
          <a:solidFill>
            <a:srgbClr val="FBE9E7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3931920" y="4983479"/>
            <a:ext cx="914400" cy="822960"/>
          </a:xfrm>
          <a:prstGeom prst="hexagon">
            <a:avLst/>
          </a:prstGeom>
          <a:solidFill>
            <a:srgbClr val="FDEBD3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4846320" y="4983479"/>
            <a:ext cx="914400" cy="822960"/>
          </a:xfrm>
          <a:prstGeom prst="hexagon">
            <a:avLst/>
          </a:prstGeom>
          <a:solidFill>
            <a:srgbClr val="FFF6CC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9436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 UI"/>
              </a:rPr>
              <a:t>体は小さな細胞が集まってできている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2377440"/>
            <a:ext cx="5577840" cy="4023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・肺も、血管も、筋肉も、みんな細胞の集まり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・細胞は毎日少しずつ新しく入れ替わっている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・発電所（ミトコンドリア）が元気だと、細胞も元気に働ける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・新しく生まれる細胞に「元気」を届けるイメージで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2B2350"/>
                </a:solidFill>
                <a:latin typeface="Meiryo UI"/>
              </a:rPr>
              <a:t>③ テストステロン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11064240" cy="73152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200" b="1">
                <a:solidFill>
                  <a:srgbClr val="2B2350"/>
                </a:solidFill>
                <a:latin typeface="Meiryo UI"/>
              </a:rPr>
              <a:t>男性の元気を支えるホルモン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2377440"/>
            <a:ext cx="4572000" cy="3840480"/>
          </a:xfrm>
          <a:prstGeom prst="ellipse">
            <a:avLst/>
          </a:prstGeom>
          <a:solidFill>
            <a:srgbClr val="E1EE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103120" y="3611880"/>
            <a:ext cx="2011680" cy="1280160"/>
          </a:xfrm>
          <a:prstGeom prst="ellipse">
            <a:avLst/>
          </a:prstGeom>
          <a:solidFill>
            <a:srgbClr val="2B2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</a:rPr>
              <a:t>テストステロン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697480"/>
            <a:ext cx="1737360" cy="685800"/>
          </a:xfrm>
          <a:prstGeom prst="roundRect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>
                <a:solidFill>
                  <a:srgbClr val="FFFFFF"/>
                </a:solidFill>
                <a:latin typeface="Meiryo UI"/>
              </a:rPr>
              <a:t>やる気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697480"/>
            <a:ext cx="1737360" cy="685800"/>
          </a:xfrm>
          <a:prstGeom prst="roundRect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>
                <a:solidFill>
                  <a:srgbClr val="FFFFFF"/>
                </a:solidFill>
                <a:latin typeface="Meiryo UI"/>
              </a:rPr>
              <a:t>筋肉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5074920"/>
            <a:ext cx="1737360" cy="685800"/>
          </a:xfrm>
          <a:prstGeom prst="roundRect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>
                <a:solidFill>
                  <a:srgbClr val="FFFFFF"/>
                </a:solidFill>
                <a:latin typeface="Meiryo UI"/>
              </a:rPr>
              <a:t>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5074920"/>
            <a:ext cx="1737360" cy="685800"/>
          </a:xfrm>
          <a:prstGeom prst="roundRect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>
                <a:solidFill>
                  <a:srgbClr val="FFFFFF"/>
                </a:solidFill>
                <a:latin typeface="Meiryo UI"/>
              </a:rPr>
              <a:t>朝の元気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377440"/>
            <a:ext cx="5577840" cy="4023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・やる気・筋肉・骨・朝の元気に関わっている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・年齢とともに少しずつ減っていく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・よく眠る・足腰を使う・ためこまないことが支えになる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・エネルギーを「封入」＝体の中にしっかり閉じこめるイメージ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2B2350"/>
                </a:solidFill>
                <a:latin typeface="Meiryo UI"/>
              </a:rPr>
              <a:t>④ 血流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11064240" cy="73152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200" b="1">
                <a:solidFill>
                  <a:srgbClr val="2B2350"/>
                </a:solidFill>
                <a:latin typeface="Meiryo UI"/>
              </a:rPr>
              <a:t>血液は、酸素と栄養を運ぶ「宅配便」</a:t>
            </a:r>
          </a:p>
        </p:txBody>
      </p:sp>
      <p:sp>
        <p:nvSpPr>
          <p:cNvPr id="4" name="Oval 3"/>
          <p:cNvSpPr/>
          <p:nvPr/>
        </p:nvSpPr>
        <p:spPr>
          <a:xfrm>
            <a:off x="2103120" y="2286000"/>
            <a:ext cx="2011680" cy="1005840"/>
          </a:xfrm>
          <a:prstGeom prst="ellipse">
            <a:avLst/>
          </a:prstGeom>
          <a:solidFill>
            <a:srgbClr val="3D8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000" b="1">
                <a:solidFill>
                  <a:srgbClr val="FFFFFF"/>
                </a:solidFill>
                <a:latin typeface="Meiryo UI"/>
              </a:rPr>
              <a:t>肺</a:t>
            </a:r>
          </a:p>
        </p:txBody>
      </p:sp>
      <p:sp>
        <p:nvSpPr>
          <p:cNvPr id="5" name="Heart 4"/>
          <p:cNvSpPr/>
          <p:nvPr/>
        </p:nvSpPr>
        <p:spPr>
          <a:xfrm>
            <a:off x="2240280" y="3657600"/>
            <a:ext cx="1737360" cy="1463040"/>
          </a:xfrm>
          <a:prstGeom prst="heart">
            <a:avLst/>
          </a:prstGeom>
          <a:solidFill>
            <a:srgbClr val="D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600" b="1">
                <a:solidFill>
                  <a:srgbClr val="FFFFFF"/>
                </a:solidFill>
                <a:latin typeface="Meiryo UI"/>
              </a:rPr>
              <a:t>心臓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5486400"/>
            <a:ext cx="3840480" cy="731520"/>
          </a:xfrm>
          <a:prstGeom prst="roundRect">
            <a:avLst/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600" b="1">
                <a:solidFill>
                  <a:srgbClr val="2A2A2A"/>
                </a:solidFill>
                <a:latin typeface="Meiryo UI"/>
              </a:rPr>
              <a:t>全身（足の先・下腹まで）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43200" y="3337560"/>
            <a:ext cx="0" cy="320040"/>
          </a:xfrm>
          <a:prstGeom prst="line">
            <a:avLst/>
          </a:prstGeom>
          <a:ln w="38100">
            <a:solidFill>
              <a:srgbClr val="3D8F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3474720" y="3337560"/>
            <a:ext cx="0" cy="320040"/>
          </a:xfrm>
          <a:prstGeom prst="line">
            <a:avLst/>
          </a:prstGeom>
          <a:ln w="38100">
            <a:solidFill>
              <a:srgbClr val="3D8F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743200" y="5138928"/>
            <a:ext cx="0" cy="329184"/>
          </a:xfrm>
          <a:prstGeom prst="line">
            <a:avLst/>
          </a:prstGeom>
          <a:ln w="38100">
            <a:solidFill>
              <a:srgbClr val="D9443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3474720" y="5138928"/>
            <a:ext cx="0" cy="329184"/>
          </a:xfrm>
          <a:prstGeom prst="line">
            <a:avLst/>
          </a:prstGeom>
          <a:ln w="38100">
            <a:solidFill>
              <a:srgbClr val="D9443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035040" y="2377440"/>
            <a:ext cx="5577840" cy="4023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・肺で酸素を受け取り、心臓が全身へ送り出す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・血の巡りが良いと、体のすみずみまで元気が届く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・朝の元気も、血の巡りのサインのひとつ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・深呼吸で酸素をたっぷり → 巡りにのせて全身へ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2B2350"/>
                </a:solidFill>
                <a:latin typeface="Meiryo UI"/>
              </a:rPr>
              <a:t>⑤ 自律神経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11064240" cy="73152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200" b="1">
                <a:solidFill>
                  <a:srgbClr val="2B2350"/>
                </a:solidFill>
                <a:latin typeface="Meiryo UI"/>
              </a:rPr>
              <a:t>体のアクセルとブレーキ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77440"/>
            <a:ext cx="2194560" cy="1188720"/>
          </a:xfrm>
          <a:prstGeom prst="roundRect">
            <a:avLst/>
          </a:prstGeom>
          <a:solidFill>
            <a:srgbClr val="D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>
                <a:solidFill>
                  <a:srgbClr val="FFFFFF"/>
                </a:solidFill>
                <a:latin typeface="Meiryo UI"/>
              </a:rPr>
              <a:t>アクセル</a:t>
            </a:r>
          </a:p>
          <a:p>
            <a:pPr algn="ctr"/>
            <a:r>
              <a:rPr sz="1800" b="1">
                <a:solidFill>
                  <a:srgbClr val="FFFFFF"/>
                </a:solidFill>
                <a:latin typeface="Meiryo UI"/>
              </a:rPr>
              <a:t>（活動）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2377440"/>
            <a:ext cx="2194560" cy="1188720"/>
          </a:xfrm>
          <a:prstGeom prst="roundRect">
            <a:avLst/>
          </a:prstGeom>
          <a:solidFill>
            <a:srgbClr val="3D8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>
                <a:solidFill>
                  <a:srgbClr val="FFFFFF"/>
                </a:solidFill>
                <a:latin typeface="Meiryo UI"/>
              </a:rPr>
              <a:t>ブレーキ</a:t>
            </a:r>
          </a:p>
          <a:p>
            <a:pPr algn="ctr"/>
            <a:r>
              <a:rPr sz="1800" b="1">
                <a:solidFill>
                  <a:srgbClr val="FFFFFF"/>
                </a:solidFill>
                <a:latin typeface="Meiryo UI"/>
              </a:rPr>
              <a:t>（休む）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46634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2A2A2A"/>
                </a:solidFill>
                <a:latin typeface="Meiryo UI"/>
              </a:rPr>
              <a:t>どちらも大事。切り替え上手が元気な体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572000"/>
            <a:ext cx="4663440" cy="182880"/>
          </a:xfrm>
          <a:prstGeom prst="rect">
            <a:avLst/>
          </a:prstGeom>
          <a:solidFill>
            <a:srgbClr val="2B2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>
            <a:off x="2788920" y="4754880"/>
            <a:ext cx="731520" cy="640080"/>
          </a:xfrm>
          <a:prstGeom prst="triangl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577840"/>
            <a:ext cx="46634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3D8FD1"/>
                </a:solidFill>
                <a:latin typeface="Meiryo UI"/>
              </a:rPr>
              <a:t>ゆっくり吐く深呼吸 → ブレーキ側へ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377440"/>
            <a:ext cx="5577840" cy="4023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・呼吸・心臓・血管・胃腸・眠りを自動で調整している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・昼はアクセル、夜はブレーキに切り替わるのが理想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・呼吸だけは、自分の意思でととのえられる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・最後に全体をととのえて、バランスよく仕上げる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2B2350"/>
                </a:solidFill>
                <a:latin typeface="Meiryo UI"/>
              </a:rPr>
              <a:t>チャクラとは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 UI"/>
              </a:rPr>
              <a:t>体にある7つのエネルギーの出入り口</a:t>
            </a:r>
          </a:p>
        </p:txBody>
      </p:sp>
      <p:sp>
        <p:nvSpPr>
          <p:cNvPr id="4" name="Oval 3"/>
          <p:cNvSpPr/>
          <p:nvPr/>
        </p:nvSpPr>
        <p:spPr>
          <a:xfrm>
            <a:off x="2240280" y="1600200"/>
            <a:ext cx="1005840" cy="1143000"/>
          </a:xfrm>
          <a:prstGeom prst="ellipse">
            <a:avLst/>
          </a:prstGeom>
          <a:solidFill>
            <a:srgbClr val="EDE7F6"/>
          </a:solidFill>
          <a:ln w="19050">
            <a:solidFill>
              <a:srgbClr val="B9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28800" y="2788920"/>
            <a:ext cx="1828800" cy="2468880"/>
          </a:xfrm>
          <a:prstGeom prst="roundRect">
            <a:avLst/>
          </a:prstGeom>
          <a:solidFill>
            <a:srgbClr val="EDE7F6"/>
          </a:solidFill>
          <a:ln w="19050">
            <a:solidFill>
              <a:srgbClr val="B9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74519" y="5212080"/>
            <a:ext cx="777240" cy="1371600"/>
          </a:xfrm>
          <a:prstGeom prst="roundRect">
            <a:avLst/>
          </a:prstGeom>
          <a:solidFill>
            <a:srgbClr val="EDE7F6"/>
          </a:solidFill>
          <a:ln w="19050">
            <a:solidFill>
              <a:srgbClr val="B9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34640" y="5212080"/>
            <a:ext cx="777240" cy="1371600"/>
          </a:xfrm>
          <a:prstGeom prst="roundRect">
            <a:avLst/>
          </a:prstGeom>
          <a:solidFill>
            <a:srgbClr val="EDE7F6"/>
          </a:solidFill>
          <a:ln w="19050">
            <a:solidFill>
              <a:srgbClr val="B9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14600" y="4754880"/>
            <a:ext cx="457200" cy="457200"/>
          </a:xfrm>
          <a:prstGeom prst="ellipse">
            <a:avLst/>
          </a:prstGeom>
          <a:solidFill>
            <a:srgbClr val="D9443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5550408"/>
            <a:ext cx="40233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9443B"/>
                </a:solidFill>
                <a:latin typeface="Meiryo UI"/>
              </a:rPr>
              <a:t>第1　尾てい骨のあたり</a:t>
            </a:r>
          </a:p>
        </p:txBody>
      </p:sp>
      <p:sp>
        <p:nvSpPr>
          <p:cNvPr id="10" name="Oval 9"/>
          <p:cNvSpPr/>
          <p:nvPr/>
        </p:nvSpPr>
        <p:spPr>
          <a:xfrm>
            <a:off x="2514600" y="4206240"/>
            <a:ext cx="457200" cy="457200"/>
          </a:xfrm>
          <a:prstGeom prst="ellipse">
            <a:avLst/>
          </a:prstGeom>
          <a:solidFill>
            <a:srgbClr val="EE8A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4892040"/>
            <a:ext cx="40233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EE8A2E"/>
                </a:solidFill>
                <a:latin typeface="Meiryo UI"/>
              </a:rPr>
              <a:t>第2　おへその下（下腹）</a:t>
            </a:r>
          </a:p>
        </p:txBody>
      </p:sp>
      <p:sp>
        <p:nvSpPr>
          <p:cNvPr id="12" name="Oval 11"/>
          <p:cNvSpPr/>
          <p:nvPr/>
        </p:nvSpPr>
        <p:spPr>
          <a:xfrm>
            <a:off x="2514600" y="3657600"/>
            <a:ext cx="457200" cy="457200"/>
          </a:xfrm>
          <a:prstGeom prst="ellipse">
            <a:avLst/>
          </a:prstGeom>
          <a:solidFill>
            <a:srgbClr val="E8C21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4233672"/>
            <a:ext cx="40233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E8C21F"/>
                </a:solidFill>
                <a:latin typeface="Meiryo UI"/>
              </a:rPr>
              <a:t>第3　みぞおち</a:t>
            </a:r>
          </a:p>
        </p:txBody>
      </p:sp>
      <p:sp>
        <p:nvSpPr>
          <p:cNvPr id="14" name="Oval 13"/>
          <p:cNvSpPr/>
          <p:nvPr/>
        </p:nvSpPr>
        <p:spPr>
          <a:xfrm>
            <a:off x="2578608" y="3172968"/>
            <a:ext cx="329184" cy="329184"/>
          </a:xfrm>
          <a:prstGeom prst="ellipse">
            <a:avLst/>
          </a:prstGeom>
          <a:solidFill>
            <a:srgbClr val="4FA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3575304"/>
            <a:ext cx="40233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 UI"/>
              </a:rPr>
              <a:t>第4　胸のまんなか</a:t>
            </a:r>
          </a:p>
        </p:txBody>
      </p:sp>
      <p:sp>
        <p:nvSpPr>
          <p:cNvPr id="16" name="Oval 15"/>
          <p:cNvSpPr/>
          <p:nvPr/>
        </p:nvSpPr>
        <p:spPr>
          <a:xfrm>
            <a:off x="2578608" y="2670048"/>
            <a:ext cx="329184" cy="329184"/>
          </a:xfrm>
          <a:prstGeom prst="ellipse">
            <a:avLst/>
          </a:prstGeom>
          <a:solidFill>
            <a:srgbClr val="3D8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2916936"/>
            <a:ext cx="40233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 UI"/>
              </a:rPr>
              <a:t>第5　のど</a:t>
            </a:r>
          </a:p>
        </p:txBody>
      </p:sp>
      <p:sp>
        <p:nvSpPr>
          <p:cNvPr id="18" name="Oval 17"/>
          <p:cNvSpPr/>
          <p:nvPr/>
        </p:nvSpPr>
        <p:spPr>
          <a:xfrm>
            <a:off x="2578608" y="2075688"/>
            <a:ext cx="329184" cy="329184"/>
          </a:xfrm>
          <a:prstGeom prst="ellipse">
            <a:avLst/>
          </a:prstGeom>
          <a:solidFill>
            <a:srgbClr val="4B4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2258568"/>
            <a:ext cx="40233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 UI"/>
              </a:rPr>
              <a:t>第6　眉間</a:t>
            </a:r>
          </a:p>
        </p:txBody>
      </p:sp>
      <p:sp>
        <p:nvSpPr>
          <p:cNvPr id="20" name="Oval 19"/>
          <p:cNvSpPr/>
          <p:nvPr/>
        </p:nvSpPr>
        <p:spPr>
          <a:xfrm>
            <a:off x="2578608" y="1618488"/>
            <a:ext cx="329184" cy="329184"/>
          </a:xfrm>
          <a:prstGeom prst="ellipse">
            <a:avLst/>
          </a:prstGeom>
          <a:solidFill>
            <a:srgbClr val="8E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1600200"/>
            <a:ext cx="40233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 UI"/>
              </a:rPr>
              <a:t>第7　頭のてっぺん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78240" y="3794760"/>
            <a:ext cx="2834640" cy="173736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000" b="1">
                <a:solidFill>
                  <a:srgbClr val="2B2350"/>
                </a:solidFill>
                <a:latin typeface="Meiryo UI"/>
              </a:rPr>
              <a:t>川越さんは</a:t>
            </a:r>
          </a:p>
          <a:p>
            <a:pPr algn="ctr"/>
            <a:r>
              <a:rPr sz="2000" b="1">
                <a:solidFill>
                  <a:srgbClr val="2B2350"/>
                </a:solidFill>
                <a:latin typeface="Meiryo UI"/>
              </a:rPr>
              <a:t>第1〜第3を</a:t>
            </a:r>
          </a:p>
          <a:p>
            <a:pPr algn="ctr"/>
            <a:r>
              <a:rPr sz="2000" b="1">
                <a:solidFill>
                  <a:srgbClr val="2B2350"/>
                </a:solidFill>
                <a:latin typeface="Meiryo UI"/>
              </a:rPr>
              <a:t>中心に育てます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2B2350"/>
                </a:solidFill>
                <a:latin typeface="Meiryo UI"/>
              </a:rPr>
              <a:t>第1〜第3チャクラ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 UI"/>
              </a:rPr>
              <a:t>体の下の3つ＝生きる力の土台（一般的な考え方）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520440" cy="457200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83080" y="1965960"/>
            <a:ext cx="1051560" cy="1051560"/>
          </a:xfrm>
          <a:prstGeom prst="ellipse">
            <a:avLst/>
          </a:prstGeom>
          <a:solidFill>
            <a:srgbClr val="D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3000" b="1">
                <a:solidFill>
                  <a:srgbClr val="FFFFFF"/>
                </a:solidFill>
                <a:latin typeface="Meiryo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2B2350"/>
                </a:solidFill>
                <a:latin typeface="Meiryo UI"/>
              </a:rPr>
              <a:t>第1チャクラ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3154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 UI"/>
              </a:rPr>
              <a:t>尾てい骨のあたり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343400"/>
            <a:ext cx="292608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・生きる力・安心感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・足腰・大地とのつながり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737360"/>
            <a:ext cx="3520440" cy="457200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77840" y="1965960"/>
            <a:ext cx="1051560" cy="1051560"/>
          </a:xfrm>
          <a:prstGeom prst="ellipse">
            <a:avLst/>
          </a:prstGeom>
          <a:solidFill>
            <a:srgbClr val="EE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3000" b="1">
                <a:solidFill>
                  <a:srgbClr val="FFFFFF"/>
                </a:solidFill>
                <a:latin typeface="Meiryo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3154680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2B2350"/>
                </a:solidFill>
                <a:latin typeface="Meiryo UI"/>
              </a:rPr>
              <a:t>第2チャクラ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703320"/>
            <a:ext cx="3154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 UI"/>
              </a:rPr>
              <a:t>おへその下（下腹）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4343400"/>
            <a:ext cx="292608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・男性としての元気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・喜び・楽しむ力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737360"/>
            <a:ext cx="3520440" cy="457200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72600" y="1965960"/>
            <a:ext cx="1051560" cy="1051560"/>
          </a:xfrm>
          <a:prstGeom prst="ellipse">
            <a:avLst/>
          </a:prstGeom>
          <a:solidFill>
            <a:srgbClr val="E8C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3000" b="1">
                <a:solidFill>
                  <a:srgbClr val="FFFFFF"/>
                </a:solidFill>
                <a:latin typeface="Meiryo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154680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2B2350"/>
                </a:solidFill>
                <a:latin typeface="Meiryo UI"/>
              </a:rPr>
              <a:t>第3チャクラ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703320"/>
            <a:ext cx="3154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 UI"/>
              </a:rPr>
              <a:t>みぞおち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4343400"/>
            <a:ext cx="292608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・自信・意志の力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・消化・横隔膜（呼吸）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2B2350"/>
                </a:solidFill>
                <a:latin typeface="Meiryo UI"/>
              </a:rPr>
              <a:t>チャクラを育てるやり方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 UI"/>
              </a:rPr>
              <a:t>一つずつ、順番に活性化していきます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828800"/>
            <a:ext cx="914400" cy="914400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600" b="1">
                <a:solidFill>
                  <a:srgbClr val="FFFFFF"/>
                </a:solidFill>
                <a:latin typeface="Meiryo UI"/>
              </a:rPr>
              <a:t>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19" y="1691640"/>
            <a:ext cx="4389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B2350"/>
                </a:solidFill>
                <a:latin typeface="Meiryo UI"/>
              </a:rPr>
              <a:t>光の手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19" y="2148840"/>
            <a:ext cx="4389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A2A2A"/>
                </a:solidFill>
                <a:latin typeface="Meiryo UI"/>
              </a:rPr>
              <a:t>手にタマラをコーティングして「光の手」に変える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429000"/>
            <a:ext cx="914400" cy="914400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600" b="1">
                <a:solidFill>
                  <a:srgbClr val="FFFFFF"/>
                </a:solidFill>
                <a:latin typeface="Meiryo UI"/>
              </a:rPr>
              <a:t>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19" y="3291840"/>
            <a:ext cx="4389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B2350"/>
                </a:solidFill>
                <a:latin typeface="Meiryo UI"/>
              </a:rPr>
              <a:t>取り出す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19" y="3749039"/>
            <a:ext cx="4389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A2A2A"/>
                </a:solidFill>
                <a:latin typeface="Meiryo UI"/>
              </a:rPr>
              <a:t>チャクラに向かって「チャクラさん、教えてください」と声をかけ、手の上に取り出す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5029200"/>
            <a:ext cx="914400" cy="914400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600" b="1">
                <a:solidFill>
                  <a:srgbClr val="FFFFFF"/>
                </a:solidFill>
                <a:latin typeface="Meiryo UI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19" y="4892040"/>
            <a:ext cx="4389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B2350"/>
                </a:solidFill>
                <a:latin typeface="Meiryo UI"/>
              </a:rPr>
              <a:t>形を見る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19" y="5349240"/>
            <a:ext cx="4389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A2A2A"/>
                </a:solidFill>
                <a:latin typeface="Meiryo UI"/>
              </a:rPr>
              <a:t>チャクラがどんな形か想像する（人によっても、チャクラによっても違います）</a:t>
            </a:r>
          </a:p>
        </p:txBody>
      </p:sp>
      <p:sp>
        <p:nvSpPr>
          <p:cNvPr id="13" name="Oval 12"/>
          <p:cNvSpPr/>
          <p:nvPr/>
        </p:nvSpPr>
        <p:spPr>
          <a:xfrm>
            <a:off x="6217920" y="1828800"/>
            <a:ext cx="914400" cy="914400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600" b="1">
                <a:solidFill>
                  <a:srgbClr val="FFFFFF"/>
                </a:solidFill>
                <a:latin typeface="Meiryo UI"/>
              </a:rPr>
              <a:t>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1691640"/>
            <a:ext cx="4389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B2350"/>
                </a:solidFill>
                <a:latin typeface="Meiryo UI"/>
              </a:rPr>
              <a:t>質問する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148840"/>
            <a:ext cx="4389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A2A2A"/>
                </a:solidFill>
                <a:latin typeface="Meiryo UI"/>
              </a:rPr>
              <a:t>「はい・いいえ」で答えられる質問をする（例：元気？　さみしい？）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0" y="3429000"/>
            <a:ext cx="914400" cy="914400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600" b="1">
                <a:solidFill>
                  <a:srgbClr val="FFFFFF"/>
                </a:solidFill>
                <a:latin typeface="Meiryo UI"/>
              </a:rPr>
              <a:t>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291840"/>
            <a:ext cx="4389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B2350"/>
                </a:solidFill>
                <a:latin typeface="Meiryo UI"/>
              </a:rPr>
              <a:t>送る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3749039"/>
            <a:ext cx="4389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A2A2A"/>
                </a:solidFill>
                <a:latin typeface="Meiryo UI"/>
              </a:rPr>
              <a:t>「エネルギーを送るね」と、エネルギーを送る</a:t>
            </a:r>
          </a:p>
        </p:txBody>
      </p:sp>
      <p:sp>
        <p:nvSpPr>
          <p:cNvPr id="19" name="Oval 18"/>
          <p:cNvSpPr/>
          <p:nvPr/>
        </p:nvSpPr>
        <p:spPr>
          <a:xfrm>
            <a:off x="6217920" y="5029200"/>
            <a:ext cx="914400" cy="914400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600" b="1">
                <a:solidFill>
                  <a:srgbClr val="FFFFFF"/>
                </a:solidFill>
                <a:latin typeface="Meiryo UI"/>
              </a:rPr>
              <a:t>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892040"/>
            <a:ext cx="4389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B2350"/>
                </a:solidFill>
                <a:latin typeface="Meiryo UI"/>
              </a:rPr>
              <a:t>戻す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5349240"/>
            <a:ext cx="4389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A2A2A"/>
                </a:solidFill>
                <a:latin typeface="Meiryo UI"/>
              </a:rPr>
              <a:t>「教えてくれてありがとう」と、元の位置に戻す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3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Meiryo UI"/>
              </a:rPr>
              <a:t>毎日の宿題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63040"/>
            <a:ext cx="731520" cy="731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46304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FFFFFF"/>
                </a:solidFill>
                <a:latin typeface="Meiryo UI"/>
              </a:rPr>
              <a:t>朝と夜：リチャージ ＋ 第1〜第3チャクラを育てる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731520" cy="731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51460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FFFFFF"/>
                </a:solidFill>
                <a:latin typeface="Meiryo UI"/>
              </a:rPr>
              <a:t>朝：深呼吸してから起き上がる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566160"/>
            <a:ext cx="731520" cy="731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3566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FFFFFF"/>
                </a:solidFill>
                <a:latin typeface="Meiryo UI"/>
              </a:rPr>
              <a:t>ヒーリングの前と後で、酸素の数値（サチュレーション）を測ってメモ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617720"/>
            <a:ext cx="731520" cy="731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61772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FFFFFF"/>
                </a:solidFill>
                <a:latin typeface="Meiryo UI"/>
              </a:rPr>
              <a:t>肺のレントゲン写真を送る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106070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8D2EC"/>
                </a:solidFill>
                <a:latin typeface="Meiryo UI"/>
              </a:rPr>
              <a:t>※ このセッションは医療の代わりではありません。治療やお薬のことは、主治医の先生の指示を一番に優先してください。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
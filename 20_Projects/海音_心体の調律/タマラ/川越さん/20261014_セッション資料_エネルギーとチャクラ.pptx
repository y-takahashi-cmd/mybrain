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731520"/>
            <a:ext cx="502920" cy="502920"/>
          </a:xfrm>
          <a:prstGeom prst="ellipse">
            <a:avLst/>
          </a:prstGeom>
          <a:solidFill>
            <a:srgbClr val="8E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508760"/>
            <a:ext cx="502920" cy="502920"/>
          </a:xfrm>
          <a:prstGeom prst="ellipse">
            <a:avLst/>
          </a:prstGeom>
          <a:solidFill>
            <a:srgbClr val="4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286000"/>
            <a:ext cx="502920" cy="50292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063239"/>
            <a:ext cx="502920" cy="502920"/>
          </a:xfrm>
          <a:prstGeom prst="ellipse">
            <a:avLst/>
          </a:prstGeom>
          <a:solidFill>
            <a:srgbClr val="4F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3840480"/>
            <a:ext cx="502920" cy="502920"/>
          </a:xfrm>
          <a:prstGeom prst="ellipse">
            <a:avLst/>
          </a:prstGeom>
          <a:solidFill>
            <a:srgbClr val="E8C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4617720"/>
            <a:ext cx="502920" cy="50292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0" y="5394959"/>
            <a:ext cx="502920" cy="50292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8229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D8D2EC"/>
                </a:solidFill>
                <a:latin typeface="Meiryo UI"/>
              </a:rPr>
              <a:t>川越 昭 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eiryo UI"/>
              </a:rPr>
              <a:t>エネルギーとチャクラ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8D2EC"/>
                </a:solidFill>
                <a:latin typeface="Meiryo UI"/>
              </a:rPr>
              <a:t>2026年10月14日 セッション資料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7498079" cy="82296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/>
              </a:rPr>
              <a:t>めざす姿：100歳まで元気に。朝の元気が戻る体へ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エネルギーを入れる順番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この順番で、毎日くり返します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2011680"/>
            <a:ext cx="822960" cy="82296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63240"/>
            <a:ext cx="2011680" cy="155448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ミトコンドリア</a:t>
            </a:r>
          </a:p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活性化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78608" y="3840480"/>
            <a:ext cx="237744" cy="0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429000" y="2011680"/>
            <a:ext cx="822960" cy="82296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063240"/>
            <a:ext cx="2011680" cy="155448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細胞</a:t>
            </a:r>
          </a:p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活性化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64608" y="3840480"/>
            <a:ext cx="237744" cy="0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715000" y="2011680"/>
            <a:ext cx="822960" cy="82296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063240"/>
            <a:ext cx="2011680" cy="155448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テストステロン</a:t>
            </a:r>
          </a:p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封入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50608" y="3840480"/>
            <a:ext cx="237744" cy="0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001000" y="2011680"/>
            <a:ext cx="822960" cy="82296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063240"/>
            <a:ext cx="2011680" cy="155448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血流</a:t>
            </a:r>
          </a:p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増加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36608" y="3840480"/>
            <a:ext cx="237744" cy="0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287000" y="2011680"/>
            <a:ext cx="822960" cy="82296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3063240"/>
            <a:ext cx="2011680" cy="155448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自律神経</a:t>
            </a:r>
          </a:p>
          <a:p>
            <a:pPr algn="ctr"/>
            <a:r>
              <a:rPr sz="1900" b="1">
                <a:solidFill>
                  <a:srgbClr val="2B2350"/>
                </a:solidFill>
                <a:latin typeface="Meiryo UI"/>
              </a:rPr>
              <a:t>調律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土台（細胞の発電所）から始めて、体全体の巡り、最後に心と体のバランスへ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① ミトコンドリア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64240" cy="73152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2B2350"/>
                </a:solidFill>
                <a:latin typeface="Meiryo UI"/>
              </a:rPr>
              <a:t>細胞の中にある「元気の発電所」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286000"/>
            <a:ext cx="4572000" cy="3749039"/>
          </a:xfrm>
          <a:prstGeom prst="ellipse">
            <a:avLst/>
          </a:prstGeom>
          <a:solidFill>
            <a:srgbClr val="FBE9E7"/>
          </a:solidFill>
          <a:ln w="19050">
            <a:solidFill>
              <a:srgbClr val="D94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8880" y="3611880"/>
            <a:ext cx="1280160" cy="1097280"/>
          </a:xfrm>
          <a:prstGeom prst="ellipse">
            <a:avLst/>
          </a:prstGeom>
          <a:solidFill>
            <a:srgbClr val="B9A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2B2350"/>
                </a:solidFill>
                <a:latin typeface="Meiryo UI"/>
              </a:rPr>
              <a:t>核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743200"/>
            <a:ext cx="1097280" cy="54864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66160" y="2697480"/>
            <a:ext cx="1097280" cy="54864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4572000"/>
            <a:ext cx="1097280" cy="54864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0" y="4480560"/>
            <a:ext cx="1097280" cy="54864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7440" y="5120640"/>
            <a:ext cx="1097280" cy="54864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 UI"/>
              </a:rPr>
              <a:t>細胞の中のオレンジ色＝ミトコンドリア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77440"/>
            <a:ext cx="55778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・食べ物と、呼吸で取り入れた酸素から、体を動かすエネルギーを作る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・1つの細胞に数百〜数千個ある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・年齢とともに働きがゆっくりになりやすい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・深い呼吸・体を動かすこと・よく眠ることが、発電所の味方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② 細胞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64240" cy="73152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2B2350"/>
                </a:solidFill>
                <a:latin typeface="Meiryo UI"/>
              </a:rPr>
              <a:t>体は約37兆個の細胞でできている</a:t>
            </a:r>
          </a:p>
        </p:txBody>
      </p:sp>
      <p:sp>
        <p:nvSpPr>
          <p:cNvPr id="4" name="Hexagon 3"/>
          <p:cNvSpPr/>
          <p:nvPr/>
        </p:nvSpPr>
        <p:spPr>
          <a:xfrm>
            <a:off x="731520" y="2377440"/>
            <a:ext cx="914400" cy="822960"/>
          </a:xfrm>
          <a:prstGeom prst="hexagon">
            <a:avLst/>
          </a:prstGeom>
          <a:solidFill>
            <a:srgbClr val="FBE9E7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645920" y="2377440"/>
            <a:ext cx="914400" cy="822960"/>
          </a:xfrm>
          <a:prstGeom prst="hexagon">
            <a:avLst/>
          </a:prstGeom>
          <a:solidFill>
            <a:srgbClr val="FDEBD3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2560320" y="2377440"/>
            <a:ext cx="914400" cy="822960"/>
          </a:xfrm>
          <a:prstGeom prst="hexagon">
            <a:avLst/>
          </a:prstGeom>
          <a:solidFill>
            <a:srgbClr val="FFF6CC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3474720" y="2377440"/>
            <a:ext cx="914400" cy="822960"/>
          </a:xfrm>
          <a:prstGeom prst="hexagon">
            <a:avLst/>
          </a:prstGeom>
          <a:solidFill>
            <a:srgbClr val="E3F2E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389120" y="2377440"/>
            <a:ext cx="914400" cy="822960"/>
          </a:xfrm>
          <a:prstGeom prst="hexagon">
            <a:avLst/>
          </a:prstGeom>
          <a:solidFill>
            <a:srgbClr val="E1EEF9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1188720" y="3246120"/>
            <a:ext cx="914400" cy="822960"/>
          </a:xfrm>
          <a:prstGeom prst="hexagon">
            <a:avLst/>
          </a:prstGeom>
          <a:solidFill>
            <a:srgbClr val="FDEBD3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2103120" y="3246120"/>
            <a:ext cx="914400" cy="822960"/>
          </a:xfrm>
          <a:prstGeom prst="hexagon">
            <a:avLst/>
          </a:prstGeom>
          <a:solidFill>
            <a:srgbClr val="FFF6CC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3017520" y="3246120"/>
            <a:ext cx="914400" cy="822960"/>
          </a:xfrm>
          <a:prstGeom prst="hexagon">
            <a:avLst/>
          </a:prstGeom>
          <a:solidFill>
            <a:srgbClr val="E3F2E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3931920" y="3246120"/>
            <a:ext cx="914400" cy="822960"/>
          </a:xfrm>
          <a:prstGeom prst="hexagon">
            <a:avLst/>
          </a:prstGeom>
          <a:solidFill>
            <a:srgbClr val="E1EEF9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4846320" y="3246120"/>
            <a:ext cx="914400" cy="822960"/>
          </a:xfrm>
          <a:prstGeom prst="hexagon">
            <a:avLst/>
          </a:prstGeom>
          <a:solidFill>
            <a:srgbClr val="FBE9E7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731520" y="4114800"/>
            <a:ext cx="914400" cy="822960"/>
          </a:xfrm>
          <a:prstGeom prst="hexagon">
            <a:avLst/>
          </a:prstGeom>
          <a:solidFill>
            <a:srgbClr val="FFF6CC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1645920" y="4114800"/>
            <a:ext cx="914400" cy="822960"/>
          </a:xfrm>
          <a:prstGeom prst="hexagon">
            <a:avLst/>
          </a:prstGeom>
          <a:solidFill>
            <a:srgbClr val="E3F2E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2560320" y="4114800"/>
            <a:ext cx="914400" cy="822960"/>
          </a:xfrm>
          <a:prstGeom prst="hexagon">
            <a:avLst/>
          </a:prstGeom>
          <a:solidFill>
            <a:srgbClr val="E1EEF9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3474720" y="4114800"/>
            <a:ext cx="914400" cy="822960"/>
          </a:xfrm>
          <a:prstGeom prst="hexagon">
            <a:avLst/>
          </a:prstGeom>
          <a:solidFill>
            <a:srgbClr val="FBE9E7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4389120" y="4114800"/>
            <a:ext cx="914400" cy="822960"/>
          </a:xfrm>
          <a:prstGeom prst="hexagon">
            <a:avLst/>
          </a:prstGeom>
          <a:solidFill>
            <a:srgbClr val="FDEBD3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1188720" y="4983479"/>
            <a:ext cx="914400" cy="822960"/>
          </a:xfrm>
          <a:prstGeom prst="hexagon">
            <a:avLst/>
          </a:prstGeom>
          <a:solidFill>
            <a:srgbClr val="E3F2E5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2103120" y="4983479"/>
            <a:ext cx="914400" cy="822960"/>
          </a:xfrm>
          <a:prstGeom prst="hexagon">
            <a:avLst/>
          </a:prstGeom>
          <a:solidFill>
            <a:srgbClr val="E1EEF9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3017520" y="4983479"/>
            <a:ext cx="914400" cy="822960"/>
          </a:xfrm>
          <a:prstGeom prst="hexagon">
            <a:avLst/>
          </a:prstGeom>
          <a:solidFill>
            <a:srgbClr val="FBE9E7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3931920" y="4983479"/>
            <a:ext cx="914400" cy="822960"/>
          </a:xfrm>
          <a:prstGeom prst="hexagon">
            <a:avLst/>
          </a:prstGeom>
          <a:solidFill>
            <a:srgbClr val="FDEBD3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4846320" y="4983479"/>
            <a:ext cx="914400" cy="822960"/>
          </a:xfrm>
          <a:prstGeom prst="hexagon">
            <a:avLst/>
          </a:prstGeom>
          <a:solidFill>
            <a:srgbClr val="FFF6CC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 UI"/>
              </a:rPr>
              <a:t>体は小さな細胞が集まってできている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377440"/>
            <a:ext cx="55778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・肺も、血管も、筋肉も、みんな細胞の集まり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・細胞は毎日少しずつ新しく入れ替わっている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・発電所（ミトコンドリア）が元気だと、細胞も元気に働ける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・新しく生まれる細胞に「元気」を届けるイメージで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③ テストステロン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64240" cy="73152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2B2350"/>
                </a:solidFill>
                <a:latin typeface="Meiryo UI"/>
              </a:rPr>
              <a:t>男性の元気を支えるホルモン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377440"/>
            <a:ext cx="4572000" cy="3840480"/>
          </a:xfrm>
          <a:prstGeom prst="ellipse">
            <a:avLst/>
          </a:prstGeom>
          <a:solidFill>
            <a:srgbClr val="E1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611880"/>
            <a:ext cx="2011680" cy="1280160"/>
          </a:xfrm>
          <a:prstGeom prst="ellipse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テストステロン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697480"/>
            <a:ext cx="1737360" cy="68580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やる気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697480"/>
            <a:ext cx="1737360" cy="68580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筋肉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074920"/>
            <a:ext cx="1737360" cy="68580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5074920"/>
            <a:ext cx="1737360" cy="68580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朝の元気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377440"/>
            <a:ext cx="55778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・やる気・筋肉・骨・朝の元気に関わっている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・年齢とともに少しずつ減っていく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・よく眠る・足腰を使う・ためこまないことが支えになる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・エネルギーを「封入」＝体の中にしっかり閉じこめるイメージ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④ 血流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64240" cy="73152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2B2350"/>
                </a:solidFill>
                <a:latin typeface="Meiryo UI"/>
              </a:rPr>
              <a:t>血液は、酸素と栄養を運ぶ「宅配便」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2286000"/>
            <a:ext cx="2011680" cy="100584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肺</a:t>
            </a:r>
          </a:p>
        </p:txBody>
      </p:sp>
      <p:sp>
        <p:nvSpPr>
          <p:cNvPr id="5" name="Heart 4"/>
          <p:cNvSpPr/>
          <p:nvPr/>
        </p:nvSpPr>
        <p:spPr>
          <a:xfrm>
            <a:off x="2240280" y="3657600"/>
            <a:ext cx="1737360" cy="1463040"/>
          </a:xfrm>
          <a:prstGeom prst="heart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心臓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5486400"/>
            <a:ext cx="3840480" cy="731520"/>
          </a:xfrm>
          <a:prstGeom prst="round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2A2A2A"/>
                </a:solidFill>
                <a:latin typeface="Meiryo UI"/>
              </a:rPr>
              <a:t>全身（足の先・下腹まで）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337560"/>
            <a:ext cx="0" cy="320040"/>
          </a:xfrm>
          <a:prstGeom prst="line">
            <a:avLst/>
          </a:prstGeom>
          <a:ln w="38100">
            <a:solidFill>
              <a:srgbClr val="3D8F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474720" y="3337560"/>
            <a:ext cx="0" cy="320040"/>
          </a:xfrm>
          <a:prstGeom prst="line">
            <a:avLst/>
          </a:prstGeom>
          <a:ln w="38100">
            <a:solidFill>
              <a:srgbClr val="3D8F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5138928"/>
            <a:ext cx="0" cy="329184"/>
          </a:xfrm>
          <a:prstGeom prst="line">
            <a:avLst/>
          </a:prstGeom>
          <a:ln w="38100">
            <a:solidFill>
              <a:srgbClr val="D944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474720" y="5138928"/>
            <a:ext cx="0" cy="329184"/>
          </a:xfrm>
          <a:prstGeom prst="line">
            <a:avLst/>
          </a:prstGeom>
          <a:ln w="38100">
            <a:solidFill>
              <a:srgbClr val="D944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35040" y="2377440"/>
            <a:ext cx="55778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・肺で酸素を受け取り、心臓が全身へ送り出す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・血の巡りが良いと、体のすみずみまで元気が届く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・朝の元気も、血の巡りのサインのひとつ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・深呼吸で酸素をたっぷり → 巡りにのせて全身へ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⑤ 自律神経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64240" cy="73152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2B2350"/>
                </a:solidFill>
                <a:latin typeface="Meiryo UI"/>
              </a:rPr>
              <a:t>体のアクセルとブレーキ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194560" cy="1188720"/>
          </a:xfrm>
          <a:prstGeom prst="roundRect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アクセル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（活動）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377440"/>
            <a:ext cx="2194560" cy="1188720"/>
          </a:xfrm>
          <a:prstGeom prst="roundRect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ブレーキ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（休む）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4663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A2A2A"/>
                </a:solidFill>
                <a:latin typeface="Meiryo UI"/>
              </a:rPr>
              <a:t>どちらも大事。切り替え上手が元気な体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4663440" cy="182880"/>
          </a:xfrm>
          <a:prstGeom prst="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788920" y="4754880"/>
            <a:ext cx="731520" cy="640080"/>
          </a:xfrm>
          <a:prstGeom prst="triangl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3D8FD1"/>
                </a:solidFill>
                <a:latin typeface="Meiryo UI"/>
              </a:rPr>
              <a:t>ゆっくり吐く深呼吸 → ブレーキ側へ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377440"/>
            <a:ext cx="55778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・呼吸・心臓・血管・胃腸・眠りを自動で調整している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・昼はアクセル、夜はブレーキに切り替わるのが理想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・呼吸だけは、自分の意思でととのえられる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・最後に全体をととのえて、バランスよく仕上げる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チャクラとは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体にある7つのエネルギーの出入り口</a:t>
            </a:r>
          </a:p>
        </p:txBody>
      </p:sp>
      <p:sp>
        <p:nvSpPr>
          <p:cNvPr id="4" name="Oval 3"/>
          <p:cNvSpPr/>
          <p:nvPr/>
        </p:nvSpPr>
        <p:spPr>
          <a:xfrm>
            <a:off x="2240280" y="1600200"/>
            <a:ext cx="1005840" cy="1143000"/>
          </a:xfrm>
          <a:prstGeom prst="ellipse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788920"/>
            <a:ext cx="1828800" cy="246888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19" y="5212080"/>
            <a:ext cx="777240" cy="137160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5212080"/>
            <a:ext cx="777240" cy="137160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14600" y="4754880"/>
            <a:ext cx="457200" cy="457200"/>
          </a:xfrm>
          <a:prstGeom prst="ellipse">
            <a:avLst/>
          </a:prstGeom>
          <a:solidFill>
            <a:srgbClr val="D944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550408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9443B"/>
                </a:solidFill>
                <a:latin typeface="Meiryo UI"/>
              </a:rPr>
              <a:t>第1　尾てい骨のあたり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4206240"/>
            <a:ext cx="457200" cy="457200"/>
          </a:xfrm>
          <a:prstGeom prst="ellipse">
            <a:avLst/>
          </a:prstGeom>
          <a:solidFill>
            <a:srgbClr val="EE8A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892040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E8A2E"/>
                </a:solidFill>
                <a:latin typeface="Meiryo UI"/>
              </a:rPr>
              <a:t>第2　おへその下（下腹）</a:t>
            </a:r>
          </a:p>
        </p:txBody>
      </p:sp>
      <p:sp>
        <p:nvSpPr>
          <p:cNvPr id="12" name="Oval 11"/>
          <p:cNvSpPr/>
          <p:nvPr/>
        </p:nvSpPr>
        <p:spPr>
          <a:xfrm>
            <a:off x="2514600" y="3657600"/>
            <a:ext cx="457200" cy="457200"/>
          </a:xfrm>
          <a:prstGeom prst="ellipse">
            <a:avLst/>
          </a:prstGeom>
          <a:solidFill>
            <a:srgbClr val="E8C21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33672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8C21F"/>
                </a:solidFill>
                <a:latin typeface="Meiryo UI"/>
              </a:rPr>
              <a:t>第3　みぞおち</a:t>
            </a:r>
          </a:p>
        </p:txBody>
      </p:sp>
      <p:sp>
        <p:nvSpPr>
          <p:cNvPr id="14" name="Oval 13"/>
          <p:cNvSpPr/>
          <p:nvPr/>
        </p:nvSpPr>
        <p:spPr>
          <a:xfrm>
            <a:off x="2578608" y="3172968"/>
            <a:ext cx="329184" cy="329184"/>
          </a:xfrm>
          <a:prstGeom prst="ellipse">
            <a:avLst/>
          </a:prstGeom>
          <a:solidFill>
            <a:srgbClr val="4F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575304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第4　胸のまんなか</a:t>
            </a:r>
          </a:p>
        </p:txBody>
      </p:sp>
      <p:sp>
        <p:nvSpPr>
          <p:cNvPr id="16" name="Oval 15"/>
          <p:cNvSpPr/>
          <p:nvPr/>
        </p:nvSpPr>
        <p:spPr>
          <a:xfrm>
            <a:off x="2578608" y="2670048"/>
            <a:ext cx="329184" cy="329184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916936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第5　のど</a:t>
            </a:r>
          </a:p>
        </p:txBody>
      </p:sp>
      <p:sp>
        <p:nvSpPr>
          <p:cNvPr id="18" name="Oval 17"/>
          <p:cNvSpPr/>
          <p:nvPr/>
        </p:nvSpPr>
        <p:spPr>
          <a:xfrm>
            <a:off x="2578608" y="2075688"/>
            <a:ext cx="329184" cy="329184"/>
          </a:xfrm>
          <a:prstGeom prst="ellipse">
            <a:avLst/>
          </a:prstGeom>
          <a:solidFill>
            <a:srgbClr val="4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258568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第6　眉間</a:t>
            </a:r>
          </a:p>
        </p:txBody>
      </p:sp>
      <p:sp>
        <p:nvSpPr>
          <p:cNvPr id="20" name="Oval 19"/>
          <p:cNvSpPr/>
          <p:nvPr/>
        </p:nvSpPr>
        <p:spPr>
          <a:xfrm>
            <a:off x="2578608" y="1618488"/>
            <a:ext cx="329184" cy="329184"/>
          </a:xfrm>
          <a:prstGeom prst="ellipse">
            <a:avLst/>
          </a:prstGeom>
          <a:solidFill>
            <a:srgbClr val="8E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0233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第7　頭のてっぺん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794760"/>
            <a:ext cx="2834640" cy="173736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2B2350"/>
                </a:solidFill>
                <a:latin typeface="Meiryo UI"/>
              </a:rPr>
              <a:t>川越さんは</a:t>
            </a:r>
          </a:p>
          <a:p>
            <a:pPr algn="ctr"/>
            <a:r>
              <a:rPr sz="2000" b="1">
                <a:solidFill>
                  <a:srgbClr val="2B2350"/>
                </a:solidFill>
                <a:latin typeface="Meiryo UI"/>
              </a:rPr>
              <a:t>第1〜第3を</a:t>
            </a:r>
          </a:p>
          <a:p>
            <a:pPr algn="ctr"/>
            <a:r>
              <a:rPr sz="2000" b="1">
                <a:solidFill>
                  <a:srgbClr val="2B2350"/>
                </a:solidFill>
                <a:latin typeface="Meiryo UI"/>
              </a:rPr>
              <a:t>中心に育てます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第1〜第3チャクラ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体の下の3つ＝生きる力の土台（一般的な考え方）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204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965960"/>
            <a:ext cx="1051560" cy="105156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B2350"/>
                </a:solidFill>
                <a:latin typeface="Meiryo UI"/>
              </a:rPr>
              <a:t>第1チャクラ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尾てい骨のあたり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29260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・生きる力・安心感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・足腰・大地とのつながり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7840" y="1965960"/>
            <a:ext cx="1051560" cy="105156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B2350"/>
                </a:solidFill>
                <a:latin typeface="Meiryo UI"/>
              </a:rPr>
              <a:t>第2チャクラ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7033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おへその下（下腹）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29260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・男性としての元気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・喜び・楽しむ力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5204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72600" y="1965960"/>
            <a:ext cx="1051560" cy="1051560"/>
          </a:xfrm>
          <a:prstGeom prst="ellipse">
            <a:avLst/>
          </a:prstGeom>
          <a:solidFill>
            <a:srgbClr val="E8C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B2350"/>
                </a:solidFill>
                <a:latin typeface="Meiryo UI"/>
              </a:rPr>
              <a:t>第3チャクラ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0332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みぞおち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343400"/>
            <a:ext cx="29260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・自信・意志の力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A2A2A"/>
                </a:solidFill>
                <a:latin typeface="Meiryo UI"/>
              </a:rPr>
              <a:t>・消化・横隔膜（呼吸）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第4〜第7チャクラ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体の上の4つ＝心・表現・直感・つながり（一般的な考え方）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060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965960"/>
            <a:ext cx="960120" cy="960120"/>
          </a:xfrm>
          <a:prstGeom prst="ellipse">
            <a:avLst/>
          </a:prstGeom>
          <a:solidFill>
            <a:srgbClr val="4F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第4チャクラ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胸のまんなか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22860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・愛・思いやり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・心臓・肺・呼吸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6060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960120" cy="96012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第5チャクラ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のど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297680"/>
            <a:ext cx="22860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・伝える・表現する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・のど・声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6060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0" y="1965960"/>
            <a:ext cx="960120" cy="960120"/>
          </a:xfrm>
          <a:prstGeom prst="ellipse">
            <a:avLst/>
          </a:prstGeom>
          <a:solidFill>
            <a:srgbClr val="4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1089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第6チャクラ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6576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眉間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97680"/>
            <a:ext cx="22860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・直感・見通す力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・目・頭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37360"/>
            <a:ext cx="2606040" cy="45720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0" y="1965960"/>
            <a:ext cx="960120" cy="960120"/>
          </a:xfrm>
          <a:prstGeom prst="ellipse">
            <a:avLst/>
          </a:prstGeom>
          <a:solidFill>
            <a:srgbClr val="8E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108960"/>
            <a:ext cx="2423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第7チャクラ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頭のてっぺん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297680"/>
            <a:ext cx="22860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・宇宙とのつながり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・生きる意味・ひらめき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チャクラを育てるやり方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一つずつ、順番に活性化していきます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914400" cy="91440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Meiryo UI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916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2350"/>
                </a:solidFill>
                <a:latin typeface="Meiryo UI"/>
              </a:rPr>
              <a:t>光の手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2148840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A2A2A"/>
                </a:solidFill>
                <a:latin typeface="Meiryo UI"/>
              </a:rPr>
              <a:t>手にタマラをコーティングして「光の手」に変える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429000"/>
            <a:ext cx="914400" cy="91440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Meiryo UI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32918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2350"/>
                </a:solidFill>
                <a:latin typeface="Meiryo UI"/>
              </a:rPr>
              <a:t>取り出す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749039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A2A2A"/>
                </a:solidFill>
                <a:latin typeface="Meiryo UI"/>
              </a:rPr>
              <a:t>チャクラに向かって「チャクラさん、教えてください」と声をかけ、手の上に取り出す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5029200"/>
            <a:ext cx="914400" cy="91440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Meiryo UI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8920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2350"/>
                </a:solidFill>
                <a:latin typeface="Meiryo UI"/>
              </a:rPr>
              <a:t>形を見る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5349240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A2A2A"/>
                </a:solidFill>
                <a:latin typeface="Meiryo UI"/>
              </a:rPr>
              <a:t>チャクラがどんな形か想像する（人によっても、チャクラによっても違います）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828800"/>
            <a:ext cx="914400" cy="91440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Meiryo UI"/>
              </a:rPr>
              <a:t>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916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2350"/>
                </a:solidFill>
                <a:latin typeface="Meiryo UI"/>
              </a:rPr>
              <a:t>質問する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48840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A2A2A"/>
                </a:solidFill>
                <a:latin typeface="Meiryo UI"/>
              </a:rPr>
              <a:t>「はい・いいえ」で答えられる質問をする（例：元気？　さみしい？）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429000"/>
            <a:ext cx="914400" cy="91440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Meiryo UI"/>
              </a:rPr>
              <a:t>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918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2350"/>
                </a:solidFill>
                <a:latin typeface="Meiryo UI"/>
              </a:rPr>
              <a:t>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749039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A2A2A"/>
                </a:solidFill>
                <a:latin typeface="Meiryo UI"/>
              </a:rPr>
              <a:t>「エネルギーを送るね」と、エネルギーを送る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5029200"/>
            <a:ext cx="914400" cy="91440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Meiryo UI"/>
              </a:rPr>
              <a:t>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89204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2350"/>
                </a:solidFill>
                <a:latin typeface="Meiryo UI"/>
              </a:rPr>
              <a:t>戻す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349240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A2A2A"/>
                </a:solidFill>
                <a:latin typeface="Meiryo UI"/>
              </a:rPr>
              <a:t>「教えてくれてありがとう」と、元の位置に戻す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eiryo UI"/>
              </a:rPr>
              <a:t>毎日の宿題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eiryo UI"/>
              </a:rPr>
              <a:t>朝と夜：リチャージ ＋ 第1〜第3チャクラを育てる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51460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eiryo UI"/>
              </a:rPr>
              <a:t>朝：深呼吸してから起き上がる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eiryo UI"/>
              </a:rPr>
              <a:t>ヒーリングの前と後で、酸素の数値（サチュレーション）を測ってメモ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17720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61772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eiryo UI"/>
              </a:rPr>
              <a:t>肺のレントゲン写真を送る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8D2EC"/>
                </a:solidFill>
                <a:latin typeface="Meiryo UI"/>
              </a:rPr>
              <a:t>※ このセッションは医療の代わりではありません。治療やお薬のことは、主治医の先生の指示を一番に優先してください。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
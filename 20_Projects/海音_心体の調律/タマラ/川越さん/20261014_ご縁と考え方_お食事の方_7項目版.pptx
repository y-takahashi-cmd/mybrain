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2350"/>
                </a:solidFill>
                <a:latin typeface="Meiryo UI"/>
              </a:rPr>
              <a:t>お食事に行く方とのご縁と、これからの考え方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Meiryo UI"/>
              </a:rPr>
              <a:t>由香さんの見立て（感覚でとらえたもので、確かなものではありません）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480560" cy="43434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前世の構図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011680"/>
            <a:ext cx="2286000" cy="73152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川越さん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（領主・位の高い人）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600200" y="2761488"/>
            <a:ext cx="502920" cy="484632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2761488"/>
            <a:ext cx="502920" cy="484632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291840"/>
            <a:ext cx="1965960" cy="685800"/>
          </a:xfrm>
          <a:prstGeom prst="roundRect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お食事に行く方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9659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第一夫人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（政略結婚）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甘えられず、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一緒に出かけたいと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言えなかった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291840"/>
            <a:ext cx="1965960" cy="685800"/>
          </a:xfrm>
          <a:prstGeom prst="roundRect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一戸さん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069080"/>
            <a:ext cx="19659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第二夫人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川越さんが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本当に好きだった人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（由香さんは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こちらに仕えていた）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37160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ここからの考え方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1847088"/>
            <a:ext cx="347472" cy="347472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783080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2A2A"/>
                </a:solidFill>
                <a:latin typeface="Meiryo UI"/>
              </a:rPr>
              <a:t>罪滅ぼしは、もう終わっています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084831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一緒に出かけ、食事を楽しんだことで解消。彼女の結婚が「満足できた」しるし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414016"/>
            <a:ext cx="347472" cy="347472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350008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2A2A"/>
                </a:solidFill>
                <a:latin typeface="Meiryo UI"/>
              </a:rPr>
              <a:t>これは「昔の彼女」の話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51760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今の彼女の気持ちとは別。ここからは今世の情や愛情＝川越さんがどうしたいか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2980944"/>
            <a:ext cx="347472" cy="347472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16936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2A2A"/>
                </a:solidFill>
                <a:latin typeface="Meiryo UI"/>
              </a:rPr>
              <a:t>心の器を育てる：手放すか、来世につなぐか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218687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どちらを選んでも、今関係を深めることが彼女を傷つけないか、考えてみて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3547872"/>
            <a:ext cx="347472" cy="347472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483864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2A2A"/>
                </a:solidFill>
                <a:latin typeface="Meiryo UI"/>
              </a:rPr>
              <a:t>現実のことも大切に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85615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これ以上近づくと、彼女が今のご主人への罪悪感を抱えることに。法律の面も考えて</a:t>
            </a:r>
          </a:p>
        </p:txBody>
      </p:sp>
      <p:sp>
        <p:nvSpPr>
          <p:cNvPr id="26" name="Oval 25"/>
          <p:cNvSpPr/>
          <p:nvPr/>
        </p:nvSpPr>
        <p:spPr>
          <a:xfrm>
            <a:off x="5212080" y="4114800"/>
            <a:ext cx="347472" cy="347472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50791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9443B"/>
                </a:solidFill>
                <a:latin typeface="Meiryo UI"/>
              </a:rPr>
              <a:t>今以上を願うと、彼女の家庭を壊しかねません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352544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家庭が揺らげば新しい恨みが生まれ、それが川越さんの体に返ってくる可能性があります</a:t>
            </a:r>
          </a:p>
        </p:txBody>
      </p:sp>
      <p:sp>
        <p:nvSpPr>
          <p:cNvPr id="29" name="Oval 28"/>
          <p:cNvSpPr/>
          <p:nvPr/>
        </p:nvSpPr>
        <p:spPr>
          <a:xfrm>
            <a:off x="5212080" y="4681728"/>
            <a:ext cx="347472" cy="347472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617720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9443B"/>
                </a:solidFill>
                <a:latin typeface="Meiryo UI"/>
              </a:rPr>
              <a:t>来世に、新しいカルマのタネをつくることに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919472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今世で終わらせられるご縁を、また来世へ持ち越すことになります</a:t>
            </a:r>
          </a:p>
        </p:txBody>
      </p:sp>
      <p:sp>
        <p:nvSpPr>
          <p:cNvPr id="32" name="Oval 31"/>
          <p:cNvSpPr/>
          <p:nvPr/>
        </p:nvSpPr>
        <p:spPr>
          <a:xfrm>
            <a:off x="5212080" y="5248655"/>
            <a:ext cx="347472" cy="347472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184647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2A2A"/>
                </a:solidFill>
                <a:latin typeface="Meiryo UI"/>
              </a:rPr>
              <a:t>エネルギーはやさしく送る・守りは続ける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486399"/>
            <a:ext cx="612648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「思い通りに」を乗せると相手には強い圧に。ご主人のやきもちには寝る前のプロテクトを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52160"/>
            <a:ext cx="11274552" cy="914400"/>
          </a:xfrm>
          <a:prstGeom prst="round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2B2350"/>
                </a:solidFill>
                <a:latin typeface="Meiryo UI"/>
              </a:rPr>
              <a:t>関係を深めることは、できるのかもしれません。</a:t>
            </a:r>
          </a:p>
          <a:p>
            <a:pPr algn="ctr"/>
            <a:r>
              <a:rPr sz="1400" b="1">
                <a:solidFill>
                  <a:srgbClr val="2B2350"/>
                </a:solidFill>
                <a:latin typeface="Meiryo UI"/>
              </a:rPr>
              <a:t>でもそれは、今、身の回りを実際に支えてくれている人たちが離れていくことと、同じ意味かもしれません。</a:t>
            </a:r>
          </a:p>
          <a:p>
            <a:pPr algn="ctr"/>
            <a:r>
              <a:rPr sz="1400" b="1">
                <a:solidFill>
                  <a:srgbClr val="2B2350"/>
                </a:solidFill>
                <a:latin typeface="Meiryo UI"/>
              </a:rPr>
              <a:t>それを知った上で、どうするかを決めるのは川越さんです。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
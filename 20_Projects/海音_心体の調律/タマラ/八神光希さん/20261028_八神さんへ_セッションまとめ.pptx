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2E6DA4"/>
                </a:solidFill>
                <a:latin typeface="Yu Gothic UI"/>
              </a:rPr>
              <a:t>八神 光希さんへ　｜　2026年10月28日 セッションから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0" y="274320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400" b="0">
                <a:solidFill>
                  <a:srgbClr val="6B7280"/>
                </a:solidFill>
                <a:latin typeface="Yu Gothic UI"/>
              </a:rPr>
              <a:t>「早くやりなさい」── 5年後のみっちゃんより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338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1F3A5F"/>
                </a:solidFill>
                <a:latin typeface="Yu Gothic UI"/>
              </a:rPr>
              <a:t>「生きながら覚醒する」を、お話会から始める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81328"/>
            <a:ext cx="3611880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F3A5F"/>
                </a:solidFill>
                <a:latin typeface="Yu Gothic UI"/>
              </a:rPr>
              <a:t>1　今日気づいたこと</a:t>
            </a:r>
          </a:p>
        </p:txBody>
      </p:sp>
      <p:pic>
        <p:nvPicPr>
          <p:cNvPr id="7" name="Picture 6" descr="img1.png"/>
          <p:cNvPicPr>
            <a:picLocks noChangeAspect="1"/>
          </p:cNvPicPr>
          <p:nvPr/>
        </p:nvPicPr>
        <p:blipFill>
          <a:blip r:embed="rId2"/>
          <a:srcRect t="12661" b="12661"/>
          <a:stretch>
            <a:fillRect/>
          </a:stretch>
        </p:blipFill>
        <p:spPr>
          <a:xfrm>
            <a:off x="685800" y="2121408"/>
            <a:ext cx="3154680" cy="1325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3538728"/>
            <a:ext cx="3154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6B7280"/>
                </a:solidFill>
                <a:latin typeface="Yu Gothic UI"/>
              </a:rPr>
              <a:t>「いやいや、やってる自分に気がついた」</a:t>
            </a:r>
          </a:p>
          <a:p>
            <a:pPr algn="l">
              <a:lnSpc>
                <a:spcPct val="110000"/>
              </a:lnSpc>
            </a:pPr>
            <a:r>
              <a:rPr sz="1350" b="1">
                <a:solidFill>
                  <a:srgbClr val="1F3A5F"/>
                </a:solidFill>
                <a:latin typeface="Yu Gothic UI"/>
              </a:rPr>
              <a:t>イベントはお休みして、</a:t>
            </a:r>
          </a:p>
          <a:p>
            <a:pPr algn="l">
              <a:lnSpc>
                <a:spcPct val="110000"/>
              </a:lnSpc>
            </a:pPr>
            <a:r>
              <a:rPr sz="1350" b="1">
                <a:solidFill>
                  <a:srgbClr val="1F3A5F"/>
                </a:solidFill>
                <a:latin typeface="Yu Gothic UI"/>
              </a:rPr>
              <a:t>本当にやりたいことだけに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334256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407408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6B7280"/>
                </a:solidFill>
                <a:latin typeface="Yu Gothic UI"/>
              </a:rPr>
              <a:t>「マネタイズは邪道」と思っていた</a:t>
            </a:r>
          </a:p>
          <a:p>
            <a:pPr algn="l">
              <a:lnSpc>
                <a:spcPct val="112000"/>
              </a:lnSpc>
            </a:pPr>
            <a:r>
              <a:rPr sz="1300" b="1">
                <a:solidFill>
                  <a:srgbClr val="1F3A5F"/>
                </a:solidFill>
                <a:latin typeface="Yu Gothic UI"/>
              </a:rPr>
              <a:t>スピリチュアルも、</a:t>
            </a:r>
          </a:p>
          <a:p>
            <a:pPr algn="l">
              <a:lnSpc>
                <a:spcPct val="112000"/>
              </a:lnSpc>
            </a:pPr>
            <a:r>
              <a:rPr sz="1300" b="1">
                <a:solidFill>
                  <a:srgbClr val="1F3A5F"/>
                </a:solidFill>
                <a:latin typeface="Yu Gothic UI"/>
              </a:rPr>
              <a:t>マネタイズできる</a:t>
            </a:r>
          </a:p>
          <a:p>
            <a:pPr algn="l">
              <a:lnSpc>
                <a:spcPct val="112000"/>
              </a:lnSpc>
            </a:pPr>
            <a:r>
              <a:rPr sz="1100" b="0">
                <a:solidFill>
                  <a:srgbClr val="1F3A5F"/>
                </a:solidFill>
                <a:latin typeface="Yu Gothic UI"/>
              </a:rPr>
              <a:t>まず私が豊かで、ゆとりを。</a:t>
            </a:r>
          </a:p>
          <a:p>
            <a:pPr algn="l">
              <a:lnSpc>
                <a:spcPct val="112000"/>
              </a:lnSpc>
            </a:pPr>
            <a:r>
              <a:rPr sz="1100" b="1">
                <a:solidFill>
                  <a:srgbClr val="2E6DA4"/>
                </a:solidFill>
                <a:latin typeface="Yu Gothic UI"/>
              </a:rPr>
              <a:t>「受け取るのは、大好き」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481328"/>
            <a:ext cx="3749039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645920"/>
            <a:ext cx="3291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F3A5F"/>
                </a:solidFill>
                <a:latin typeface="Yu Gothic UI"/>
              </a:rPr>
              <a:t>2　5年後のみっちゃん</a:t>
            </a:r>
          </a:p>
        </p:txBody>
      </p:sp>
      <p:pic>
        <p:nvPicPr>
          <p:cNvPr id="13" name="Picture 12" descr="img2.png"/>
          <p:cNvPicPr>
            <a:picLocks noChangeAspect="1"/>
          </p:cNvPicPr>
          <p:nvPr/>
        </p:nvPicPr>
        <p:blipFill>
          <a:blip r:embed="rId3"/>
          <a:srcRect t="19152" b="19152"/>
          <a:stretch>
            <a:fillRect/>
          </a:stretch>
        </p:blipFill>
        <p:spPr>
          <a:xfrm>
            <a:off x="4480560" y="2121408"/>
            <a:ext cx="3291839" cy="1143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480560" y="3355848"/>
            <a:ext cx="3291839" cy="1143000"/>
          </a:xfrm>
          <a:prstGeom prst="roundRect">
            <a:avLst>
              <a:gd name="adj" fmla="val 6000"/>
            </a:avLst>
          </a:prstGeom>
          <a:solidFill>
            <a:srgbClr val="DD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3419856"/>
            <a:ext cx="3017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2E6DA4"/>
                </a:solidFill>
                <a:latin typeface="Yu Gothic UI"/>
              </a:rPr>
              <a:t>色</a:t>
            </a:r>
            <a:r>
              <a:rPr sz="1150" b="0">
                <a:solidFill>
                  <a:srgbClr val="1F3A5F"/>
                </a:solidFill>
                <a:latin typeface="Yu Gothic UI"/>
              </a:rPr>
              <a:t>　シャンパンゴールド</a:t>
            </a:r>
          </a:p>
          <a:p>
            <a:pPr algn="l">
              <a:lnSpc>
                <a:spcPct val="130000"/>
              </a:lnSpc>
            </a:pPr>
            <a:r>
              <a:rPr sz="1150" b="1">
                <a:solidFill>
                  <a:srgbClr val="2E6DA4"/>
                </a:solidFill>
                <a:latin typeface="Yu Gothic UI"/>
              </a:rPr>
              <a:t>服</a:t>
            </a:r>
            <a:r>
              <a:rPr sz="1150" b="0">
                <a:solidFill>
                  <a:srgbClr val="1F3A5F"/>
                </a:solidFill>
                <a:latin typeface="Yu Gothic UI"/>
              </a:rPr>
              <a:t>　着物リメイクのワンピース</a:t>
            </a:r>
          </a:p>
          <a:p>
            <a:pPr algn="l">
              <a:lnSpc>
                <a:spcPct val="130000"/>
              </a:lnSpc>
            </a:pPr>
            <a:r>
              <a:rPr sz="1150" b="1">
                <a:solidFill>
                  <a:srgbClr val="2E6DA4"/>
                </a:solidFill>
                <a:latin typeface="Yu Gothic UI"/>
              </a:rPr>
              <a:t>場</a:t>
            </a:r>
            <a:r>
              <a:rPr sz="1150" b="0">
                <a:solidFill>
                  <a:srgbClr val="1F3A5F"/>
                </a:solidFill>
                <a:latin typeface="Yu Gothic UI"/>
              </a:rPr>
              <a:t>　呼ばれた場所で、100人のお話会</a:t>
            </a:r>
          </a:p>
          <a:p>
            <a:pPr algn="l">
              <a:lnSpc>
                <a:spcPct val="130000"/>
              </a:lnSpc>
            </a:pPr>
            <a:r>
              <a:rPr sz="1150" b="1">
                <a:solidFill>
                  <a:srgbClr val="2E6DA4"/>
                </a:solidFill>
                <a:latin typeface="Yu Gothic UI"/>
              </a:rPr>
              <a:t>言葉</a:t>
            </a:r>
            <a:r>
              <a:rPr sz="1150" b="0">
                <a:solidFill>
                  <a:srgbClr val="1F3A5F"/>
                </a:solidFill>
                <a:latin typeface="Yu Gothic UI"/>
              </a:rPr>
              <a:t>　「生きながら覚醒する」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4663440"/>
            <a:ext cx="91440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8FB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473659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2E6DA4"/>
                </a:solidFill>
                <a:latin typeface="Yu Gothic UI"/>
              </a:rPr>
              <a:t>お話会</a:t>
            </a:r>
          </a:p>
          <a:p>
            <a:pPr algn="ctr">
              <a:lnSpc>
                <a:spcPct val="110000"/>
              </a:lnSpc>
            </a:pPr>
            <a:r>
              <a:rPr sz="850" b="0">
                <a:solidFill>
                  <a:srgbClr val="6B7280"/>
                </a:solidFill>
                <a:latin typeface="Yu Gothic UI"/>
              </a:rPr>
              <a:t>本の説明・40分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440680" y="4882896"/>
            <a:ext cx="182880" cy="182880"/>
          </a:xfrm>
          <a:prstGeom prst="rightArrow">
            <a:avLst/>
          </a:prstGeom>
          <a:solidFill>
            <a:srgbClr val="8FB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0" y="4663440"/>
            <a:ext cx="91440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8FB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0" y="473659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2E6DA4"/>
                </a:solidFill>
                <a:latin typeface="Yu Gothic UI"/>
              </a:rPr>
              <a:t>公開セッション</a:t>
            </a:r>
          </a:p>
          <a:p>
            <a:pPr algn="ctr">
              <a:lnSpc>
                <a:spcPct val="110000"/>
              </a:lnSpc>
            </a:pPr>
            <a:r>
              <a:rPr sz="850" b="0">
                <a:solidFill>
                  <a:srgbClr val="6B7280"/>
                </a:solidFill>
                <a:latin typeface="Yu Gothic UI"/>
              </a:rPr>
              <a:t>質問に答える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6629400" y="4882896"/>
            <a:ext cx="182880" cy="182880"/>
          </a:xfrm>
          <a:prstGeom prst="rightArrow">
            <a:avLst/>
          </a:prstGeom>
          <a:solidFill>
            <a:srgbClr val="8FB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858000" y="4663440"/>
            <a:ext cx="91440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8FB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73659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2E6DA4"/>
                </a:solidFill>
                <a:latin typeface="Yu Gothic UI"/>
              </a:rPr>
              <a:t>第一部コース</a:t>
            </a:r>
          </a:p>
          <a:p>
            <a:pPr algn="ctr">
              <a:lnSpc>
                <a:spcPct val="110000"/>
              </a:lnSpc>
            </a:pPr>
            <a:r>
              <a:rPr sz="850" b="0">
                <a:solidFill>
                  <a:srgbClr val="6B7280"/>
                </a:solidFill>
                <a:latin typeface="Yu Gothic UI"/>
              </a:rPr>
              <a:t>3名限定・1年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5413248"/>
            <a:ext cx="3291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B7280"/>
                </a:solidFill>
                <a:latin typeface="Yu Gothic UI"/>
              </a:rPr>
              <a:t>料金・人数は、11/4にみっちゃんの言葉で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3879" y="1481328"/>
            <a:ext cx="3547872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1645920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F3A5F"/>
                </a:solidFill>
                <a:latin typeface="Yu Gothic UI"/>
              </a:rPr>
              <a:t>3　次にやること</a:t>
            </a:r>
          </a:p>
        </p:txBody>
      </p:sp>
      <p:pic>
        <p:nvPicPr>
          <p:cNvPr id="27" name="Picture 26" descr="img3.png"/>
          <p:cNvPicPr>
            <a:picLocks noChangeAspect="1"/>
          </p:cNvPicPr>
          <p:nvPr/>
        </p:nvPicPr>
        <p:blipFill>
          <a:blip r:embed="rId4"/>
          <a:srcRect t="15794" b="15794"/>
          <a:stretch>
            <a:fillRect/>
          </a:stretch>
        </p:blipFill>
        <p:spPr>
          <a:xfrm>
            <a:off x="8412480" y="2121408"/>
            <a:ext cx="3090672" cy="1188720"/>
          </a:xfrm>
          <a:prstGeom prst="rect">
            <a:avLst/>
          </a:prstGeom>
        </p:spPr>
      </p:pic>
      <p:sp>
        <p:nvSpPr>
          <p:cNvPr id="28" name="Oval 27"/>
          <p:cNvSpPr/>
          <p:nvPr/>
        </p:nvSpPr>
        <p:spPr>
          <a:xfrm>
            <a:off x="8412480" y="3447288"/>
            <a:ext cx="329184" cy="329184"/>
          </a:xfrm>
          <a:prstGeom prst="ellipse">
            <a:avLst/>
          </a:prstGeom>
          <a:solidFill>
            <a:srgbClr val="4FB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Yu Gothic UI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42248" y="3419856"/>
            <a:ext cx="267919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F3A5F"/>
                </a:solidFill>
                <a:latin typeface="Yu Gothic UI"/>
              </a:rPr>
              <a:t>お話会を先に始める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6B7280"/>
                </a:solidFill>
                <a:latin typeface="Yu Gothic UI"/>
              </a:rPr>
              <a:t>いつ：　　月　　日　　誰に：　　　　さん</a:t>
            </a:r>
          </a:p>
        </p:txBody>
      </p:sp>
      <p:sp>
        <p:nvSpPr>
          <p:cNvPr id="30" name="Oval 29"/>
          <p:cNvSpPr/>
          <p:nvPr/>
        </p:nvSpPr>
        <p:spPr>
          <a:xfrm>
            <a:off x="8412480" y="4032504"/>
            <a:ext cx="329184" cy="329184"/>
          </a:xfrm>
          <a:prstGeom prst="ellipse">
            <a:avLst/>
          </a:prstGeom>
          <a:solidFill>
            <a:srgbClr val="4FB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Yu Gothic U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42248" y="4005072"/>
            <a:ext cx="267919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F3A5F"/>
                </a:solidFill>
                <a:latin typeface="Yu Gothic UI"/>
              </a:rPr>
              <a:t>通っている方に「その後どう？」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6B7280"/>
                </a:solidFill>
                <a:latin typeface="Yu Gothic UI"/>
              </a:rPr>
              <a:t>変わったことを一言ずつ聞いてみる</a:t>
            </a:r>
          </a:p>
        </p:txBody>
      </p:sp>
      <p:sp>
        <p:nvSpPr>
          <p:cNvPr id="32" name="Oval 31"/>
          <p:cNvSpPr/>
          <p:nvPr/>
        </p:nvSpPr>
        <p:spPr>
          <a:xfrm>
            <a:off x="8412480" y="4617720"/>
            <a:ext cx="329184" cy="329184"/>
          </a:xfrm>
          <a:prstGeom prst="ellipse">
            <a:avLst/>
          </a:prstGeom>
          <a:solidFill>
            <a:srgbClr val="4FB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Yu Gothic UI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42248" y="4590288"/>
            <a:ext cx="267919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F3A5F"/>
                </a:solidFill>
                <a:latin typeface="Yu Gothic UI"/>
              </a:rPr>
              <a:t>「新たな収入として」リチャージ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6B7280"/>
                </a:solidFill>
                <a:latin typeface="Yu Gothic UI"/>
              </a:rPr>
              <a:t>来年1月までに260,000円</a:t>
            </a:r>
          </a:p>
        </p:txBody>
      </p:sp>
      <p:sp>
        <p:nvSpPr>
          <p:cNvPr id="34" name="Oval 33"/>
          <p:cNvSpPr/>
          <p:nvPr/>
        </p:nvSpPr>
        <p:spPr>
          <a:xfrm>
            <a:off x="8412480" y="5202936"/>
            <a:ext cx="329184" cy="329184"/>
          </a:xfrm>
          <a:prstGeom prst="ellipse">
            <a:avLst/>
          </a:prstGeom>
          <a:solidFill>
            <a:srgbClr val="4FB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Yu Gothic U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42248" y="5175503"/>
            <a:ext cx="267919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F3A5F"/>
                </a:solidFill>
                <a:latin typeface="Yu Gothic UI"/>
              </a:rPr>
              <a:t>カードの準備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6B7280"/>
                </a:solidFill>
                <a:latin typeface="Yu Gothic UI"/>
              </a:rPr>
              <a:t>11/4（水）10:00 ファーストの手続き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5989320"/>
            <a:ext cx="11274552" cy="7132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img4.png"/>
          <p:cNvPicPr>
            <a:picLocks noChangeAspect="1"/>
          </p:cNvPicPr>
          <p:nvPr/>
        </p:nvPicPr>
        <p:blipFill>
          <a:blip r:embed="rId5"/>
          <a:srcRect t="2103" b="2103"/>
          <a:stretch>
            <a:fillRect/>
          </a:stretch>
        </p:blipFill>
        <p:spPr>
          <a:xfrm>
            <a:off x="566928" y="6062472"/>
            <a:ext cx="1051560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783080" y="6062472"/>
            <a:ext cx="69494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F3A5F"/>
                </a:solidFill>
                <a:latin typeface="Yu Gothic UI"/>
              </a:rPr>
              <a:t>「その人が変わっていく、きっかけを作る人であればいい」</a:t>
            </a:r>
          </a:p>
          <a:p>
            <a:pPr algn="l">
              <a:lnSpc>
                <a:spcPct val="110000"/>
              </a:lnSpc>
            </a:pPr>
            <a:r>
              <a:rPr sz="1100" b="1">
                <a:solidFill>
                  <a:srgbClr val="2E6DA4"/>
                </a:solidFill>
                <a:latin typeface="Yu Gothic UI"/>
              </a:rPr>
              <a:t>みっちゃんが迷った時・やりたくないと思った時は、5年後の自分に言葉をもらいに行ってね。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32520" y="6172200"/>
            <a:ext cx="1417320" cy="347472"/>
          </a:xfrm>
          <a:prstGeom prst="roundRect">
            <a:avLst>
              <a:gd name="adj" fmla="val 12000"/>
            </a:avLst>
          </a:prstGeom>
          <a:solidFill>
            <a:srgbClr val="DD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32520" y="6172200"/>
            <a:ext cx="14173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1F3A5F"/>
                </a:solidFill>
                <a:latin typeface="Yu Gothic UI"/>
              </a:rPr>
              <a:t>次回：11/4（水）10:00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0" y="5989320"/>
            <a:ext cx="13716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>
                <a:solidFill>
                  <a:srgbClr val="2E6DA4"/>
                </a:solidFill>
                <a:latin typeface="Yu Gothic UI"/>
              </a:rPr>
              <a:t>髙橋 由香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
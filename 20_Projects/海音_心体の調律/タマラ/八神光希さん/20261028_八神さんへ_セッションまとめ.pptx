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2E6DA4"/>
                </a:solidFill>
                <a:latin typeface="Yu Gothic UI"/>
              </a:rPr>
              <a:t>八神 光希さんへ　｜　2026年10月28日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27432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>
                <a:solidFill>
                  <a:srgbClr val="6B7280"/>
                </a:solidFill>
                <a:latin typeface="Yu Gothic UI"/>
              </a:rPr>
              <a:t>「早くやりなさい」── 5年後のみっちゃんより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338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1F3A5F"/>
                </a:solidFill>
                <a:latin typeface="Yu Gothic UI"/>
              </a:rPr>
              <a:t>「生きながら覚醒する」を、お話会から始める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3611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1　今日気づいたこと</a:t>
            </a:r>
          </a:p>
        </p:txBody>
      </p:sp>
      <p:pic>
        <p:nvPicPr>
          <p:cNvPr id="7" name="Picture 6" descr="img1.png"/>
          <p:cNvPicPr>
            <a:picLocks noChangeAspect="1"/>
          </p:cNvPicPr>
          <p:nvPr/>
        </p:nvPicPr>
        <p:blipFill>
          <a:blip r:embed="rId2"/>
          <a:srcRect t="12661" b="12661"/>
          <a:stretch>
            <a:fillRect/>
          </a:stretch>
        </p:blipFill>
        <p:spPr>
          <a:xfrm>
            <a:off x="685800" y="2121408"/>
            <a:ext cx="31546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538728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「いやいや、やってる自分に気がついた」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イベントはお休みして、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本当にやりたいことだけに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34256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407408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「マネタイズは邪道」と思っていた</a:t>
            </a:r>
          </a:p>
          <a:p>
            <a:pPr algn="l">
              <a:lnSpc>
                <a:spcPct val="112000"/>
              </a:lnSpc>
            </a:pPr>
            <a:r>
              <a:rPr sz="1300" b="1">
                <a:solidFill>
                  <a:srgbClr val="1F3A5F"/>
                </a:solidFill>
                <a:latin typeface="Yu Gothic UI"/>
              </a:rPr>
              <a:t>スピリチュアルも、</a:t>
            </a:r>
          </a:p>
          <a:p>
            <a:pPr algn="l">
              <a:lnSpc>
                <a:spcPct val="112000"/>
              </a:lnSpc>
            </a:pPr>
            <a:r>
              <a:rPr sz="1300" b="1">
                <a:solidFill>
                  <a:srgbClr val="1F3A5F"/>
                </a:solidFill>
                <a:latin typeface="Yu Gothic UI"/>
              </a:rPr>
              <a:t>マネタイズできる</a:t>
            </a: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1F3A5F"/>
                </a:solidFill>
                <a:latin typeface="Yu Gothic UI"/>
              </a:rPr>
              <a:t>まず私が豊かで、ゆとりを。</a:t>
            </a:r>
          </a:p>
          <a:p>
            <a:pPr algn="l">
              <a:lnSpc>
                <a:spcPct val="112000"/>
              </a:lnSpc>
            </a:pPr>
            <a:r>
              <a:rPr sz="1100" b="1">
                <a:solidFill>
                  <a:srgbClr val="2E6DA4"/>
                </a:solidFill>
                <a:latin typeface="Yu Gothic UI"/>
              </a:rPr>
              <a:t>「受け取るのは、大好き」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481328"/>
            <a:ext cx="3749039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4592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2　5年後のみっちゃん</a:t>
            </a:r>
          </a:p>
        </p:txBody>
      </p:sp>
      <p:pic>
        <p:nvPicPr>
          <p:cNvPr id="13" name="Picture 12" descr="img2.png"/>
          <p:cNvPicPr>
            <a:picLocks noChangeAspect="1"/>
          </p:cNvPicPr>
          <p:nvPr/>
        </p:nvPicPr>
        <p:blipFill>
          <a:blip r:embed="rId3"/>
          <a:srcRect t="19152" b="19152"/>
          <a:stretch>
            <a:fillRect/>
          </a:stretch>
        </p:blipFill>
        <p:spPr>
          <a:xfrm>
            <a:off x="4480560" y="2121408"/>
            <a:ext cx="3291839" cy="1143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80560" y="3355848"/>
            <a:ext cx="3291839" cy="1143000"/>
          </a:xfrm>
          <a:prstGeom prst="roundRect">
            <a:avLst>
              <a:gd name="adj" fmla="val 6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419856"/>
            <a:ext cx="3017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色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シャンパンゴールド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服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着物リメイクのワンピース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場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呼ばれた場所で、100人のお話会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言葉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「生きながら覚醒する」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お話会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本の説明・40分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440680" y="4882896"/>
            <a:ext cx="182880" cy="182880"/>
          </a:xfrm>
          <a:prstGeom prst="rightArrow">
            <a:avLst/>
          </a:prstGeom>
          <a:solidFill>
            <a:srgbClr val="8FB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公開セッション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質問に答える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629400" y="4882896"/>
            <a:ext cx="182880" cy="182880"/>
          </a:xfrm>
          <a:prstGeom prst="rightArrow">
            <a:avLst/>
          </a:prstGeom>
          <a:solidFill>
            <a:srgbClr val="8FB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第一部コース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3名限定・1年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413248"/>
            <a:ext cx="3291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料金・人数は、11/4にみっちゃんの言葉で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1481328"/>
            <a:ext cx="354787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459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3　次にやること</a:t>
            </a:r>
          </a:p>
        </p:txBody>
      </p:sp>
      <p:pic>
        <p:nvPicPr>
          <p:cNvPr id="27" name="Picture 26" descr="img3.png"/>
          <p:cNvPicPr>
            <a:picLocks noChangeAspect="1"/>
          </p:cNvPicPr>
          <p:nvPr/>
        </p:nvPicPr>
        <p:blipFill>
          <a:blip r:embed="rId4"/>
          <a:srcRect t="15794" b="15794"/>
          <a:stretch>
            <a:fillRect/>
          </a:stretch>
        </p:blipFill>
        <p:spPr>
          <a:xfrm>
            <a:off x="8412480" y="2121408"/>
            <a:ext cx="3090672" cy="118872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8412480" y="3447288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2248" y="3419856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お話会を先に始める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いつ：　　月　　日　　誰に：　　　　さん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4032504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4005072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通っている方に「その後どう？」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変わったことを一言ずつ聞いてみる</a:t>
            </a:r>
          </a:p>
        </p:txBody>
      </p:sp>
      <p:sp>
        <p:nvSpPr>
          <p:cNvPr id="32" name="Oval 31"/>
          <p:cNvSpPr/>
          <p:nvPr/>
        </p:nvSpPr>
        <p:spPr>
          <a:xfrm>
            <a:off x="8412480" y="4617720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2248" y="4590288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「新たな収入として」リチャージ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来年1月までに260,000円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0" y="5202936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5175503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カードの準備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11/4（水）10:00 ファーストの手続き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989320"/>
            <a:ext cx="11274552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g4.png"/>
          <p:cNvPicPr>
            <a:picLocks noChangeAspect="1"/>
          </p:cNvPicPr>
          <p:nvPr/>
        </p:nvPicPr>
        <p:blipFill>
          <a:blip r:embed="rId5"/>
          <a:srcRect t="2103" b="2103"/>
          <a:stretch>
            <a:fillRect/>
          </a:stretch>
        </p:blipFill>
        <p:spPr>
          <a:xfrm>
            <a:off x="566928" y="6062472"/>
            <a:ext cx="1051560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783080" y="6062472"/>
            <a:ext cx="6949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3A5F"/>
                </a:solidFill>
                <a:latin typeface="Yu Gothic UI"/>
              </a:rPr>
              <a:t>「その人が変わっていく、きっかけを作る人であればいい」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6B7280"/>
                </a:solidFill>
                <a:latin typeface="Yu Gothic UI"/>
              </a:rPr>
              <a:t>迷ったら、5年後のみっちゃんに「それでいいよって言ってくれる？」と聞いてみてね。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6172200"/>
            <a:ext cx="1417320" cy="347472"/>
          </a:xfrm>
          <a:prstGeom prst="roundRect">
            <a:avLst>
              <a:gd name="adj" fmla="val 12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6172200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F3A5F"/>
                </a:solidFill>
                <a:latin typeface="Yu Gothic UI"/>
              </a:rPr>
              <a:t>次回：11/4（水）10:00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5989320"/>
            <a:ext cx="13716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>
                <a:solidFill>
                  <a:srgbClr val="2E6DA4"/>
                </a:solidFill>
                <a:latin typeface="Yu Gothic UI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
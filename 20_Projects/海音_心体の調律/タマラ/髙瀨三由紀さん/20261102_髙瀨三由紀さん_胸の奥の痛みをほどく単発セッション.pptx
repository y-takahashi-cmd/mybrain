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21-1.jpg" ContentType="image/jpg"/>
  <Override PartName="/ppt/media/image-23-1.jpg" ContentType="image/jpg"/>
  <Override PartName="/ppt/media/image-24-1.jpg" ContentType="image/jpg"/>
  <Override PartName="/ppt/media/image-26-1.jpg" ContentType="image/jpg"/>
  <Override PartName="/ppt/media/image-27-1.jpg" ContentType="image/jpg"/>
  <Override PartName="/ppt/media/image-31-1.jpg" ContentType="image/jpg"/>
  <Override PartName="/ppt/media/image-36-1.jpg" ContentType="image/jpg"/>
  <Override PartName="/ppt/media/image-53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notesMasterIdLst>
    <p:notesMasterId r:id="rId5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はじめに" id="{03aa1b8d-5c6b-f15c-e63d-b5b16c213cd6}">
          <p14:sldIdLst>
            <p14:sldId id="256"/>
            <p14:sldId id="257"/>
            <p14:sldId id="258"/>
          </p14:sldIdLst>
        </p14:section>
        <p14:section name="第1部 魂の傷を聴く" id="{cdb1e530-9ca5-19d0-2f6b-2b1e2c05a6f0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第2部 頭の構造を知る" id="{6fb0b37e-758e-bc43-a4b4-33fa8396429e}">
          <p14:sldIdLst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ワーク 思い込みを書き換える" id="{2cc51895-41fe-dfec-9729-eeeeb91d5670}">
          <p14:sldIdLst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</p14:sldIdLst>
        </p14:section>
        <p14:section name="エネルギー" id="{d01206d7-db2d-9d6a-027e-0f4acae84898}">
          <p14:sldIdLst>
            <p14:sldId id="303"/>
          </p14:sldIdLst>
        </p14:section>
        <p14:section name="まとめ" id="{ad69bd18-5418-93ac-6e7c-1cac7b167f64}">
          <p14:sldIdLst>
            <p14:sldId id="304"/>
            <p14:sldId id="305"/>
            <p14:sldId id="306"/>
            <p14:sldId id="307"/>
            <p14:sldId id="308"/>
            <p14:sldId id="30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開始（11/2 月 9:00〜・120分）。お話を聴く→頭の仕組み→ワーク→エネルギーの順に進めることを伝える。書くのは由香が画面の中で行うので、髙瀨さんは話すこと・感じることに集中してOKと伝える。ご自身では痛すぎてヒーリングできなかったとのこと（病院ではなんともないと言われている＝エネルギーの痛み）なので、「今日はひとりで向き合わなくて大丈夫」と最初に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全体の流れ。質問は1つずつゆっくり聴いていく。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はじめに安心を渡す。今日の目標は「一つ気づいて、一つ持ち帰る」。最後の「最初の一歩」が持ち帰るものになる。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ここから25分。1問ずつ、ゆっくり聴く。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本人の言葉で。どこが・どんなふうに痛むか（ぎゅっと・ずきっと・重い等）。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痛みが強くなる場面は、ワークの場面候補としてメモ。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体の感じを言葉にしてもらう。最後のエネルギーの前後で比べられる。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数字をメモしておく（最後の変化の確認に使う）。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痛すぎて自分ではできなかった、という今回のお申込みの理由。どこで止まったか・何が出てきたかを聴く。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ここでは短く一言だけ。くわしくは第2部の「ゴールデンエイジ」のスライドで話す。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本人のOKをもらってから、幼少期の質問へ。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胸がぎゅっとした場面・がまんした場面の話が出たら、ワークの場面候補としてメモ。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ここは特にゆっくり。出てきた言葉はワークのSTEP4で使える。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その時、何を感じていたか。怖かった？悲しかった？怒り？寂しさ？と、気持ちに名前をつける手伝いをする。ここで出た場面がワークの第一候補。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聴いたお話を受け取ってから、講座へ。講座の途中で、いま聴いた話（胸の痛みのいちばん古い記憶・子どもの頃の話）につなげて話す。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ここから20分。1枚ずつの説明ではなく、ひとつのお話としてつなげて話す。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物語の入り口。第1部で聴いた髙瀨さんの話を受けて「それはあなたのヒーリングの力が足りないからではなく、頭（脳）の仕組みだから」と伝えて、次へ。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感情がないと行動は起きない。理性はエネルギーを使う。理論は後付け。→だから、胸の痛みをほどくには、理屈ではなく感情に触れる必要がある。次は、その感情を動かしている脳の3つのクセ。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言葉だけを見せて、少し間を置く。「ピンクの象を想像しないでください」と言ってから次のスライドへ。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ピンクの象を想像しないでください→想像してしまう。脳は否定語を受け付けない。新しいことを嫌い、変わらない言い訳を上手に作る。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強い出来事はトラウマ化して、タグ付きファイルとして保存される。脳は過去のマイナス体験を一般化して未来を予測する。→第1部で聴いた「胸の痛みのいちばん古い記憶」・子どもの頃の話は、ここにつながる。痛みは敵ではなく、守ろうとしてきたもの。では、その強い思いはいつ刻まれるのか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第1部で少し話したゴールデンエイジの、くわしい話。言われ方・見てきたことが、そのまま今の基準になっている。由香さんの言葉で補足する。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メロンちょっと食べた→この人の「ちょっと」はどのくらい？　普通＝当たり前は人それぞれ。みんなの当たり前は同じではない。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ネガティブ＝情報の入れ替えができない、自分の正しさに固執する。ポジティブ＝入れ替えができる、他の正しさを認められる。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ホーキンズ博士の意識のマップ。200（勇気）より下は人から奪う・押す力（フォース）、上は生かす力（パワー）。恥20・罪悪感30・無気力50・深い悲しみ75・恐怖100は、エネルギーがとても低い。胸の奥にしまってきた感情がこのあたりにあると、自分ではヒーリングしようにも痛すぎて触れられない。出てきた感情を否定せず、順番に感じ切って統合していくと、上へ上がっていく。怒り150は悲しみ75より上＝怒りが出てきたら上がってきたサイン。「だから、今から感情を統合するワークをしましょう」とワークへ。無理にポジティブに変えない（ポジ変禁止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アートシフトワーク その18（エフィカシーを上げる5次元タイムライン）。画面では「5次元」「VAK」「ポジション」の言葉は使わない。ここから50分（120分版なので、和解と許し・理想の未来も入れている）。思い込みは20個ではなく、1階層目5つ＋2階層目まで（10個くらい）にしぼる。書き込みは由香が画面の表に打ち込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ワークに入る前に伝える。今日で全部終わらせようとしなくていい、というメッセージ。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見せないスライド。画面共有を止めてから読む。読んだら次のスライドで共有を再開。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由香が＿＿の所に本人の言葉を打ち込む。ここで出た言葉が、思い込みの入口（ガイドブックの「私は〇〇を達成したい！ただ…」の代わり）。2つ目で「痛みがあるから守られていること・やらずに済んでいること」が出ることがある。責めずにそのまま受け取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どちらでもOK。守ってくれていたなら、まずそれを認めてから次へ。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1階層目を5つ以上。出てきたものは次の表に打ち込む。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由香が画面共有したまま表に打ち込む。髙瀨さんは話すだけでOK。10個くらい出たら次へ。1階層目で一番強いものを軸に、2階層目も同じ質問で出す。点数がわからない時はOリング・筋肉反射で。例：私ががまんすれば丸くおさまる80点／人に頼ってはいけない70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見せないスライド。画面共有を止めてから読む。読んだら次のスライドで共有を再開。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表の上位3つに印をつける→その中で一番邪魔しているものを1つ。判断できない時はOリング・筋肉反射で。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YESなら、その思い込みでSTEP4へ。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手順：①今の自分の場所に立ち、今の気持ちを話す ②思い込みが生まれた過去の場面へ移動し、見える・色・聞こえる・体の感じで話す ③その場所から出て、自分を外から見る→次の2つの質問 ④もう一度その場所に戻り、全部吐き出す。VAKという言葉は使わない。第1部の「胸の痛みのいちばん古い記憶」の場面が出やすい。感情が強く出たら止めて呼吸に戻す。胸の痛みが強くなったら、いったん止めて息を吐き切る。ポジ変をし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ポジションの外から、子どもの頃の自分を見ながら。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相手の信念・価値観はいつできたか。無理に許さなくていい。相手を理解すると、自分の胸がゆるむことがある。仁部さん版（90分）では外したもの。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相手の中に入ったまま、または外から見ながら。出てきた言葉をそのまま受け取る。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仁部さん版で外した「理想の未来」。5次元という言葉は使わない。特に胸のあたりの感じを聞く（軽い・あたたかい・広い等）。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見える・色・聞こえる・体の感じで、未来の自分をはっきりさせる。その未来のあなたから、次のスライドで「あの時のあなた」に言葉をかける。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＿＿に本人の言葉を打ち込む。言いたかったことを全部吐き出す（100％出たか？）。怒鳴る・泣く・大声を出す・体を大きく動かす・殴るなどしてOK。相手が聞いてくれている・謝っているイメージで。出し切るまで待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由香が本人の言葉をそのまま打ち込む。言葉は本人が決める（由香が作らない）。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ワークで残ったものをエネルギーで取り除く。ご自身では痛すぎてできなかった所なので、120分版ではここを15分とる。前後で胸の痛み（1〜10・色・形・重さ）を確かめる。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第1部の「1〜10で言うと、今の痛みはどのくらいですか？」で聞いた数字と比べる。色や形・重さの変化も聞く。由香が＿＿に打ち込む。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本人の言葉で言ってもらう。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「一度で終わりではなく、繰り返し向き合う」につなげる。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由香さんの言葉。一度で外れなくても失敗ではなく、ほどいている途中だと伝える。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すべての土台は絶対的安心感。「何をやっても、やらなくても大丈夫」「嫌なことをやめても、愛される」。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終了。1週間後にLINEで「その後いかがですか？」と連絡する。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TITLE-image-1.jpeg"/><Relationship Id="rId2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DIVIDER-image-1.jpeg"/><Relationship Id="rId2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image" Target="../media/QUESTION-image-1.jpeg"/><Relationship Id="rId2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8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defRPr>
            </a:lvl1pPr>
          </a:lstStyle>
          <a:p>
            <a:pPr algn="ctr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697480"/>
            <a:ext cx="76809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b="1" dirty="0">
                <a:solidFill>
                  <a:schemeClr val="tx2"/>
                </a:solidFill>
              </a:defRPr>
            </a:lvl1pPr>
          </a:lstStyle>
          <a:p>
            <a:pPr algn="ctr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600" b="1" dirty="0">
                <a:solidFill>
                  <a:schemeClr val="accent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defRPr>
            </a:lvl1pPr>
          </a:lstStyle>
          <a:p>
            <a:pPr algn="ctr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788920"/>
            <a:ext cx="76809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accent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1"/>
                </a:solidFill>
              </a:rPr>
              <a:t>海音（かのん）〜心体の調律〜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defRPr>
            </a:lvl1pPr>
          </a:lstStyle>
          <a:p>
            <a:pPr algn="ctr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500" dirty="0">
                <a:solidFill>
                  <a:schemeClr val="accent2"/>
                </a:solidFill>
              </a:defRPr>
            </a:lvl1pPr>
          </a:lstStyle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4" name="Text 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1"/>
                </a:solidFill>
              </a:rPr>
              <a:t>海音（かのん）〜心体の調律〜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image" Target="../media/image-53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海音ロ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411480"/>
            <a:ext cx="1005840" cy="973836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胸の奥の痛みをほどく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単発セッション</a:t>
            </a:r>
            <a:endParaRPr lang="en-US" sz="3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26974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髙瀨 三由紀 さん　120分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海音（かのん）〜心体の調律〜　髙橋 由香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今日の流れ（120分）</a:t>
            </a:r>
            <a:endParaRPr lang="en-US" sz="2400" dirty="0"/>
          </a:p>
        </p:txBody>
      </p:sp>
      <p:sp>
        <p:nvSpPr>
          <p:cNvPr id="3" name="flow_card0"/>
          <p:cNvSpPr/>
          <p:nvPr/>
        </p:nvSpPr>
        <p:spPr>
          <a:xfrm>
            <a:off x="457200" y="1463040"/>
            <a:ext cx="1517904" cy="2286000"/>
          </a:xfrm>
          <a:prstGeom prst="roundRect">
            <a:avLst>
              <a:gd name="adj" fmla="val 7229"/>
            </a:avLst>
          </a:prstGeom>
          <a:solidFill>
            <a:srgbClr val="F8EBEE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4" name="flow_time0"/>
          <p:cNvSpPr txBox="1"/>
          <p:nvPr/>
        </p:nvSpPr>
        <p:spPr>
          <a:xfrm>
            <a:off x="548640" y="1600200"/>
            <a:ext cx="1335024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0〜25分</a:t>
            </a:r>
            <a:endParaRPr lang="en-US" sz="1300" dirty="0"/>
          </a:p>
        </p:txBody>
      </p:sp>
      <p:sp>
        <p:nvSpPr>
          <p:cNvPr id="5" name="flow_part0"/>
          <p:cNvSpPr txBox="1"/>
          <p:nvPr/>
        </p:nvSpPr>
        <p:spPr>
          <a:xfrm>
            <a:off x="548640" y="2057400"/>
            <a:ext cx="1335024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第1部</a:t>
            </a:r>
            <a:endParaRPr lang="en-US" sz="1800" dirty="0"/>
          </a:p>
        </p:txBody>
      </p:sp>
      <p:sp>
        <p:nvSpPr>
          <p:cNvPr id="6" name="flow_desc0"/>
          <p:cNvSpPr txBox="1"/>
          <p:nvPr/>
        </p:nvSpPr>
        <p:spPr>
          <a:xfrm>
            <a:off x="548640" y="2651760"/>
            <a:ext cx="1335024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魂の傷を聴く</a:t>
            </a:r>
            <a:endParaRPr lang="en-US" sz="1400" dirty="0"/>
          </a:p>
        </p:txBody>
      </p:sp>
      <p:sp>
        <p:nvSpPr>
          <p:cNvPr id="7" name="flow_card1"/>
          <p:cNvSpPr/>
          <p:nvPr/>
        </p:nvSpPr>
        <p:spPr>
          <a:xfrm>
            <a:off x="2139696" y="1463040"/>
            <a:ext cx="1517904" cy="2286000"/>
          </a:xfrm>
          <a:prstGeom prst="roundRect">
            <a:avLst>
              <a:gd name="adj" fmla="val 7229"/>
            </a:avLst>
          </a:prstGeom>
          <a:solidFill>
            <a:srgbClr val="EFE8F6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8" name="flow_time1"/>
          <p:cNvSpPr txBox="1"/>
          <p:nvPr/>
        </p:nvSpPr>
        <p:spPr>
          <a:xfrm>
            <a:off x="2231136" y="1600200"/>
            <a:ext cx="1335024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25〜45分</a:t>
            </a:r>
            <a:endParaRPr lang="en-US" sz="1300" dirty="0"/>
          </a:p>
        </p:txBody>
      </p:sp>
      <p:sp>
        <p:nvSpPr>
          <p:cNvPr id="9" name="flow_part1"/>
          <p:cNvSpPr txBox="1"/>
          <p:nvPr/>
        </p:nvSpPr>
        <p:spPr>
          <a:xfrm>
            <a:off x="2231136" y="2057400"/>
            <a:ext cx="1335024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第2部</a:t>
            </a:r>
            <a:endParaRPr lang="en-US" sz="1800" dirty="0"/>
          </a:p>
        </p:txBody>
      </p:sp>
      <p:sp>
        <p:nvSpPr>
          <p:cNvPr id="10" name="flow_desc1"/>
          <p:cNvSpPr txBox="1"/>
          <p:nvPr/>
        </p:nvSpPr>
        <p:spPr>
          <a:xfrm>
            <a:off x="2231136" y="2651760"/>
            <a:ext cx="1335024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頭の構造を知る</a:t>
            </a:r>
            <a:endParaRPr lang="en-US" sz="1400" dirty="0"/>
          </a:p>
        </p:txBody>
      </p:sp>
      <p:sp>
        <p:nvSpPr>
          <p:cNvPr id="11" name="flow_card2"/>
          <p:cNvSpPr/>
          <p:nvPr/>
        </p:nvSpPr>
        <p:spPr>
          <a:xfrm>
            <a:off x="3822192" y="1463040"/>
            <a:ext cx="1517904" cy="2286000"/>
          </a:xfrm>
          <a:prstGeom prst="roundRect">
            <a:avLst>
              <a:gd name="adj" fmla="val 7229"/>
            </a:avLst>
          </a:prstGeom>
          <a:solidFill>
            <a:srgbClr val="E6F3EF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12" name="flow_time2"/>
          <p:cNvSpPr txBox="1"/>
          <p:nvPr/>
        </p:nvSpPr>
        <p:spPr>
          <a:xfrm>
            <a:off x="3913632" y="1600200"/>
            <a:ext cx="1335024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45〜95分</a:t>
            </a:r>
            <a:endParaRPr lang="en-US" sz="1300" dirty="0"/>
          </a:p>
        </p:txBody>
      </p:sp>
      <p:sp>
        <p:nvSpPr>
          <p:cNvPr id="13" name="flow_part2"/>
          <p:cNvSpPr txBox="1"/>
          <p:nvPr/>
        </p:nvSpPr>
        <p:spPr>
          <a:xfrm>
            <a:off x="3913632" y="2057400"/>
            <a:ext cx="1335024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ワーク</a:t>
            </a:r>
            <a:endParaRPr lang="en-US" sz="1800" dirty="0"/>
          </a:p>
        </p:txBody>
      </p:sp>
      <p:sp>
        <p:nvSpPr>
          <p:cNvPr id="14" name="flow_desc2"/>
          <p:cNvSpPr txBox="1"/>
          <p:nvPr/>
        </p:nvSpPr>
        <p:spPr>
          <a:xfrm>
            <a:off x="3913632" y="2651760"/>
            <a:ext cx="1335024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思い込みを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書き換える</a:t>
            </a:r>
            <a:endParaRPr lang="en-US" sz="1400" dirty="0"/>
          </a:p>
        </p:txBody>
      </p:sp>
      <p:sp>
        <p:nvSpPr>
          <p:cNvPr id="15" name="flow_card3"/>
          <p:cNvSpPr/>
          <p:nvPr/>
        </p:nvSpPr>
        <p:spPr>
          <a:xfrm>
            <a:off x="5504688" y="1463040"/>
            <a:ext cx="1517904" cy="2286000"/>
          </a:xfrm>
          <a:prstGeom prst="roundRect">
            <a:avLst>
              <a:gd name="adj" fmla="val 7229"/>
            </a:avLst>
          </a:prstGeom>
          <a:solidFill>
            <a:srgbClr val="F4EEDF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16" name="flow_time3"/>
          <p:cNvSpPr txBox="1"/>
          <p:nvPr/>
        </p:nvSpPr>
        <p:spPr>
          <a:xfrm>
            <a:off x="5596128" y="1600200"/>
            <a:ext cx="1335024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95〜110分</a:t>
            </a:r>
            <a:endParaRPr lang="en-US" sz="1300" dirty="0"/>
          </a:p>
        </p:txBody>
      </p:sp>
      <p:sp>
        <p:nvSpPr>
          <p:cNvPr id="17" name="flow_part3"/>
          <p:cNvSpPr txBox="1"/>
          <p:nvPr/>
        </p:nvSpPr>
        <p:spPr>
          <a:xfrm>
            <a:off x="5596128" y="2057400"/>
            <a:ext cx="1335024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エネルギー</a:t>
            </a:r>
            <a:endParaRPr lang="en-US" sz="1800" dirty="0"/>
          </a:p>
        </p:txBody>
      </p:sp>
      <p:sp>
        <p:nvSpPr>
          <p:cNvPr id="18" name="flow_desc3"/>
          <p:cNvSpPr txBox="1"/>
          <p:nvPr/>
        </p:nvSpPr>
        <p:spPr>
          <a:xfrm>
            <a:off x="5596128" y="2651760"/>
            <a:ext cx="1335024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残った痛みを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取り除く</a:t>
            </a:r>
            <a:endParaRPr lang="en-US" sz="1400" dirty="0"/>
          </a:p>
        </p:txBody>
      </p:sp>
      <p:sp>
        <p:nvSpPr>
          <p:cNvPr id="19" name="flow_card4"/>
          <p:cNvSpPr/>
          <p:nvPr/>
        </p:nvSpPr>
        <p:spPr>
          <a:xfrm>
            <a:off x="7187184" y="1463040"/>
            <a:ext cx="1517904" cy="2286000"/>
          </a:xfrm>
          <a:prstGeom prst="roundRect">
            <a:avLst>
              <a:gd name="adj" fmla="val 7229"/>
            </a:avLst>
          </a:prstGeom>
          <a:solidFill>
            <a:srgbClr val="EFE8F6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20" name="flow_time4"/>
          <p:cNvSpPr txBox="1"/>
          <p:nvPr/>
        </p:nvSpPr>
        <p:spPr>
          <a:xfrm>
            <a:off x="7278624" y="1600200"/>
            <a:ext cx="1335024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110〜120分</a:t>
            </a:r>
            <a:endParaRPr lang="en-US" sz="1300" dirty="0"/>
          </a:p>
        </p:txBody>
      </p:sp>
      <p:sp>
        <p:nvSpPr>
          <p:cNvPr id="21" name="flow_part4"/>
          <p:cNvSpPr txBox="1"/>
          <p:nvPr/>
        </p:nvSpPr>
        <p:spPr>
          <a:xfrm>
            <a:off x="7278624" y="2057400"/>
            <a:ext cx="1335024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まとめ</a:t>
            </a:r>
            <a:endParaRPr lang="en-US" sz="1800" dirty="0"/>
          </a:p>
        </p:txBody>
      </p:sp>
      <p:sp>
        <p:nvSpPr>
          <p:cNvPr id="22" name="flow_desc4"/>
          <p:cNvSpPr txBox="1"/>
          <p:nvPr/>
        </p:nvSpPr>
        <p:spPr>
          <a:xfrm>
            <a:off x="7278624" y="2651760"/>
            <a:ext cx="1335024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変化を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確かめる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今日、大切にしたいこと</a:t>
            </a:r>
            <a:endParaRPr lang="en-US" sz="2400" dirty="0"/>
          </a:p>
        </p:txBody>
      </p:sp>
      <p:sp>
        <p:nvSpPr>
          <p:cNvPr id="3" name="care_lead"/>
          <p:cNvSpPr txBox="1"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無理に変わろうとしなくて大丈夫</a:t>
            </a:r>
            <a:endParaRPr lang="en-US" sz="1600" dirty="0"/>
          </a:p>
        </p:txBody>
      </p:sp>
      <p:sp>
        <p:nvSpPr>
          <p:cNvPr id="4" name="care_card0"/>
          <p:cNvSpPr/>
          <p:nvPr/>
        </p:nvSpPr>
        <p:spPr>
          <a:xfrm>
            <a:off x="457200" y="1737360"/>
            <a:ext cx="2596896" cy="2103120"/>
          </a:xfrm>
          <a:prstGeom prst="roundRect">
            <a:avLst>
              <a:gd name="adj" fmla="val 5217"/>
            </a:avLst>
          </a:prstGeom>
          <a:solidFill>
            <a:srgbClr val="EFE8F6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5" name="care_head0"/>
          <p:cNvSpPr txBox="1"/>
          <p:nvPr/>
        </p:nvSpPr>
        <p:spPr>
          <a:xfrm>
            <a:off x="640080" y="1920240"/>
            <a:ext cx="2240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選べます</a:t>
            </a:r>
            <a:endParaRPr lang="en-US" sz="1900" dirty="0"/>
          </a:p>
        </p:txBody>
      </p:sp>
      <p:sp>
        <p:nvSpPr>
          <p:cNvPr id="6" name="care_body0"/>
          <p:cNvSpPr txBox="1"/>
          <p:nvPr/>
        </p:nvSpPr>
        <p:spPr>
          <a:xfrm>
            <a:off x="640080" y="2468880"/>
            <a:ext cx="224028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話す・話さない・休む</a:t>
            </a:r>
            <a:endParaRPr lang="en-US" sz="1600" dirty="0"/>
          </a:p>
        </p:txBody>
      </p:sp>
      <p:sp>
        <p:nvSpPr>
          <p:cNvPr id="7" name="care_card1"/>
          <p:cNvSpPr/>
          <p:nvPr/>
        </p:nvSpPr>
        <p:spPr>
          <a:xfrm>
            <a:off x="3273552" y="1737360"/>
            <a:ext cx="2596896" cy="2103120"/>
          </a:xfrm>
          <a:prstGeom prst="roundRect">
            <a:avLst>
              <a:gd name="adj" fmla="val 5217"/>
            </a:avLst>
          </a:prstGeom>
          <a:solidFill>
            <a:srgbClr val="F8EBEE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8" name="care_head1"/>
          <p:cNvSpPr txBox="1"/>
          <p:nvPr/>
        </p:nvSpPr>
        <p:spPr>
          <a:xfrm>
            <a:off x="3456432" y="1920240"/>
            <a:ext cx="2240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正解はありません</a:t>
            </a:r>
            <a:endParaRPr lang="en-US" sz="1900" dirty="0"/>
          </a:p>
        </p:txBody>
      </p:sp>
      <p:sp>
        <p:nvSpPr>
          <p:cNvPr id="9" name="care_body1"/>
          <p:cNvSpPr txBox="1"/>
          <p:nvPr/>
        </p:nvSpPr>
        <p:spPr>
          <a:xfrm>
            <a:off x="3456432" y="2468880"/>
            <a:ext cx="224028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感じ方は人それぞれ</a:t>
            </a:r>
            <a:endParaRPr lang="en-US" sz="1600" dirty="0"/>
          </a:p>
        </p:txBody>
      </p:sp>
      <p:sp>
        <p:nvSpPr>
          <p:cNvPr id="10" name="care_card2"/>
          <p:cNvSpPr/>
          <p:nvPr/>
        </p:nvSpPr>
        <p:spPr>
          <a:xfrm>
            <a:off x="6089904" y="1737360"/>
            <a:ext cx="2596896" cy="2103120"/>
          </a:xfrm>
          <a:prstGeom prst="roundRect">
            <a:avLst>
              <a:gd name="adj" fmla="val 5217"/>
            </a:avLst>
          </a:prstGeom>
          <a:solidFill>
            <a:srgbClr val="E6F3EF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11" name="care_head2"/>
          <p:cNvSpPr txBox="1"/>
          <p:nvPr/>
        </p:nvSpPr>
        <p:spPr>
          <a:xfrm>
            <a:off x="6272784" y="1920240"/>
            <a:ext cx="2240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今日の目標</a:t>
            </a:r>
            <a:endParaRPr lang="en-US" sz="1900" dirty="0"/>
          </a:p>
        </p:txBody>
      </p:sp>
      <p:sp>
        <p:nvSpPr>
          <p:cNvPr id="12" name="care_body2"/>
          <p:cNvSpPr txBox="1"/>
          <p:nvPr/>
        </p:nvSpPr>
        <p:spPr>
          <a:xfrm>
            <a:off x="6272784" y="2468880"/>
            <a:ext cx="224028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一つ気づいて、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一つ持ち帰る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第1部　魂の傷を聴く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7889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直感でおしえてください（0〜25分）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答えたくない質問は、飛ばして大丈夫です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どのような事でお悩みですか？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胸の奥の痛みについて、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おしえてください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直感で大丈夫です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どのような事でお悩みですか？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それは、いつからですか？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どのくらいの期間、続いていますか？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どのような事でお悩みですか？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どんな時に、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痛みが強くなりますか？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誰といる時・何をしている時・何を思い出した時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どのような事でお悩みですか？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その痛みに、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色や形があるとしたら？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何色ですか？　どんな形ですか？　重さはありますか？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どのような事でお悩みですか？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1〜10で言うと、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今の痛みはどのくらいですか？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どのような事でお悩みですか？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ご自分でヒーリングしようとした時、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何が起きましたか？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今日は、ひとりで向き合わなくて大丈夫です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どのような事でお悩みですか？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その痛みは、あなたの人生に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どのような影響がありますか？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ゴールデンエイジ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子どもの頃に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見たこと・聞いたことが、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今の「当たり前」になりやすい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この大切な時期を「ゴールデンエイジ」と呼びます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幼少期のこと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子ども時代のことも、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聴かせていただいても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いいですか？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話したくないことは、話さなくて大丈夫です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問題の心理状況：幼少期の影響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どのような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お子さんでしたか？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問題の心理状況：幼少期の影響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ご両親は、厳しかったですか？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優しかったですか？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問題の心理状況：幼少期の影響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ご両親に、かけてほしかった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言葉はありますか？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胸の痛みの、いちばん古い記憶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胸の奥が、はじめて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ぎゅっと痛んだのは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いつ頃ですか？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誰かを責めるのではなく、当時のあなたの気持ちを大切にします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第2部へ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お話を聴かせてくださって、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ありがとうございます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ここで少し、頭の仕組みのお話をさせてください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第2部　頭の構造を知る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7889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なぜ「わかっているのに」痛みが残るのか（25〜45分）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第2部のはじめに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頭ではわかっているのに、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胸の奥の痛みだけは、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なかなか消えてくれない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その理由を、頭の仕組みからお話しします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第2部　頭の構造を知る ｜ 1 / 7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人は「頭」ではなく「感情」で動いている</a:t>
            </a:r>
            <a:endParaRPr lang="en-US" sz="2400" dirty="0"/>
          </a:p>
        </p:txBody>
      </p:sp>
      <p:pic>
        <p:nvPicPr>
          <p:cNvPr id="4" name="Image 0" descr="講座スライ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120640" cy="2880360"/>
          </a:xfrm>
          <a:prstGeom prst="rect">
            <a:avLst/>
          </a:prstGeom>
        </p:spPr>
      </p:pic>
      <p:sp>
        <p:nvSpPr>
          <p:cNvPr id="5" name="money_card"/>
          <p:cNvSpPr/>
          <p:nvPr/>
        </p:nvSpPr>
        <p:spPr>
          <a:xfrm>
            <a:off x="5806440" y="1234440"/>
            <a:ext cx="2880360" cy="2880360"/>
          </a:xfrm>
          <a:prstGeom prst="roundRect">
            <a:avLst>
              <a:gd name="adj" fmla="val 3810"/>
            </a:avLst>
          </a:prstGeom>
          <a:solidFill>
            <a:srgbClr val="F8EBEE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6" name="money_head"/>
          <p:cNvSpPr txBox="1"/>
          <p:nvPr/>
        </p:nvSpPr>
        <p:spPr>
          <a:xfrm>
            <a:off x="598932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胸の痛みで言うと…</a:t>
            </a:r>
            <a:endParaRPr lang="en-US" sz="1500" dirty="0"/>
          </a:p>
        </p:txBody>
      </p:sp>
      <p:sp>
        <p:nvSpPr>
          <p:cNvPr id="7" name="money_body"/>
          <p:cNvSpPr txBox="1"/>
          <p:nvPr/>
        </p:nvSpPr>
        <p:spPr>
          <a:xfrm>
            <a:off x="5989320" y="1783080"/>
            <a:ext cx="2560320" cy="2240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「もう大丈夫」と頭でわかっていても痛むのは、心が弱いからではありません。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頭で考えるより先に、感情が体に出ているからです。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ピンクの象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第2部　頭の構造を知る ｜ 2 / 7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脳のクセ①　「〜しない」がわからない</a:t>
            </a:r>
            <a:endParaRPr lang="en-US" sz="2400" dirty="0"/>
          </a:p>
        </p:txBody>
      </p:sp>
      <p:pic>
        <p:nvPicPr>
          <p:cNvPr id="4" name="Image 0" descr="講座スライ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120640" cy="2880360"/>
          </a:xfrm>
          <a:prstGeom prst="rect">
            <a:avLst/>
          </a:prstGeom>
        </p:spPr>
      </p:pic>
      <p:sp>
        <p:nvSpPr>
          <p:cNvPr id="5" name="money_card"/>
          <p:cNvSpPr/>
          <p:nvPr/>
        </p:nvSpPr>
        <p:spPr>
          <a:xfrm>
            <a:off x="5806440" y="1234440"/>
            <a:ext cx="2880360" cy="2880360"/>
          </a:xfrm>
          <a:prstGeom prst="roundRect">
            <a:avLst>
              <a:gd name="adj" fmla="val 3810"/>
            </a:avLst>
          </a:prstGeom>
          <a:solidFill>
            <a:srgbClr val="F8EBEE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6" name="money_head"/>
          <p:cNvSpPr txBox="1"/>
          <p:nvPr/>
        </p:nvSpPr>
        <p:spPr>
          <a:xfrm>
            <a:off x="598932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胸の痛みで言うと…</a:t>
            </a:r>
            <a:endParaRPr lang="en-US" sz="1500" dirty="0"/>
          </a:p>
        </p:txBody>
      </p:sp>
      <p:sp>
        <p:nvSpPr>
          <p:cNvPr id="7" name="money_body"/>
          <p:cNvSpPr txBox="1"/>
          <p:nvPr/>
        </p:nvSpPr>
        <p:spPr>
          <a:xfrm>
            <a:off x="5989320" y="1783080"/>
            <a:ext cx="2560320" cy="2240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「痛まないように」「思い出さないように」と思うほど、脳は痛む場面を思い描いてしまいます。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第2部　頭の構造を知る ｜ 3 / 7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脳のクセ②　過去の「強い思い」に引っ張られる</a:t>
            </a:r>
            <a:endParaRPr lang="en-US" sz="2400" dirty="0"/>
          </a:p>
        </p:txBody>
      </p:sp>
      <p:pic>
        <p:nvPicPr>
          <p:cNvPr id="4" name="Image 0" descr="講座スライ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120640" cy="2880360"/>
          </a:xfrm>
          <a:prstGeom prst="rect">
            <a:avLst/>
          </a:prstGeom>
        </p:spPr>
      </p:pic>
      <p:sp>
        <p:nvSpPr>
          <p:cNvPr id="5" name="money_card"/>
          <p:cNvSpPr/>
          <p:nvPr/>
        </p:nvSpPr>
        <p:spPr>
          <a:xfrm>
            <a:off x="5806440" y="1234440"/>
            <a:ext cx="2880360" cy="2880360"/>
          </a:xfrm>
          <a:prstGeom prst="roundRect">
            <a:avLst>
              <a:gd name="adj" fmla="val 3810"/>
            </a:avLst>
          </a:prstGeom>
          <a:solidFill>
            <a:srgbClr val="F8EBEE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6" name="money_head"/>
          <p:cNvSpPr txBox="1"/>
          <p:nvPr/>
        </p:nvSpPr>
        <p:spPr>
          <a:xfrm>
            <a:off x="598932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胸の痛みで言うと…</a:t>
            </a:r>
            <a:endParaRPr lang="en-US" sz="1500" dirty="0"/>
          </a:p>
        </p:txBody>
      </p:sp>
      <p:sp>
        <p:nvSpPr>
          <p:cNvPr id="7" name="money_body"/>
          <p:cNvSpPr txBox="1"/>
          <p:nvPr/>
        </p:nvSpPr>
        <p:spPr>
          <a:xfrm>
            <a:off x="5989320" y="1783080"/>
            <a:ext cx="2560320" cy="2240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つらかった体験は「二度と触れるな」と保存されて、似た場面になると胸をぎゅっと縮めて、あなたを守ろうとします。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第2部　頭の構造を知る ｜ 4 / 7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その「強い思い」が刻まれるのが、ゴールデンエイジ</a:t>
            </a:r>
            <a:endParaRPr lang="en-US" sz="2400" dirty="0"/>
          </a:p>
        </p:txBody>
      </p:sp>
      <p:sp>
        <p:nvSpPr>
          <p:cNvPr id="4" name="ga_card0"/>
          <p:cNvSpPr/>
          <p:nvPr/>
        </p:nvSpPr>
        <p:spPr>
          <a:xfrm>
            <a:off x="457200" y="1234440"/>
            <a:ext cx="5120640" cy="822960"/>
          </a:xfrm>
          <a:prstGeom prst="roundRect">
            <a:avLst>
              <a:gd name="adj" fmla="val 13333"/>
            </a:avLst>
          </a:prstGeom>
          <a:solidFill>
            <a:srgbClr val="FDFAF4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5" name="ga0_c"/>
          <p:cNvSpPr/>
          <p:nvPr/>
        </p:nvSpPr>
        <p:spPr>
          <a:xfrm>
            <a:off x="621792" y="1453896"/>
            <a:ext cx="384048" cy="384048"/>
          </a:xfrm>
          <a:prstGeom prst="ellipse">
            <a:avLst/>
          </a:prstGeom>
          <a:solidFill>
            <a:srgbClr val="B08A4E"/>
          </a:solidFill>
          <a:ln/>
        </p:spPr>
        <p:txBody>
          <a:bodyPr/>
          <a:p/>
        </p:txBody>
      </p:sp>
      <p:sp>
        <p:nvSpPr>
          <p:cNvPr id="6" name="ga0_n"/>
          <p:cNvSpPr txBox="1"/>
          <p:nvPr/>
        </p:nvSpPr>
        <p:spPr>
          <a:xfrm>
            <a:off x="621792" y="1453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ga_head0"/>
          <p:cNvSpPr txBox="1"/>
          <p:nvPr/>
        </p:nvSpPr>
        <p:spPr>
          <a:xfrm>
            <a:off x="1143000" y="1298448"/>
            <a:ext cx="429768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子どもの頃</a:t>
            </a:r>
            <a:endParaRPr lang="en-US" sz="1600" dirty="0"/>
          </a:p>
        </p:txBody>
      </p:sp>
      <p:sp>
        <p:nvSpPr>
          <p:cNvPr id="8" name="ga_body0"/>
          <p:cNvSpPr txBox="1"/>
          <p:nvPr/>
        </p:nvSpPr>
        <p:spPr>
          <a:xfrm>
            <a:off x="1143000" y="1645920"/>
            <a:ext cx="42976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家の中で見たこと・聞いた言葉・言われ方</a:t>
            </a:r>
            <a:endParaRPr lang="en-US" sz="1400" dirty="0"/>
          </a:p>
        </p:txBody>
      </p:sp>
      <p:sp>
        <p:nvSpPr>
          <p:cNvPr id="9" name="ga_card1"/>
          <p:cNvSpPr/>
          <p:nvPr/>
        </p:nvSpPr>
        <p:spPr>
          <a:xfrm>
            <a:off x="457200" y="2221992"/>
            <a:ext cx="5120640" cy="822960"/>
          </a:xfrm>
          <a:prstGeom prst="roundRect">
            <a:avLst>
              <a:gd name="adj" fmla="val 13333"/>
            </a:avLst>
          </a:prstGeom>
          <a:solidFill>
            <a:srgbClr val="FDFAF4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10" name="ga1_c"/>
          <p:cNvSpPr/>
          <p:nvPr/>
        </p:nvSpPr>
        <p:spPr>
          <a:xfrm>
            <a:off x="621792" y="2441448"/>
            <a:ext cx="384048" cy="384048"/>
          </a:xfrm>
          <a:prstGeom prst="ellipse">
            <a:avLst/>
          </a:prstGeom>
          <a:solidFill>
            <a:srgbClr val="B08A4E"/>
          </a:solidFill>
          <a:ln/>
        </p:spPr>
        <p:txBody>
          <a:bodyPr/>
          <a:p/>
        </p:txBody>
      </p:sp>
      <p:sp>
        <p:nvSpPr>
          <p:cNvPr id="11" name="ga1_n"/>
          <p:cNvSpPr txBox="1"/>
          <p:nvPr/>
        </p:nvSpPr>
        <p:spPr>
          <a:xfrm>
            <a:off x="621792" y="2441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ga_head1"/>
          <p:cNvSpPr txBox="1"/>
          <p:nvPr/>
        </p:nvSpPr>
        <p:spPr>
          <a:xfrm>
            <a:off x="1143000" y="2286000"/>
            <a:ext cx="429768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脳が保存</a:t>
            </a:r>
            <a:endParaRPr lang="en-US" sz="1600" dirty="0"/>
          </a:p>
        </p:txBody>
      </p:sp>
      <p:sp>
        <p:nvSpPr>
          <p:cNvPr id="13" name="ga_body1"/>
          <p:cNvSpPr txBox="1"/>
          <p:nvPr/>
        </p:nvSpPr>
        <p:spPr>
          <a:xfrm>
            <a:off x="1143000" y="2633472"/>
            <a:ext cx="42976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「これが当たり前」として記憶する</a:t>
            </a:r>
            <a:endParaRPr lang="en-US" sz="1400" dirty="0"/>
          </a:p>
        </p:txBody>
      </p:sp>
      <p:sp>
        <p:nvSpPr>
          <p:cNvPr id="14" name="ga_card2"/>
          <p:cNvSpPr/>
          <p:nvPr/>
        </p:nvSpPr>
        <p:spPr>
          <a:xfrm>
            <a:off x="457200" y="3209544"/>
            <a:ext cx="5120640" cy="822960"/>
          </a:xfrm>
          <a:prstGeom prst="roundRect">
            <a:avLst>
              <a:gd name="adj" fmla="val 13333"/>
            </a:avLst>
          </a:prstGeom>
          <a:solidFill>
            <a:srgbClr val="F8EBEE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15" name="ga2_c"/>
          <p:cNvSpPr/>
          <p:nvPr/>
        </p:nvSpPr>
        <p:spPr>
          <a:xfrm>
            <a:off x="621792" y="3429000"/>
            <a:ext cx="384048" cy="384048"/>
          </a:xfrm>
          <a:prstGeom prst="ellipse">
            <a:avLst/>
          </a:prstGeom>
          <a:solidFill>
            <a:srgbClr val="B08A4E"/>
          </a:solidFill>
          <a:ln/>
        </p:spPr>
        <p:txBody>
          <a:bodyPr/>
          <a:p/>
        </p:txBody>
      </p:sp>
      <p:sp>
        <p:nvSpPr>
          <p:cNvPr id="16" name="ga2_n"/>
          <p:cNvSpPr txBox="1"/>
          <p:nvPr/>
        </p:nvSpPr>
        <p:spPr>
          <a:xfrm>
            <a:off x="621792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ga_head2"/>
          <p:cNvSpPr txBox="1"/>
          <p:nvPr/>
        </p:nvSpPr>
        <p:spPr>
          <a:xfrm>
            <a:off x="1143000" y="3273552"/>
            <a:ext cx="429768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大人になった今</a:t>
            </a:r>
            <a:endParaRPr lang="en-US" sz="1600" dirty="0"/>
          </a:p>
        </p:txBody>
      </p:sp>
      <p:sp>
        <p:nvSpPr>
          <p:cNvPr id="18" name="ga_body2"/>
          <p:cNvSpPr txBox="1"/>
          <p:nvPr/>
        </p:nvSpPr>
        <p:spPr>
          <a:xfrm>
            <a:off x="1143000" y="3621024"/>
            <a:ext cx="42976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その当たり前が、自分の基準として動き続ける</a:t>
            </a:r>
            <a:endParaRPr lang="en-US" sz="1400" dirty="0"/>
          </a:p>
        </p:txBody>
      </p:sp>
      <p:sp>
        <p:nvSpPr>
          <p:cNvPr id="19" name="money_card"/>
          <p:cNvSpPr/>
          <p:nvPr/>
        </p:nvSpPr>
        <p:spPr>
          <a:xfrm>
            <a:off x="5806440" y="1234440"/>
            <a:ext cx="2880360" cy="2798064"/>
          </a:xfrm>
          <a:prstGeom prst="roundRect">
            <a:avLst>
              <a:gd name="adj" fmla="val 3922"/>
            </a:avLst>
          </a:prstGeom>
          <a:solidFill>
            <a:srgbClr val="F8EBEE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20" name="money_head"/>
          <p:cNvSpPr txBox="1"/>
          <p:nvPr/>
        </p:nvSpPr>
        <p:spPr>
          <a:xfrm>
            <a:off x="598932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胸の痛みで言うと…</a:t>
            </a:r>
            <a:endParaRPr lang="en-US" sz="1500" dirty="0"/>
          </a:p>
        </p:txBody>
      </p:sp>
      <p:sp>
        <p:nvSpPr>
          <p:cNvPr id="21" name="money_body"/>
          <p:cNvSpPr txBox="1"/>
          <p:nvPr/>
        </p:nvSpPr>
        <p:spPr>
          <a:xfrm>
            <a:off x="5989320" y="1783080"/>
            <a:ext cx="2560320" cy="2103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子どもの頃、胸がぎゅっとした場面で覚えた「こうしなきゃ」が、今も胸の奥で続いています。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第2部　頭の構造を知る ｜ 5 / 7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でも、その「当たり前」は人によって全然ちがう</a:t>
            </a:r>
            <a:endParaRPr lang="en-US" sz="2400" dirty="0"/>
          </a:p>
        </p:txBody>
      </p:sp>
      <p:pic>
        <p:nvPicPr>
          <p:cNvPr id="4" name="Image 0" descr="講座スライ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120640" cy="2880360"/>
          </a:xfrm>
          <a:prstGeom prst="rect">
            <a:avLst/>
          </a:prstGeom>
        </p:spPr>
      </p:pic>
      <p:sp>
        <p:nvSpPr>
          <p:cNvPr id="5" name="money_card"/>
          <p:cNvSpPr/>
          <p:nvPr/>
        </p:nvSpPr>
        <p:spPr>
          <a:xfrm>
            <a:off x="5806440" y="1234440"/>
            <a:ext cx="2880360" cy="2880360"/>
          </a:xfrm>
          <a:prstGeom prst="roundRect">
            <a:avLst>
              <a:gd name="adj" fmla="val 3810"/>
            </a:avLst>
          </a:prstGeom>
          <a:solidFill>
            <a:srgbClr val="F8EBEE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6" name="money_head"/>
          <p:cNvSpPr txBox="1"/>
          <p:nvPr/>
        </p:nvSpPr>
        <p:spPr>
          <a:xfrm>
            <a:off x="598932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胸の痛みで言うと…</a:t>
            </a:r>
            <a:endParaRPr lang="en-US" sz="1500" dirty="0"/>
          </a:p>
        </p:txBody>
      </p:sp>
      <p:sp>
        <p:nvSpPr>
          <p:cNvPr id="7" name="money_body"/>
          <p:cNvSpPr txBox="1"/>
          <p:nvPr/>
        </p:nvSpPr>
        <p:spPr>
          <a:xfrm>
            <a:off x="5989320" y="1783080"/>
            <a:ext cx="2560320" cy="2240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痛みを抱えたまま「これが当たり前」と思ってきたことも、あなたの育った場所で作られたもの。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作られたものだから、書き換えられます。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第2部　頭の構造を知る ｜ 6 / 7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ポジティブとは「入れ替えられる」こと</a:t>
            </a:r>
            <a:endParaRPr lang="en-US" sz="2400" dirty="0"/>
          </a:p>
        </p:txBody>
      </p:sp>
      <p:pic>
        <p:nvPicPr>
          <p:cNvPr id="4" name="Image 0" descr="講座スライ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120640" cy="2880360"/>
          </a:xfrm>
          <a:prstGeom prst="rect">
            <a:avLst/>
          </a:prstGeom>
        </p:spPr>
      </p:pic>
      <p:sp>
        <p:nvSpPr>
          <p:cNvPr id="5" name="money_card"/>
          <p:cNvSpPr/>
          <p:nvPr/>
        </p:nvSpPr>
        <p:spPr>
          <a:xfrm>
            <a:off x="5806440" y="1234440"/>
            <a:ext cx="2880360" cy="2880360"/>
          </a:xfrm>
          <a:prstGeom prst="roundRect">
            <a:avLst>
              <a:gd name="adj" fmla="val 3810"/>
            </a:avLst>
          </a:prstGeom>
          <a:solidFill>
            <a:srgbClr val="F8EBEE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6" name="money_head"/>
          <p:cNvSpPr txBox="1"/>
          <p:nvPr/>
        </p:nvSpPr>
        <p:spPr>
          <a:xfrm>
            <a:off x="598932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胸の痛みで言うと…</a:t>
            </a:r>
            <a:endParaRPr lang="en-US" sz="1500" dirty="0"/>
          </a:p>
        </p:txBody>
      </p:sp>
      <p:sp>
        <p:nvSpPr>
          <p:cNvPr id="7" name="money_body"/>
          <p:cNvSpPr txBox="1"/>
          <p:nvPr/>
        </p:nvSpPr>
        <p:spPr>
          <a:xfrm>
            <a:off x="5989320" y="1783080"/>
            <a:ext cx="2560320" cy="2240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痛みを無理に「もう平気」と思い込むことではありません。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古い受け取り方を、新しい受け取り方に入れ替えられる状態のことです。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第2部　頭の構造を知る ｜ 7 / 7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感情には「エネルギーの高さ」がある</a:t>
            </a:r>
            <a:endParaRPr lang="en-US" sz="2400" dirty="0"/>
          </a:p>
        </p:txBody>
      </p:sp>
      <p:sp>
        <p:nvSpPr>
          <p:cNvPr id="4" name="lv_head0"/>
          <p:cNvSpPr txBox="1"/>
          <p:nvPr/>
        </p:nvSpPr>
        <p:spPr>
          <a:xfrm>
            <a:off x="457200" y="109728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エネルギー値</a:t>
            </a:r>
            <a:endParaRPr lang="en-US" sz="900" dirty="0"/>
          </a:p>
        </p:txBody>
      </p:sp>
      <p:sp>
        <p:nvSpPr>
          <p:cNvPr id="5" name="lv_head1"/>
          <p:cNvSpPr txBox="1"/>
          <p:nvPr/>
        </p:nvSpPr>
        <p:spPr>
          <a:xfrm>
            <a:off x="1508760" y="10972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意識のレベル</a:t>
            </a:r>
            <a:endParaRPr lang="en-US" sz="900" dirty="0"/>
          </a:p>
        </p:txBody>
      </p:sp>
      <p:sp>
        <p:nvSpPr>
          <p:cNvPr id="6" name="lv_head2"/>
          <p:cNvSpPr txBox="1"/>
          <p:nvPr/>
        </p:nvSpPr>
        <p:spPr>
          <a:xfrm>
            <a:off x="3063240" y="10972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感情</a:t>
            </a:r>
            <a:endParaRPr lang="en-US" sz="900" dirty="0"/>
          </a:p>
        </p:txBody>
      </p:sp>
      <p:sp>
        <p:nvSpPr>
          <p:cNvPr id="7" name="lv_row0"/>
          <p:cNvSpPr/>
          <p:nvPr/>
        </p:nvSpPr>
        <p:spPr>
          <a:xfrm>
            <a:off x="457200" y="1298448"/>
            <a:ext cx="5120640" cy="192024"/>
          </a:xfrm>
          <a:prstGeom prst="rect">
            <a:avLst/>
          </a:prstGeom>
          <a:solidFill>
            <a:srgbClr val="F0CC6A"/>
          </a:solidFill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lv_0_0"/>
          <p:cNvSpPr txBox="1"/>
          <p:nvPr/>
        </p:nvSpPr>
        <p:spPr>
          <a:xfrm>
            <a:off x="457200" y="1298448"/>
            <a:ext cx="1051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700〜1000</a:t>
            </a:r>
            <a:endParaRPr lang="en-US" sz="1000" dirty="0"/>
          </a:p>
        </p:txBody>
      </p:sp>
      <p:sp>
        <p:nvSpPr>
          <p:cNvPr id="9" name="lv_0_1"/>
          <p:cNvSpPr txBox="1"/>
          <p:nvPr/>
        </p:nvSpPr>
        <p:spPr>
          <a:xfrm>
            <a:off x="1508760" y="1298448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悟り</a:t>
            </a:r>
            <a:endParaRPr lang="en-US" sz="1000" dirty="0"/>
          </a:p>
        </p:txBody>
      </p:sp>
      <p:sp>
        <p:nvSpPr>
          <p:cNvPr id="10" name="lv_0_2"/>
          <p:cNvSpPr txBox="1"/>
          <p:nvPr/>
        </p:nvSpPr>
        <p:spPr>
          <a:xfrm>
            <a:off x="3063240" y="1298448"/>
            <a:ext cx="1371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言語に絶する</a:t>
            </a:r>
            <a:endParaRPr lang="en-US" sz="1000" dirty="0"/>
          </a:p>
        </p:txBody>
      </p:sp>
      <p:sp>
        <p:nvSpPr>
          <p:cNvPr id="11" name="lv_row1"/>
          <p:cNvSpPr/>
          <p:nvPr/>
        </p:nvSpPr>
        <p:spPr>
          <a:xfrm>
            <a:off x="457200" y="1490472"/>
            <a:ext cx="5120640" cy="192024"/>
          </a:xfrm>
          <a:prstGeom prst="rect">
            <a:avLst/>
          </a:prstGeom>
          <a:solidFill>
            <a:srgbClr val="F0CC6A"/>
          </a:solidFill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lv_1_0"/>
          <p:cNvSpPr txBox="1"/>
          <p:nvPr/>
        </p:nvSpPr>
        <p:spPr>
          <a:xfrm>
            <a:off x="457200" y="1490472"/>
            <a:ext cx="1051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600</a:t>
            </a:r>
            <a:endParaRPr lang="en-US" sz="1000" dirty="0"/>
          </a:p>
        </p:txBody>
      </p:sp>
      <p:sp>
        <p:nvSpPr>
          <p:cNvPr id="13" name="lv_1_1"/>
          <p:cNvSpPr txBox="1"/>
          <p:nvPr/>
        </p:nvSpPr>
        <p:spPr>
          <a:xfrm>
            <a:off x="1508760" y="1490472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平和</a:t>
            </a:r>
            <a:endParaRPr lang="en-US" sz="1000" dirty="0"/>
          </a:p>
        </p:txBody>
      </p:sp>
      <p:sp>
        <p:nvSpPr>
          <p:cNvPr id="14" name="lv_1_2"/>
          <p:cNvSpPr txBox="1"/>
          <p:nvPr/>
        </p:nvSpPr>
        <p:spPr>
          <a:xfrm>
            <a:off x="3063240" y="1490472"/>
            <a:ext cx="1371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至福</a:t>
            </a:r>
            <a:endParaRPr lang="en-US" sz="1000" dirty="0"/>
          </a:p>
        </p:txBody>
      </p:sp>
      <p:sp>
        <p:nvSpPr>
          <p:cNvPr id="15" name="lv_row2"/>
          <p:cNvSpPr/>
          <p:nvPr/>
        </p:nvSpPr>
        <p:spPr>
          <a:xfrm>
            <a:off x="457200" y="1682496"/>
            <a:ext cx="5120640" cy="192024"/>
          </a:xfrm>
          <a:prstGeom prst="rect">
            <a:avLst/>
          </a:prstGeom>
          <a:solidFill>
            <a:srgbClr val="F3D98B"/>
          </a:solidFill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lv_2_0"/>
          <p:cNvSpPr txBox="1"/>
          <p:nvPr/>
        </p:nvSpPr>
        <p:spPr>
          <a:xfrm>
            <a:off x="457200" y="1682496"/>
            <a:ext cx="1051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540</a:t>
            </a:r>
            <a:endParaRPr lang="en-US" sz="1000" dirty="0"/>
          </a:p>
        </p:txBody>
      </p:sp>
      <p:sp>
        <p:nvSpPr>
          <p:cNvPr id="17" name="lv_2_1"/>
          <p:cNvSpPr txBox="1"/>
          <p:nvPr/>
        </p:nvSpPr>
        <p:spPr>
          <a:xfrm>
            <a:off x="1508760" y="1682496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喜び</a:t>
            </a:r>
            <a:endParaRPr lang="en-US" sz="1000" dirty="0"/>
          </a:p>
        </p:txBody>
      </p:sp>
      <p:sp>
        <p:nvSpPr>
          <p:cNvPr id="18" name="lv_2_2"/>
          <p:cNvSpPr txBox="1"/>
          <p:nvPr/>
        </p:nvSpPr>
        <p:spPr>
          <a:xfrm>
            <a:off x="3063240" y="1682496"/>
            <a:ext cx="1371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静穏</a:t>
            </a:r>
            <a:endParaRPr lang="en-US" sz="1000" dirty="0"/>
          </a:p>
        </p:txBody>
      </p:sp>
      <p:sp>
        <p:nvSpPr>
          <p:cNvPr id="19" name="lv_row3"/>
          <p:cNvSpPr/>
          <p:nvPr/>
        </p:nvSpPr>
        <p:spPr>
          <a:xfrm>
            <a:off x="457200" y="1874520"/>
            <a:ext cx="5120640" cy="192024"/>
          </a:xfrm>
          <a:prstGeom prst="rect">
            <a:avLst/>
          </a:prstGeom>
          <a:solidFill>
            <a:srgbClr val="F3D98B"/>
          </a:solidFill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lv_3_0"/>
          <p:cNvSpPr txBox="1"/>
          <p:nvPr/>
        </p:nvSpPr>
        <p:spPr>
          <a:xfrm>
            <a:off x="457200" y="1874520"/>
            <a:ext cx="1051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500</a:t>
            </a:r>
            <a:endParaRPr lang="en-US" sz="1000" dirty="0"/>
          </a:p>
        </p:txBody>
      </p:sp>
      <p:sp>
        <p:nvSpPr>
          <p:cNvPr id="21" name="lv_3_1"/>
          <p:cNvSpPr txBox="1"/>
          <p:nvPr/>
        </p:nvSpPr>
        <p:spPr>
          <a:xfrm>
            <a:off x="1508760" y="1874520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愛</a:t>
            </a:r>
            <a:endParaRPr lang="en-US" sz="1000" dirty="0"/>
          </a:p>
        </p:txBody>
      </p:sp>
      <p:sp>
        <p:nvSpPr>
          <p:cNvPr id="22" name="lv_3_2"/>
          <p:cNvSpPr txBox="1"/>
          <p:nvPr/>
        </p:nvSpPr>
        <p:spPr>
          <a:xfrm>
            <a:off x="3063240" y="1874520"/>
            <a:ext cx="1371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尊敬</a:t>
            </a:r>
            <a:endParaRPr lang="en-US" sz="1000" dirty="0"/>
          </a:p>
        </p:txBody>
      </p:sp>
      <p:sp>
        <p:nvSpPr>
          <p:cNvPr id="23" name="lv_row4"/>
          <p:cNvSpPr/>
          <p:nvPr/>
        </p:nvSpPr>
        <p:spPr>
          <a:xfrm>
            <a:off x="457200" y="2066544"/>
            <a:ext cx="5120640" cy="192024"/>
          </a:xfrm>
          <a:prstGeom prst="rect">
            <a:avLst/>
          </a:prstGeom>
          <a:solidFill>
            <a:srgbClr val="F3D98B"/>
          </a:solidFill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lv_4_0"/>
          <p:cNvSpPr txBox="1"/>
          <p:nvPr/>
        </p:nvSpPr>
        <p:spPr>
          <a:xfrm>
            <a:off x="457200" y="2066544"/>
            <a:ext cx="1051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400</a:t>
            </a:r>
            <a:endParaRPr lang="en-US" sz="1000" dirty="0"/>
          </a:p>
        </p:txBody>
      </p:sp>
      <p:sp>
        <p:nvSpPr>
          <p:cNvPr id="25" name="lv_4_1"/>
          <p:cNvSpPr txBox="1"/>
          <p:nvPr/>
        </p:nvSpPr>
        <p:spPr>
          <a:xfrm>
            <a:off x="1508760" y="2066544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理性</a:t>
            </a:r>
            <a:endParaRPr lang="en-US" sz="1000" dirty="0"/>
          </a:p>
        </p:txBody>
      </p:sp>
      <p:sp>
        <p:nvSpPr>
          <p:cNvPr id="26" name="lv_4_2"/>
          <p:cNvSpPr txBox="1"/>
          <p:nvPr/>
        </p:nvSpPr>
        <p:spPr>
          <a:xfrm>
            <a:off x="3063240" y="2066544"/>
            <a:ext cx="1371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理解</a:t>
            </a:r>
            <a:endParaRPr lang="en-US" sz="1000" dirty="0"/>
          </a:p>
        </p:txBody>
      </p:sp>
      <p:sp>
        <p:nvSpPr>
          <p:cNvPr id="27" name="lv_row5"/>
          <p:cNvSpPr/>
          <p:nvPr/>
        </p:nvSpPr>
        <p:spPr>
          <a:xfrm>
            <a:off x="457200" y="2258568"/>
            <a:ext cx="5120640" cy="192024"/>
          </a:xfrm>
          <a:prstGeom prst="rect">
            <a:avLst/>
          </a:prstGeom>
          <a:solidFill>
            <a:srgbClr val="F8EBC8"/>
          </a:solidFill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8" name="lv_5_0"/>
          <p:cNvSpPr txBox="1"/>
          <p:nvPr/>
        </p:nvSpPr>
        <p:spPr>
          <a:xfrm>
            <a:off x="457200" y="2258568"/>
            <a:ext cx="1051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350</a:t>
            </a:r>
            <a:endParaRPr lang="en-US" sz="1000" dirty="0"/>
          </a:p>
        </p:txBody>
      </p:sp>
      <p:sp>
        <p:nvSpPr>
          <p:cNvPr id="29" name="lv_5_1"/>
          <p:cNvSpPr txBox="1"/>
          <p:nvPr/>
        </p:nvSpPr>
        <p:spPr>
          <a:xfrm>
            <a:off x="1508760" y="2258568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受容</a:t>
            </a:r>
            <a:endParaRPr lang="en-US" sz="1000" dirty="0"/>
          </a:p>
        </p:txBody>
      </p:sp>
      <p:sp>
        <p:nvSpPr>
          <p:cNvPr id="30" name="lv_5_2"/>
          <p:cNvSpPr txBox="1"/>
          <p:nvPr/>
        </p:nvSpPr>
        <p:spPr>
          <a:xfrm>
            <a:off x="3063240" y="2258568"/>
            <a:ext cx="1371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許し</a:t>
            </a:r>
            <a:endParaRPr lang="en-US" sz="1000" dirty="0"/>
          </a:p>
        </p:txBody>
      </p:sp>
      <p:sp>
        <p:nvSpPr>
          <p:cNvPr id="31" name="lv_row6"/>
          <p:cNvSpPr/>
          <p:nvPr/>
        </p:nvSpPr>
        <p:spPr>
          <a:xfrm>
            <a:off x="457200" y="2450592"/>
            <a:ext cx="5120640" cy="192024"/>
          </a:xfrm>
          <a:prstGeom prst="rect">
            <a:avLst/>
          </a:prstGeom>
          <a:solidFill>
            <a:srgbClr val="F8EBC8"/>
          </a:solidFill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2" name="lv_6_0"/>
          <p:cNvSpPr txBox="1"/>
          <p:nvPr/>
        </p:nvSpPr>
        <p:spPr>
          <a:xfrm>
            <a:off x="457200" y="2450592"/>
            <a:ext cx="1051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310</a:t>
            </a:r>
            <a:endParaRPr lang="en-US" sz="1000" dirty="0"/>
          </a:p>
        </p:txBody>
      </p:sp>
      <p:sp>
        <p:nvSpPr>
          <p:cNvPr id="33" name="lv_6_1"/>
          <p:cNvSpPr txBox="1"/>
          <p:nvPr/>
        </p:nvSpPr>
        <p:spPr>
          <a:xfrm>
            <a:off x="1508760" y="2450592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意欲</a:t>
            </a:r>
            <a:endParaRPr lang="en-US" sz="1000" dirty="0"/>
          </a:p>
        </p:txBody>
      </p:sp>
      <p:sp>
        <p:nvSpPr>
          <p:cNvPr id="34" name="lv_6_2"/>
          <p:cNvSpPr txBox="1"/>
          <p:nvPr/>
        </p:nvSpPr>
        <p:spPr>
          <a:xfrm>
            <a:off x="3063240" y="2450592"/>
            <a:ext cx="1371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楽観</a:t>
            </a:r>
            <a:endParaRPr lang="en-US" sz="1000" dirty="0"/>
          </a:p>
        </p:txBody>
      </p:sp>
      <p:sp>
        <p:nvSpPr>
          <p:cNvPr id="35" name="lv_row7"/>
          <p:cNvSpPr/>
          <p:nvPr/>
        </p:nvSpPr>
        <p:spPr>
          <a:xfrm>
            <a:off x="457200" y="2642616"/>
            <a:ext cx="5120640" cy="192024"/>
          </a:xfrm>
          <a:prstGeom prst="rect">
            <a:avLst/>
          </a:prstGeom>
          <a:solidFill>
            <a:srgbClr val="F8EBC8"/>
          </a:solidFill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6" name="lv_7_0"/>
          <p:cNvSpPr txBox="1"/>
          <p:nvPr/>
        </p:nvSpPr>
        <p:spPr>
          <a:xfrm>
            <a:off x="457200" y="2642616"/>
            <a:ext cx="1051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250</a:t>
            </a:r>
            <a:endParaRPr lang="en-US" sz="1000" dirty="0"/>
          </a:p>
        </p:txBody>
      </p:sp>
      <p:sp>
        <p:nvSpPr>
          <p:cNvPr id="37" name="lv_7_1"/>
          <p:cNvSpPr txBox="1"/>
          <p:nvPr/>
        </p:nvSpPr>
        <p:spPr>
          <a:xfrm>
            <a:off x="1508760" y="2642616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中立</a:t>
            </a:r>
            <a:endParaRPr lang="en-US" sz="1000" dirty="0"/>
          </a:p>
        </p:txBody>
      </p:sp>
      <p:sp>
        <p:nvSpPr>
          <p:cNvPr id="38" name="lv_7_2"/>
          <p:cNvSpPr txBox="1"/>
          <p:nvPr/>
        </p:nvSpPr>
        <p:spPr>
          <a:xfrm>
            <a:off x="3063240" y="2642616"/>
            <a:ext cx="1371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信頼</a:t>
            </a:r>
            <a:endParaRPr lang="en-US" sz="1000" dirty="0"/>
          </a:p>
        </p:txBody>
      </p:sp>
      <p:sp>
        <p:nvSpPr>
          <p:cNvPr id="39" name="lv_row8"/>
          <p:cNvSpPr/>
          <p:nvPr/>
        </p:nvSpPr>
        <p:spPr>
          <a:xfrm>
            <a:off x="457200" y="2834640"/>
            <a:ext cx="5120640" cy="192024"/>
          </a:xfrm>
          <a:prstGeom prst="rect">
            <a:avLst/>
          </a:prstGeom>
          <a:solidFill>
            <a:srgbClr val="F8EBC8"/>
          </a:solidFill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0" name="lv_8_0"/>
          <p:cNvSpPr txBox="1"/>
          <p:nvPr/>
        </p:nvSpPr>
        <p:spPr>
          <a:xfrm>
            <a:off x="457200" y="2834640"/>
            <a:ext cx="1051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200</a:t>
            </a:r>
            <a:endParaRPr lang="en-US" sz="1000" dirty="0"/>
          </a:p>
        </p:txBody>
      </p:sp>
      <p:sp>
        <p:nvSpPr>
          <p:cNvPr id="41" name="lv_8_1"/>
          <p:cNvSpPr txBox="1"/>
          <p:nvPr/>
        </p:nvSpPr>
        <p:spPr>
          <a:xfrm>
            <a:off x="1508760" y="2834640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勇気</a:t>
            </a:r>
            <a:endParaRPr lang="en-US" sz="1000" dirty="0"/>
          </a:p>
        </p:txBody>
      </p:sp>
      <p:sp>
        <p:nvSpPr>
          <p:cNvPr id="42" name="lv_8_2"/>
          <p:cNvSpPr txBox="1"/>
          <p:nvPr/>
        </p:nvSpPr>
        <p:spPr>
          <a:xfrm>
            <a:off x="3063240" y="2834640"/>
            <a:ext cx="1371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肯定</a:t>
            </a:r>
            <a:endParaRPr lang="en-US" sz="1000" dirty="0"/>
          </a:p>
        </p:txBody>
      </p:sp>
      <p:sp>
        <p:nvSpPr>
          <p:cNvPr id="43" name="lv_row9"/>
          <p:cNvSpPr/>
          <p:nvPr/>
        </p:nvSpPr>
        <p:spPr>
          <a:xfrm>
            <a:off x="457200" y="3026664"/>
            <a:ext cx="5120640" cy="192024"/>
          </a:xfrm>
          <a:prstGeom prst="rect">
            <a:avLst/>
          </a:prstGeom>
          <a:solidFill>
            <a:srgbClr val="EEF0F5"/>
          </a:solidFill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4" name="lv_9_0"/>
          <p:cNvSpPr txBox="1"/>
          <p:nvPr/>
        </p:nvSpPr>
        <p:spPr>
          <a:xfrm>
            <a:off x="457200" y="3026664"/>
            <a:ext cx="1051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175</a:t>
            </a:r>
            <a:endParaRPr lang="en-US" sz="1000" dirty="0"/>
          </a:p>
        </p:txBody>
      </p:sp>
      <p:sp>
        <p:nvSpPr>
          <p:cNvPr id="45" name="lv_9_1"/>
          <p:cNvSpPr txBox="1"/>
          <p:nvPr/>
        </p:nvSpPr>
        <p:spPr>
          <a:xfrm>
            <a:off x="1508760" y="3026664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プライド</a:t>
            </a:r>
            <a:endParaRPr lang="en-US" sz="1000" dirty="0"/>
          </a:p>
        </p:txBody>
      </p:sp>
      <p:sp>
        <p:nvSpPr>
          <p:cNvPr id="46" name="lv_9_2"/>
          <p:cNvSpPr txBox="1"/>
          <p:nvPr/>
        </p:nvSpPr>
        <p:spPr>
          <a:xfrm>
            <a:off x="3063240" y="3026664"/>
            <a:ext cx="1371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嘲笑</a:t>
            </a:r>
            <a:endParaRPr lang="en-US" sz="1000" dirty="0"/>
          </a:p>
        </p:txBody>
      </p:sp>
      <p:sp>
        <p:nvSpPr>
          <p:cNvPr id="47" name="lv_row10"/>
          <p:cNvSpPr/>
          <p:nvPr/>
        </p:nvSpPr>
        <p:spPr>
          <a:xfrm>
            <a:off x="457200" y="3218688"/>
            <a:ext cx="5120640" cy="192024"/>
          </a:xfrm>
          <a:prstGeom prst="rect">
            <a:avLst/>
          </a:prstGeom>
          <a:solidFill>
            <a:srgbClr val="EEF0F5"/>
          </a:solidFill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8" name="lv_10_0"/>
          <p:cNvSpPr txBox="1"/>
          <p:nvPr/>
        </p:nvSpPr>
        <p:spPr>
          <a:xfrm>
            <a:off x="457200" y="3218688"/>
            <a:ext cx="1051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150</a:t>
            </a:r>
            <a:endParaRPr lang="en-US" sz="1000" dirty="0"/>
          </a:p>
        </p:txBody>
      </p:sp>
      <p:sp>
        <p:nvSpPr>
          <p:cNvPr id="49" name="lv_10_1"/>
          <p:cNvSpPr txBox="1"/>
          <p:nvPr/>
        </p:nvSpPr>
        <p:spPr>
          <a:xfrm>
            <a:off x="1508760" y="3218688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怒り</a:t>
            </a:r>
            <a:endParaRPr lang="en-US" sz="1000" dirty="0"/>
          </a:p>
        </p:txBody>
      </p:sp>
      <p:sp>
        <p:nvSpPr>
          <p:cNvPr id="50" name="lv_10_2"/>
          <p:cNvSpPr txBox="1"/>
          <p:nvPr/>
        </p:nvSpPr>
        <p:spPr>
          <a:xfrm>
            <a:off x="3063240" y="3218688"/>
            <a:ext cx="1371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憎しみ</a:t>
            </a:r>
            <a:endParaRPr lang="en-US" sz="1000" dirty="0"/>
          </a:p>
        </p:txBody>
      </p:sp>
      <p:sp>
        <p:nvSpPr>
          <p:cNvPr id="51" name="lv_row11"/>
          <p:cNvSpPr/>
          <p:nvPr/>
        </p:nvSpPr>
        <p:spPr>
          <a:xfrm>
            <a:off x="457200" y="3410712"/>
            <a:ext cx="5120640" cy="192024"/>
          </a:xfrm>
          <a:prstGeom prst="rect">
            <a:avLst/>
          </a:prstGeom>
          <a:solidFill>
            <a:srgbClr val="EEF0F5"/>
          </a:solidFill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2" name="lv_11_0"/>
          <p:cNvSpPr txBox="1"/>
          <p:nvPr/>
        </p:nvSpPr>
        <p:spPr>
          <a:xfrm>
            <a:off x="457200" y="3410712"/>
            <a:ext cx="1051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125</a:t>
            </a:r>
            <a:endParaRPr lang="en-US" sz="1000" dirty="0"/>
          </a:p>
        </p:txBody>
      </p:sp>
      <p:sp>
        <p:nvSpPr>
          <p:cNvPr id="53" name="lv_11_1"/>
          <p:cNvSpPr txBox="1"/>
          <p:nvPr/>
        </p:nvSpPr>
        <p:spPr>
          <a:xfrm>
            <a:off x="1508760" y="3410712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欲望</a:t>
            </a:r>
            <a:endParaRPr lang="en-US" sz="1000" dirty="0"/>
          </a:p>
        </p:txBody>
      </p:sp>
      <p:sp>
        <p:nvSpPr>
          <p:cNvPr id="54" name="lv_11_2"/>
          <p:cNvSpPr txBox="1"/>
          <p:nvPr/>
        </p:nvSpPr>
        <p:spPr>
          <a:xfrm>
            <a:off x="3063240" y="3410712"/>
            <a:ext cx="1371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切望</a:t>
            </a:r>
            <a:endParaRPr lang="en-US" sz="1000" dirty="0"/>
          </a:p>
        </p:txBody>
      </p:sp>
      <p:sp>
        <p:nvSpPr>
          <p:cNvPr id="55" name="lv_row12"/>
          <p:cNvSpPr/>
          <p:nvPr/>
        </p:nvSpPr>
        <p:spPr>
          <a:xfrm>
            <a:off x="457200" y="3602736"/>
            <a:ext cx="5120640" cy="192024"/>
          </a:xfrm>
          <a:prstGeom prst="rect">
            <a:avLst/>
          </a:prstGeom>
          <a:solidFill>
            <a:srgbClr val="EEF0F5"/>
          </a:solidFill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6" name="lv_12_0"/>
          <p:cNvSpPr txBox="1"/>
          <p:nvPr/>
        </p:nvSpPr>
        <p:spPr>
          <a:xfrm>
            <a:off x="457200" y="3602736"/>
            <a:ext cx="1051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100</a:t>
            </a:r>
            <a:endParaRPr lang="en-US" sz="1000" dirty="0"/>
          </a:p>
        </p:txBody>
      </p:sp>
      <p:sp>
        <p:nvSpPr>
          <p:cNvPr id="57" name="lv_12_1"/>
          <p:cNvSpPr txBox="1"/>
          <p:nvPr/>
        </p:nvSpPr>
        <p:spPr>
          <a:xfrm>
            <a:off x="1508760" y="3602736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恐怖</a:t>
            </a:r>
            <a:endParaRPr lang="en-US" sz="1000" dirty="0"/>
          </a:p>
        </p:txBody>
      </p:sp>
      <p:sp>
        <p:nvSpPr>
          <p:cNvPr id="58" name="lv_12_2"/>
          <p:cNvSpPr txBox="1"/>
          <p:nvPr/>
        </p:nvSpPr>
        <p:spPr>
          <a:xfrm>
            <a:off x="3063240" y="3602736"/>
            <a:ext cx="1371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不安</a:t>
            </a:r>
            <a:endParaRPr lang="en-US" sz="1000" dirty="0"/>
          </a:p>
        </p:txBody>
      </p:sp>
      <p:sp>
        <p:nvSpPr>
          <p:cNvPr id="59" name="lv_row13"/>
          <p:cNvSpPr/>
          <p:nvPr/>
        </p:nvSpPr>
        <p:spPr>
          <a:xfrm>
            <a:off x="457200" y="3794760"/>
            <a:ext cx="5120640" cy="192024"/>
          </a:xfrm>
          <a:prstGeom prst="rect">
            <a:avLst/>
          </a:prstGeom>
          <a:solidFill>
            <a:srgbClr val="EEF0F5"/>
          </a:solidFill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0" name="lv_13_0"/>
          <p:cNvSpPr txBox="1"/>
          <p:nvPr/>
        </p:nvSpPr>
        <p:spPr>
          <a:xfrm>
            <a:off x="457200" y="3794760"/>
            <a:ext cx="1051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75</a:t>
            </a:r>
            <a:endParaRPr lang="en-US" sz="1000" dirty="0"/>
          </a:p>
        </p:txBody>
      </p:sp>
      <p:sp>
        <p:nvSpPr>
          <p:cNvPr id="61" name="lv_13_1"/>
          <p:cNvSpPr txBox="1"/>
          <p:nvPr/>
        </p:nvSpPr>
        <p:spPr>
          <a:xfrm>
            <a:off x="1508760" y="3794760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深い悲しみ</a:t>
            </a:r>
            <a:endParaRPr lang="en-US" sz="1000" dirty="0"/>
          </a:p>
        </p:txBody>
      </p:sp>
      <p:sp>
        <p:nvSpPr>
          <p:cNvPr id="62" name="lv_13_2"/>
          <p:cNvSpPr txBox="1"/>
          <p:nvPr/>
        </p:nvSpPr>
        <p:spPr>
          <a:xfrm>
            <a:off x="3063240" y="3794760"/>
            <a:ext cx="1371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後悔</a:t>
            </a:r>
            <a:endParaRPr lang="en-US" sz="1000" dirty="0"/>
          </a:p>
        </p:txBody>
      </p:sp>
      <p:sp>
        <p:nvSpPr>
          <p:cNvPr id="63" name="lv_row14"/>
          <p:cNvSpPr/>
          <p:nvPr/>
        </p:nvSpPr>
        <p:spPr>
          <a:xfrm>
            <a:off x="457200" y="3986784"/>
            <a:ext cx="5120640" cy="192024"/>
          </a:xfrm>
          <a:prstGeom prst="rect">
            <a:avLst/>
          </a:prstGeom>
          <a:solidFill>
            <a:srgbClr val="EEF0F5"/>
          </a:solidFill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4" name="lv_14_0"/>
          <p:cNvSpPr txBox="1"/>
          <p:nvPr/>
        </p:nvSpPr>
        <p:spPr>
          <a:xfrm>
            <a:off x="457200" y="3986784"/>
            <a:ext cx="1051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50</a:t>
            </a:r>
            <a:endParaRPr lang="en-US" sz="1000" dirty="0"/>
          </a:p>
        </p:txBody>
      </p:sp>
      <p:sp>
        <p:nvSpPr>
          <p:cNvPr id="65" name="lv_14_1"/>
          <p:cNvSpPr txBox="1"/>
          <p:nvPr/>
        </p:nvSpPr>
        <p:spPr>
          <a:xfrm>
            <a:off x="1508760" y="3986784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無気力</a:t>
            </a:r>
            <a:endParaRPr lang="en-US" sz="1000" dirty="0"/>
          </a:p>
        </p:txBody>
      </p:sp>
      <p:sp>
        <p:nvSpPr>
          <p:cNvPr id="66" name="lv_14_2"/>
          <p:cNvSpPr txBox="1"/>
          <p:nvPr/>
        </p:nvSpPr>
        <p:spPr>
          <a:xfrm>
            <a:off x="3063240" y="3986784"/>
            <a:ext cx="1371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絶望</a:t>
            </a:r>
            <a:endParaRPr lang="en-US" sz="1000" dirty="0"/>
          </a:p>
        </p:txBody>
      </p:sp>
      <p:sp>
        <p:nvSpPr>
          <p:cNvPr id="67" name="lv_row15"/>
          <p:cNvSpPr/>
          <p:nvPr/>
        </p:nvSpPr>
        <p:spPr>
          <a:xfrm>
            <a:off x="457200" y="4178808"/>
            <a:ext cx="5120640" cy="192024"/>
          </a:xfrm>
          <a:prstGeom prst="rect">
            <a:avLst/>
          </a:prstGeom>
          <a:solidFill>
            <a:srgbClr val="EEF0F5"/>
          </a:solidFill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8" name="lv_15_0"/>
          <p:cNvSpPr txBox="1"/>
          <p:nvPr/>
        </p:nvSpPr>
        <p:spPr>
          <a:xfrm>
            <a:off x="457200" y="4178808"/>
            <a:ext cx="1051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30</a:t>
            </a:r>
            <a:endParaRPr lang="en-US" sz="1000" dirty="0"/>
          </a:p>
        </p:txBody>
      </p:sp>
      <p:sp>
        <p:nvSpPr>
          <p:cNvPr id="69" name="lv_15_1"/>
          <p:cNvSpPr txBox="1"/>
          <p:nvPr/>
        </p:nvSpPr>
        <p:spPr>
          <a:xfrm>
            <a:off x="1508760" y="4178808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罪悪感</a:t>
            </a:r>
            <a:endParaRPr lang="en-US" sz="1000" dirty="0"/>
          </a:p>
        </p:txBody>
      </p:sp>
      <p:sp>
        <p:nvSpPr>
          <p:cNvPr id="70" name="lv_15_2"/>
          <p:cNvSpPr txBox="1"/>
          <p:nvPr/>
        </p:nvSpPr>
        <p:spPr>
          <a:xfrm>
            <a:off x="3063240" y="4178808"/>
            <a:ext cx="1371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非難</a:t>
            </a:r>
            <a:endParaRPr lang="en-US" sz="1000" dirty="0"/>
          </a:p>
        </p:txBody>
      </p:sp>
      <p:sp>
        <p:nvSpPr>
          <p:cNvPr id="71" name="lv_row16"/>
          <p:cNvSpPr/>
          <p:nvPr/>
        </p:nvSpPr>
        <p:spPr>
          <a:xfrm>
            <a:off x="457200" y="4370832"/>
            <a:ext cx="5120640" cy="192024"/>
          </a:xfrm>
          <a:prstGeom prst="rect">
            <a:avLst/>
          </a:prstGeom>
          <a:solidFill>
            <a:srgbClr val="EEF0F5"/>
          </a:solidFill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2" name="lv_16_0"/>
          <p:cNvSpPr txBox="1"/>
          <p:nvPr/>
        </p:nvSpPr>
        <p:spPr>
          <a:xfrm>
            <a:off x="457200" y="4370832"/>
            <a:ext cx="1051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20</a:t>
            </a:r>
            <a:endParaRPr lang="en-US" sz="1000" dirty="0"/>
          </a:p>
        </p:txBody>
      </p:sp>
      <p:sp>
        <p:nvSpPr>
          <p:cNvPr id="73" name="lv_16_1"/>
          <p:cNvSpPr txBox="1"/>
          <p:nvPr/>
        </p:nvSpPr>
        <p:spPr>
          <a:xfrm>
            <a:off x="1508760" y="4370832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恥</a:t>
            </a:r>
            <a:endParaRPr lang="en-US" sz="1000" dirty="0"/>
          </a:p>
        </p:txBody>
      </p:sp>
      <p:sp>
        <p:nvSpPr>
          <p:cNvPr id="74" name="lv_16_2"/>
          <p:cNvSpPr txBox="1"/>
          <p:nvPr/>
        </p:nvSpPr>
        <p:spPr>
          <a:xfrm>
            <a:off x="3063240" y="4370832"/>
            <a:ext cx="1371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屈辱</a:t>
            </a:r>
            <a:endParaRPr lang="en-US" sz="1000" dirty="0"/>
          </a:p>
        </p:txBody>
      </p:sp>
      <p:sp>
        <p:nvSpPr>
          <p:cNvPr id="75" name="lv_border"/>
          <p:cNvSpPr/>
          <p:nvPr/>
        </p:nvSpPr>
        <p:spPr>
          <a:xfrm>
            <a:off x="457200" y="3026664"/>
            <a:ext cx="5120640" cy="0"/>
          </a:xfrm>
          <a:prstGeom prst="line">
            <a:avLst/>
          </a:prstGeom>
          <a:noFill/>
          <a:ln w="25400">
            <a:solidFill>
              <a:srgbClr val="8C6A34"/>
            </a:solidFill>
            <a:prstDash val="dash"/>
          </a:ln>
        </p:spPr>
        <p:txBody>
          <a:bodyPr/>
          <a:p/>
        </p:txBody>
      </p:sp>
      <p:sp>
        <p:nvSpPr>
          <p:cNvPr id="76" name="lv_power"/>
          <p:cNvSpPr txBox="1"/>
          <p:nvPr/>
        </p:nvSpPr>
        <p:spPr>
          <a:xfrm>
            <a:off x="3840480" y="282549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chemeClr val="accent2"/>
                </a:solidFill>
              </a:rPr>
              <a:t>▲ パワー（生かす力）</a:t>
            </a:r>
            <a:endParaRPr lang="en-US" sz="800" dirty="0"/>
          </a:p>
        </p:txBody>
      </p:sp>
      <p:sp>
        <p:nvSpPr>
          <p:cNvPr id="77" name="lv_force"/>
          <p:cNvSpPr txBox="1"/>
          <p:nvPr/>
        </p:nvSpPr>
        <p:spPr>
          <a:xfrm>
            <a:off x="3840480" y="303580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chemeClr val="accent2"/>
                </a:solidFill>
              </a:rPr>
              <a:t>▼ フォース（押す力）</a:t>
            </a:r>
            <a:endParaRPr lang="en-US" sz="800" dirty="0"/>
          </a:p>
        </p:txBody>
      </p:sp>
      <p:sp>
        <p:nvSpPr>
          <p:cNvPr id="78" name="money_card"/>
          <p:cNvSpPr/>
          <p:nvPr/>
        </p:nvSpPr>
        <p:spPr>
          <a:xfrm>
            <a:off x="5806440" y="1097280"/>
            <a:ext cx="2880360" cy="3456432"/>
          </a:xfrm>
          <a:prstGeom prst="roundRect">
            <a:avLst>
              <a:gd name="adj" fmla="val 3810"/>
            </a:avLst>
          </a:prstGeom>
          <a:solidFill>
            <a:srgbClr val="F8EBEE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79" name="money_head"/>
          <p:cNvSpPr txBox="1"/>
          <p:nvPr/>
        </p:nvSpPr>
        <p:spPr>
          <a:xfrm>
            <a:off x="5989320" y="1207008"/>
            <a:ext cx="25603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胸の痛みで言うと…</a:t>
            </a:r>
            <a:endParaRPr lang="en-US" sz="1500" dirty="0"/>
          </a:p>
        </p:txBody>
      </p:sp>
      <p:sp>
        <p:nvSpPr>
          <p:cNvPr id="80" name="money_body"/>
          <p:cNvSpPr txBox="1"/>
          <p:nvPr/>
        </p:nvSpPr>
        <p:spPr>
          <a:xfrm>
            <a:off x="5989320" y="1600200"/>
            <a:ext cx="2560320" cy="2514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胸の奥にしまってきた感情にも、エネルギーの高さがあります。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出てきた感情を否定せずに感じ切ると、統合されて、上へ上がっていきます。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怒りや悲しみが出ても大丈夫。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ほどけはじめているサインです。</a:t>
            </a:r>
            <a:endParaRPr lang="en-US" sz="1300" dirty="0"/>
          </a:p>
        </p:txBody>
      </p:sp>
      <p:sp>
        <p:nvSpPr>
          <p:cNvPr id="81" name="lv_src"/>
          <p:cNvSpPr txBox="1"/>
          <p:nvPr/>
        </p:nvSpPr>
        <p:spPr>
          <a:xfrm>
            <a:off x="5943600" y="4114800"/>
            <a:ext cx="26517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800" dirty="0">
                <a:solidFill>
                  <a:schemeClr val="accent1"/>
                </a:solidFill>
              </a:rPr>
              <a:t>D.R.ホーキンズ『パワーか、フォースか』の意識のマップをもとに作成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ワーク　思い込みを書き換える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7889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思い込みが生まれた場面に戻って、書き換えていきます（45〜95分）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ワークの前に</a:t>
            </a:r>
            <a:endParaRPr lang="en-US" sz="1300" dirty="0"/>
          </a:p>
        </p:txBody>
      </p:sp>
      <p:sp>
        <p:nvSpPr>
          <p:cNvPr id="4" name="pre_main"/>
          <p:cNvSpPr txBox="1"/>
          <p:nvPr/>
        </p:nvSpPr>
        <p:spPr>
          <a:xfrm>
            <a:off x="731520" y="1097280"/>
            <a:ext cx="768096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今回、一番大きいと感じる思い込みに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向き合っていきます</a:t>
            </a:r>
            <a:endParaRPr lang="en-US" sz="2800" dirty="0"/>
          </a:p>
        </p:txBody>
      </p:sp>
      <p:sp>
        <p:nvSpPr>
          <p:cNvPr id="5" name="pre_sub"/>
          <p:cNvSpPr txBox="1"/>
          <p:nvPr/>
        </p:nvSpPr>
        <p:spPr>
          <a:xfrm>
            <a:off x="731520" y="2606040"/>
            <a:ext cx="768096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ただ、それが整理されると、次の思い込みや感情に気づくこともあります。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だからこそ、一度で終わりではなく、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自分自身で繰り返し向き合っていくことが大切です。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isenai_band"/>
          <p:cNvSpPr/>
          <p:nvPr/>
        </p:nvSpPr>
        <p:spPr>
          <a:xfrm>
            <a:off x="457200" y="18288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8C6A34"/>
          </a:solidFill>
          <a:ln/>
        </p:spPr>
        <p:txBody>
          <a:bodyPr/>
          <a:p/>
        </p:txBody>
      </p:sp>
      <p:sp>
        <p:nvSpPr>
          <p:cNvPr id="3" name="misenai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【共有停止】</a:t>
            </a:r>
            <a:endParaRPr lang="en-US" sz="1800" dirty="0"/>
          </a:p>
        </p:txBody>
      </p:sp>
      <p:sp>
        <p:nvSpPr>
          <p:cNvPr id="4" name="facil_title"/>
          <p:cNvSpPr txBox="1"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STEP 1〜2 の進め方</a:t>
            </a:r>
            <a:endParaRPr lang="en-US" sz="2200" dirty="0"/>
          </a:p>
        </p:txBody>
      </p:sp>
      <p:sp>
        <p:nvSpPr>
          <p:cNvPr id="5" name="facil_card"/>
          <p:cNvSpPr/>
          <p:nvPr/>
        </p:nvSpPr>
        <p:spPr>
          <a:xfrm>
            <a:off x="457200" y="1188720"/>
            <a:ext cx="5394960" cy="3383280"/>
          </a:xfrm>
          <a:prstGeom prst="roundRect">
            <a:avLst>
              <a:gd name="adj" fmla="val 3243"/>
            </a:avLst>
          </a:prstGeom>
          <a:solidFill>
            <a:srgbClr val="FFF8E8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6" name="facil_list"/>
          <p:cNvSpPr txBox="1"/>
          <p:nvPr/>
        </p:nvSpPr>
        <p:spPr>
          <a:xfrm>
            <a:off x="594360" y="1280160"/>
            <a:ext cx="5120640" cy="3200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穴埋め「胸の奥の痛みは、＿」「この痛みがなくなったら、私は＿」→本人の言葉を打ち込む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「その言葉は、守っている？選択を狭めている？」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すごい質問「何があなたをそう思わせるのですか？」（見える・色・聞こえる・体の感じ）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1階層目を5つ以上 → 表に打ち込み、100点満点で点数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1階層目で一番強いものを軸に、2階層目も同じ質問で（全部で10個くらい）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点数がわからない時はOリング・筋肉反射</a:t>
            </a:r>
            <a:endParaRPr lang="en-US" sz="1200" dirty="0"/>
          </a:p>
        </p:txBody>
      </p:sp>
      <p:pic>
        <p:nvPicPr>
          <p:cNvPr id="7" name="Image 0" descr="ガイドブック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188720"/>
            <a:ext cx="2377440" cy="336499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STEP 1　胸の痛みの奥にある思い込みを言葉にする</a:t>
            </a:r>
            <a:endParaRPr lang="en-US" sz="1300" dirty="0"/>
          </a:p>
        </p:txBody>
      </p:sp>
      <p:sp>
        <p:nvSpPr>
          <p:cNvPr id="4" name="fill1"/>
          <p:cNvSpPr txBox="1"/>
          <p:nvPr/>
        </p:nvSpPr>
        <p:spPr>
          <a:xfrm>
            <a:off x="731520" y="1188720"/>
            <a:ext cx="768096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「胸の奥の痛みは、＿＿＿＿＿＿」</a:t>
            </a:r>
            <a:endParaRPr lang="en-US" sz="3000" dirty="0"/>
          </a:p>
        </p:txBody>
      </p:sp>
      <p:sp>
        <p:nvSpPr>
          <p:cNvPr id="5" name="fill2"/>
          <p:cNvSpPr txBox="1"/>
          <p:nvPr/>
        </p:nvSpPr>
        <p:spPr>
          <a:xfrm>
            <a:off x="731520" y="2103120"/>
            <a:ext cx="768096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「この痛みがなくなったら、私は＿＿＿＿」</a:t>
            </a:r>
            <a:endParaRPr lang="en-US" sz="3000" dirty="0"/>
          </a:p>
        </p:txBody>
      </p:sp>
      <p:sp>
        <p:nvSpPr>
          <p:cNvPr id="6" name="fill_hint"/>
          <p:cNvSpPr txBox="1"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正解を探さず、浮かんだ言葉をそのまま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STEP 1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その言葉は、今のあなたを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守っていますか？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それとも、選択を狭めていますか？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STEP 1　すごい質問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何があなたを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そう思わせるのですか？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何が見えますか？　どんな色ですか？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何が聞こえますか？　体はどんな感じがしますか？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STEP 2　思い込みに点数をつける（100点満点）</a:t>
            </a:r>
            <a:endParaRPr lang="en-US" sz="24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3035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749040"/>
                <a:gridCol w="100584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No.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8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思い込み（気持ちや想い）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8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点数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8A4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440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B08A4E"/>
                          </a:solidFill>
                        </a:rPr>
                        <a:t>／100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440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B08A4E"/>
                          </a:solidFill>
                        </a:rPr>
                        <a:t>／100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440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B08A4E"/>
                          </a:solidFill>
                        </a:rPr>
                        <a:t>／100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440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B08A4E"/>
                          </a:solidFill>
                        </a:rPr>
                        <a:t>／100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440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B08A4E"/>
                          </a:solidFill>
                        </a:rPr>
                        <a:t>／100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440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B08A4E"/>
                          </a:solidFill>
                        </a:rPr>
                        <a:t>／100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440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B08A4E"/>
                          </a:solidFill>
                        </a:rPr>
                        <a:t>／100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440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B08A4E"/>
                          </a:solidFill>
                        </a:rPr>
                        <a:t>／100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440"/>
                          </a:solidFill>
                        </a:rPr>
                        <a:t>9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B08A4E"/>
                          </a:solidFill>
                        </a:rPr>
                        <a:t>／100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440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B08A4E"/>
                          </a:solidFill>
                        </a:rPr>
                        <a:t>／100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2_note"/>
          <p:cNvSpPr/>
          <p:nvPr/>
        </p:nvSpPr>
        <p:spPr>
          <a:xfrm>
            <a:off x="6035040" y="1188720"/>
            <a:ext cx="2651760" cy="3319272"/>
          </a:xfrm>
          <a:prstGeom prst="roundRect">
            <a:avLst>
              <a:gd name="adj" fmla="val 4138"/>
            </a:avLst>
          </a:prstGeom>
          <a:solidFill>
            <a:srgbClr val="FDFAF4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5" name="s2_note_t"/>
          <p:cNvSpPr txBox="1"/>
          <p:nvPr/>
        </p:nvSpPr>
        <p:spPr>
          <a:xfrm>
            <a:off x="6172200" y="1298448"/>
            <a:ext cx="2377440" cy="3108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思いつくまま、いくつでも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点数は、直感で大丈夫です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正解・不正解はありません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isenai_band"/>
          <p:cNvSpPr/>
          <p:nvPr/>
        </p:nvSpPr>
        <p:spPr>
          <a:xfrm>
            <a:off x="457200" y="18288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8C6A34"/>
          </a:solidFill>
          <a:ln/>
        </p:spPr>
        <p:txBody>
          <a:bodyPr/>
          <a:p/>
        </p:txBody>
      </p:sp>
      <p:sp>
        <p:nvSpPr>
          <p:cNvPr id="3" name="misenai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【共有停止】</a:t>
            </a:r>
            <a:endParaRPr lang="en-US" sz="1800" dirty="0"/>
          </a:p>
        </p:txBody>
      </p:sp>
      <p:sp>
        <p:nvSpPr>
          <p:cNvPr id="4" name="facil_title"/>
          <p:cNvSpPr txBox="1"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STEP 3〜4 の進め方</a:t>
            </a:r>
            <a:endParaRPr lang="en-US" sz="2200" dirty="0"/>
          </a:p>
        </p:txBody>
      </p:sp>
      <p:sp>
        <p:nvSpPr>
          <p:cNvPr id="5" name="facil_card"/>
          <p:cNvSpPr/>
          <p:nvPr/>
        </p:nvSpPr>
        <p:spPr>
          <a:xfrm>
            <a:off x="457200" y="1188720"/>
            <a:ext cx="5394960" cy="3383280"/>
          </a:xfrm>
          <a:prstGeom prst="roundRect">
            <a:avLst>
              <a:gd name="adj" fmla="val 3243"/>
            </a:avLst>
          </a:prstGeom>
          <a:solidFill>
            <a:srgbClr val="FFF8E8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6" name="facil_list"/>
          <p:cNvSpPr txBox="1"/>
          <p:nvPr/>
        </p:nvSpPr>
        <p:spPr>
          <a:xfrm>
            <a:off x="594360" y="1280160"/>
            <a:ext cx="5120640" cy="3200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上位3つに印 → 一番邪魔している思い込みを1つ（Oリング可）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確認「ゆるんだら、よい影響が出そう？」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思い込みが生まれた場面へ（見える・色・聞こえる・体の感じ）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外から見る「本当はどうして欲しかった？」「本当はどうしたかった？」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和解と許し「相手の考え方は、いつできた？」「相手は本当はどうしたかった？」（無理に許さなくてよい）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痛みがほどけた未来のあなた（見える・色・聞こえる・体の感じ）→「どんなあなたですか？」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未来のあなたから「あの時のあなたへ、＿」→「伝えてみて、どんな気持ち？」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「これから自分にかけたい言葉」を本人の言葉で（由香が打ち込む）</a:t>
            </a:r>
            <a:endParaRPr lang="en-US" sz="1200" dirty="0"/>
          </a:p>
        </p:txBody>
      </p:sp>
      <p:pic>
        <p:nvPicPr>
          <p:cNvPr id="7" name="Image 0" descr="ガイドブック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188720"/>
            <a:ext cx="2377440" cy="336499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STEP 3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一番、邪魔している思い込みは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どれですか？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点数の高い上位3つの中から、1つ選びます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STEP 3　確認の質問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その思いが“ゆるんだら”、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あなたの毎日によい影響が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出そうですか？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STEP 4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その思い込みが生まれた場面に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戻ってみましょう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何が見えますか？　どんな色ですか？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何が聞こえますか？　体はどんな感じがしますか？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苦しくなったら、いったん止めて、息を吐き切りましょう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STEP 4　外から見ながら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本当は、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どうして欲しかったの？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「満たされていない想い」を、言葉にしていきます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STEP 4　外から見ながら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本当は、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どうしたかったの？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相手の中にも入ってみる？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STEP 4　和解と許し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その相手の考え方は、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いつ、どうやって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できたのでしょう？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相手にも、相手の子ども時代があります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STEP 4　和解と許し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相手は本当は、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どうしたかったのでしょう？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STEP 4　未来のあなた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胸の痛みがほどけた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未来のあなたを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思い浮かべてください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何が見えますか？　どんな色ですか？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何が聞こえますか？　体はどんな感じがしますか？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STEP 4　未来のあなた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その未来のあなたは、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どんなあなたですか？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どんな毎日を過ごしていますか？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STEP 4　未来のあなたから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あの時のあなたへ、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＿＿＿＿＿＿＿＿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伝えてみて、どんな気持ちですか？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これから選びたい、自分への言葉</a:t>
            </a:r>
            <a:endParaRPr lang="en-US" sz="2400" dirty="0"/>
          </a:p>
        </p:txBody>
      </p:sp>
      <p:sp>
        <p:nvSpPr>
          <p:cNvPr id="3" name="old_card"/>
          <p:cNvSpPr/>
          <p:nvPr/>
        </p:nvSpPr>
        <p:spPr>
          <a:xfrm>
            <a:off x="457200" y="1280160"/>
            <a:ext cx="3977640" cy="2468880"/>
          </a:xfrm>
          <a:prstGeom prst="roundRect">
            <a:avLst>
              <a:gd name="adj" fmla="val 4444"/>
            </a:avLst>
          </a:prstGeom>
          <a:solidFill>
            <a:srgbClr val="FDFAF4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4" name="old_head"/>
          <p:cNvSpPr txBox="1"/>
          <p:nvPr/>
        </p:nvSpPr>
        <p:spPr>
          <a:xfrm>
            <a:off x="64008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今まで自分にかけてきた言葉</a:t>
            </a:r>
            <a:endParaRPr lang="en-US" sz="1600" dirty="0"/>
          </a:p>
        </p:txBody>
      </p:sp>
      <p:sp>
        <p:nvSpPr>
          <p:cNvPr id="5" name="old_body"/>
          <p:cNvSpPr txBox="1"/>
          <p:nvPr/>
        </p:nvSpPr>
        <p:spPr>
          <a:xfrm>
            <a:off x="640080" y="1874520"/>
            <a:ext cx="3657600" cy="1737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new_card"/>
          <p:cNvSpPr/>
          <p:nvPr/>
        </p:nvSpPr>
        <p:spPr>
          <a:xfrm>
            <a:off x="4709160" y="1280160"/>
            <a:ext cx="3977640" cy="2468880"/>
          </a:xfrm>
          <a:prstGeom prst="roundRect">
            <a:avLst>
              <a:gd name="adj" fmla="val 4444"/>
            </a:avLst>
          </a:prstGeom>
          <a:solidFill>
            <a:srgbClr val="F8EBEE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7" name="new_head"/>
          <p:cNvSpPr txBox="1"/>
          <p:nvPr/>
        </p:nvSpPr>
        <p:spPr>
          <a:xfrm>
            <a:off x="489204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これから自分にかけたい言葉</a:t>
            </a:r>
            <a:endParaRPr lang="en-US" sz="1600" dirty="0"/>
          </a:p>
        </p:txBody>
      </p:sp>
      <p:sp>
        <p:nvSpPr>
          <p:cNvPr id="8" name="new_body"/>
          <p:cNvSpPr txBox="1"/>
          <p:nvPr/>
        </p:nvSpPr>
        <p:spPr>
          <a:xfrm>
            <a:off x="4892040" y="1874520"/>
            <a:ext cx="3657600" cy="1737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9" name="new_note"/>
          <p:cNvSpPr txBox="1"/>
          <p:nvPr/>
        </p:nvSpPr>
        <p:spPr>
          <a:xfrm>
            <a:off x="457200" y="3931920"/>
            <a:ext cx="822960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無理にポジティブな言葉にせず、自分が納得できる言葉で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エネルギーで取り除く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7889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残っている痛みを、やさしく手放していきます（95〜110分）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はじめる前に、今の気持ちと胸の感じを確かめます。終わったら、感じたことを言葉にしてみましょう</a:t>
            </a:r>
            <a:endParaRPr lang="en-US" sz="16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ふり返り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最初に「1〜10」で聞いた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胸の痛みは、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いまどのくらいですか？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はじめ：＿＿　→　いま：＿＿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ふり返り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今日、いちばん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変わったと感じることは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何ですか？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それが、今日持ち帰るものです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これから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次に同じ感情が出てきたら、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自分にどんな言葉を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かけてあげたいですか？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気づいたら、責めずに見つめる。そして、今の自分で選び直す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gic_main"/>
          <p:cNvSpPr txBox="1"/>
          <p:nvPr/>
        </p:nvSpPr>
        <p:spPr>
          <a:xfrm>
            <a:off x="548640" y="1005840"/>
            <a:ext cx="8046720" cy="2103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根深いものは、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何度も何度も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自分に魔法をかけて、とっていく</a:t>
            </a:r>
            <a:endParaRPr lang="en-US" sz="3400" dirty="0"/>
          </a:p>
        </p:txBody>
      </p:sp>
      <p:sp>
        <p:nvSpPr>
          <p:cNvPr id="3" name="magic_sub"/>
          <p:cNvSpPr txBox="1"/>
          <p:nvPr/>
        </p:nvSpPr>
        <p:spPr>
          <a:xfrm>
            <a:off x="731520" y="3246120"/>
            <a:ext cx="768096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あなたが自分にかける言葉が、魔法になります</a:t>
            </a:r>
            <a:endParaRPr lang="en-US" sz="1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絶対的安心感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0003"/>
            <a:ext cx="9144000" cy="5103495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海音ロ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411480"/>
            <a:ext cx="1005840" cy="973836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ありがとうございました</a:t>
            </a:r>
            <a:endParaRPr lang="en-US" sz="3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26974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1週間後に、LINEでその後のご様子をお伺いします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海音（かのん）〜心体の調律〜　髙橋 由香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anon">
  <a:themeElements>
    <a:clrScheme name="Kanon">
      <a:dk1>
        <a:srgbClr val="4A4440"/>
      </a:dk1>
      <a:lt1>
        <a:srgbClr val="FFFFFF"/>
      </a:lt1>
      <a:dk2>
        <a:srgbClr val="5C4A2E"/>
      </a:dk2>
      <a:lt2>
        <a:srgbClr val="FDFAF4"/>
      </a:lt2>
      <a:accent1>
        <a:srgbClr val="B08A4E"/>
      </a:accent1>
      <a:accent2>
        <a:srgbClr val="8C6A34"/>
      </a:accent2>
      <a:accent3>
        <a:srgbClr val="E9D9B6"/>
      </a:accent3>
      <a:accent4>
        <a:srgbClr val="EFE8F6"/>
      </a:accent4>
      <a:accent5>
        <a:srgbClr val="E6F3EF"/>
      </a:accent5>
      <a:accent6>
        <a:srgbClr val="F8EBEE"/>
      </a:accent6>
      <a:hlink>
        <a:srgbClr val="8C6A34"/>
      </a:hlink>
      <a:folHlink>
        <a:srgbClr val="7A716A"/>
      </a:folHlink>
    </a:clrScheme>
    <a:fontScheme name="Kanon">
      <a:majorFont>
        <a:latin typeface="Yu Minch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胸の奥の痛みをほどく 単発セッション</dc:title>
  <dc:subject>PptxGenJS Presentation</dc:subject>
  <dc:creator>海音（かのん）〜心体の調律〜 髙橋由香</dc:creator>
  <cp:lastModifiedBy>海音（かのん）〜心体の調律〜 髙橋由香</cp:lastModifiedBy>
  <cp:revision>1</cp:revision>
  <dcterms:created xsi:type="dcterms:W3CDTF">2026-10-31T02:47:13Z</dcterms:created>
  <dcterms:modified xsi:type="dcterms:W3CDTF">2026-10-31T02:47:13Z</dcterms:modified>
</cp:coreProperties>
</file>
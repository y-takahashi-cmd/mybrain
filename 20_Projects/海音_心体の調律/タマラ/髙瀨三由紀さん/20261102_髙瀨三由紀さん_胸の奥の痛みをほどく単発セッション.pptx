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1-1.jpg" ContentType="image/jpg"/>
  <Override PartName="/ppt/media/image-23-1.jpg" ContentType="image/jpg"/>
  <Override PartName="/ppt/media/image-24-1.jpg" ContentType="image/jpg"/>
  <Override PartName="/ppt/media/image-26-1.jpg" ContentType="image/jpg"/>
  <Override PartName="/ppt/media/image-27-1.jpg" ContentType="image/jpg"/>
  <Override PartName="/ppt/media/image-31-1.jpg" ContentType="image/jpg"/>
  <Override PartName="/ppt/media/image-36-1.jpg" ContentType="image/jpg"/>
  <Override PartName="/ppt/media/image-67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e6657519-cc21-768a-b881-8fb91922c410}">
          <p14:sldIdLst>
            <p14:sldId id="256"/>
            <p14:sldId id="257"/>
            <p14:sldId id="258"/>
          </p14:sldIdLst>
        </p14:section>
        <p14:section name="第1部 魂の傷を聴く" id="{dd7076d8-44f1-7d46-e7fe-0a0e5f16356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第2部 頭の構造を知る" id="{becf0455-f0bb-b7a9-799f-204e20e79442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ワークA 思い込みを書き換える" id="{20ebb883-2fcc-752e-ea0e-b95d79c97136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ワークB 感情を統合する" id="{f422e797-eb9c-4ac5-d166-f98bd2d28fa7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</p14:sldIdLst>
        </p14:section>
        <p14:section name="エネルギー" id="{a831e65b-121d-9cdf-97b0-1b4f06e7ffad}">
          <p14:sldIdLst>
            <p14:sldId id="317"/>
          </p14:sldIdLst>
        </p14:section>
        <p14:section name="まとめ" id="{64ddccdf-cfc2-1704-a588-99f477a4aa6f}">
          <p14:sldIdLst>
            <p14:sldId id="318"/>
            <p14:sldId id="319"/>
            <p14:sldId id="320"/>
            <p14:sldId id="321"/>
            <p14:sldId id="322"/>
            <p14:sldId id="32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開始（11/2 月 9:00〜・120分）。お話を聴く→頭の仕組み→ワーク→エネルギーの順に進めることを伝える。書くのは由香が画面の中で行うので、髙瀨さんは話すこと・感じることに集中してOKと伝える。ご自身では痛すぎてヒーリングできなかったとのこと（病院ではなんともないと言われている＝エネルギーの痛み）なので、「今日はひとりで向き合わなくて大丈夫」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全体の流れ。質問は1つずつゆっくり聴いていく。ワークは、その日の状態で「A 思い込みを書き換える」か「B 感情を統合する」のどちらかを選ぶ。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はじめに安心を渡す。今日の目標は「一つ気づいて、一つ持ち帰る」。最後の「最初の一歩」が持ち帰るものになる。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ここから25分。1問ずつ、ゆっくり聴く。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本人の言葉で。どこが・どんなふうに痛むか（ぎゅっと・ずきっと・重い等）。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痛みが強くなる場面は、ワークの場面候補としてメモ。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体の感じを言葉にしてもらう。最後のエネルギーの前後で比べられる。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数字をメモしておく（最後の変化の確認に使う）。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痛すぎて自分ではできなかった、という今回のお申込みの理由。どこで止まったか・何が出てきたかを聴く。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ここでは短く一言だけ。くわしくは第2部の「ゴールデンエイジ」のスライドで話す。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本人のOKをもらってから、幼少期の質問へ。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胸がぎゅっとした場面・がまんした場面の話が出たら、ワークの場面候補としてメモ。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その時、何を感じていたか。怖かった？悲しかった？怒り？寂しさ？と、気持ちに名前をつける手伝いをする。ここで出た場面がワークの第一候補。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聴いたお話を受け取ってから、講座へ。講座の途中で、いま聴いた話（胸の痛みのいちばん古い記憶・子どもの頃の話）につなげて話す。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物語の入り口。第1部で聴いた髙瀨さんの話を受けて「それはあなたのヒーリングの力が足りないからではなく、頭（脳）の仕組みだから」と伝えて、次へ。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感情がないと行動は起きない。理性はエネルギーを使う。理論は後付け。→だから、胸の痛みをほどくには、理屈ではなく感情に触れる必要がある。次は、その感情を動かしている脳の3つのクセ。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第1部で聴いた「胸の痛みのいちばん古い記憶」・子どもの頃の話は、ここにつながる。痛みは敵ではなく、守ろうとしてきたもの。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第1部で少し話したゴールデンエイジの、くわしい話。言われ方・見てきたことが、そのまま今の基準になっている。由香さんの言葉で補足する。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ホーキンズ博士の意識のマップ。200（勇気）より下は人から奪う・押す力（フォース）、上は生かす力（パワー）。恥20・罪悪感30・無気力50・深い悲しみ75・恐怖100は、エネルギーがとても低い。胸の奥にしまってきた感情がこのあたりにあると、自分ではヒーリングしようにも痛すぎて触れられない。出てきた感情を否定せず、順番に感じ切って統合していくと、上へ上がっていく。怒り150は悲しみ75より上＝怒りが出てきたら上がってきたサイン。「だから、今から感情を統合するワークをしましょう」とワークへ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50分（120分版なので、和解と許し・理想の未来も入れている）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＿＿の所に本人の言葉を打ち込む。ここで出た言葉が、思い込みの入口（ガイドブックの「私は〇〇を達成したい！ただ…」の代わり）。2つ目で「痛みがあるから守られていること・やらずに済んでいること」が出ることがある。責めずにそのまま受け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どちらでもOK。守ってくれていたなら、まずそれを認めてから次へ。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髙瀨さんは話すだけでOK。10個くらい出たら次へ。1階層目で一番強いものを軸に、2階層目も同じ質問で出す。点数がわからない時はOリング・筋肉反射で。例：私ががまんすれば丸くおさまる80点／人に頼ってはいけない70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表の上位3つに印をつける→その中で一番邪魔しているものを1つ。判断できない時はOリング・筋肉反射で。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手順：①今の自分の場所に立ち、今の気持ちを話す ②思い込みが生まれた過去の場面へ移動し、見える・色・聞こえる・体の感じで話す ③その場所から出て、自分を外から見る→次の2つの質問 ④もう一度その場所に戻り、全部吐き出す。VAKという言葉は使わない。第1部の「胸の痛みのいちばん古い記憶」の場面が出やすい。感情が強く出たら止めて呼吸に戻す。胸の痛みが強くなったら、いったん止めて息を吐き切る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相手の信念・価値観はいつできたか。無理に許さなくていい。相手を理解すると、自分の胸がゆるむことがある。仁部さん版（90分）では外したもの。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相手の中に入ったまま、または外から見ながら。出てきた言葉をそのまま受け取る。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仁部さん版で外した「理想の未来」。5次元という言葉は使わない。特に胸のあたりの感じを聞く（軽い・あたたかい・広い等）。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見える・色・聞こえる・体の感じで、未来の自分をはっきりさせる。その未来のあなたから、次のスライドで「あの時のあなた」に言葉をかける。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＿＿に本人の言葉を打ち込む。言いたかったことを全部吐き出す（100％出たか？）。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由香が本人の言葉をそのまま打ち込む。言葉は本人が決める（由香が作らない）。ワークAが終わったら、ワークBは飛ばしてエネルギーへ。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感情の統合の誘導セッション。その日の状態でワークAかワークBを選ぶ（両方はやらない）。ワークBを選んだ時は、ワークAのスライドを飛ばしてここから。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ワークに入る直前（または第1部・講座の途中）で出てきた感情を使う。「今、どんな感情が出ていますか？」と確かめてから。感情の名前は本人の言葉のまま。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色が見えなくてもOK。温度・重さ・におい・音など、感じたままを聞く。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入れない時は、池のふちから眺めるだけでもいい。入れそうになるまで待つ。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見えたもの・聞こえたもの・体の感じをそのまま受け取る。意味づけしない。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見るものがなくなるまで、このスライドのまま「先に進んでみましょう」「何が見えますか？」を繰り返す。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見るものがなくなったら入口をふり返る。入口の見え方の変化（明るい・小さい・遠い等）を聞く。そのまま池から出てきてもらい、次の理想の池へ。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感情の池から出てきたのを確かめてから。理想は本人のイメージのまま（由香が決めない）。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感情の池の色と比べてもらってもいい。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入れない時は、池のふちから眺めるだけでもいい。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見えたもの・聞こえたもの・体の感じ（特に胸のあたり）をそのまま受け取る。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見るものがなくなるまで繰り返す。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終わったら池から出てきてもらい、胸の感じを確かめて、エネルギーへ。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ワークで残ったものをエネルギーで取り除く。ご自身では痛すぎてできなかった所なので、120分版ではここを15分とる。前後で胸の痛み（1〜10・色・形・重さ）を確かめる。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第1部の「1〜10で言うと、今の痛みはどのくらいですか？」で聞いた数字と比べる。色や形・重さの変化も聞く。由香が＿＿に打ち込む。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「一度で終わりではなく、繰り返し向き合う」につなげる。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由香さんの言葉。一度で外れなくても失敗ではなく、ほどいている途中だと伝える。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終了。1週間後にLINEで「その後いかがですか？」と連絡する。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胸の奥の痛みをほどく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髙瀨 三由紀 さん　120分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今日の流れ（120分）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0〜25分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25〜45分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45〜95分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書き換え／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感情の統合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95〜110分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残った痛みを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110〜120分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変化を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確かめる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今日、大切にしたいこと</a:t>
            </a:r>
            <a:endParaRPr lang="en-US" sz="2400" dirty="0"/>
          </a:p>
        </p:txBody>
      </p:sp>
      <p:sp>
        <p:nvSpPr>
          <p:cNvPr id="3" name="care_lead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無理に変わろうとしなくて大丈夫</a:t>
            </a:r>
            <a:endParaRPr lang="en-US" sz="1600" dirty="0"/>
          </a:p>
        </p:txBody>
      </p:sp>
      <p:sp>
        <p:nvSpPr>
          <p:cNvPr id="4" name="care_card0"/>
          <p:cNvSpPr/>
          <p:nvPr/>
        </p:nvSpPr>
        <p:spPr>
          <a:xfrm>
            <a:off x="457200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care_head0"/>
          <p:cNvSpPr txBox="1"/>
          <p:nvPr/>
        </p:nvSpPr>
        <p:spPr>
          <a:xfrm>
            <a:off x="64008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選べます</a:t>
            </a:r>
            <a:endParaRPr lang="en-US" sz="1900" dirty="0"/>
          </a:p>
        </p:txBody>
      </p:sp>
      <p:sp>
        <p:nvSpPr>
          <p:cNvPr id="6" name="care_body0"/>
          <p:cNvSpPr txBox="1"/>
          <p:nvPr/>
        </p:nvSpPr>
        <p:spPr>
          <a:xfrm>
            <a:off x="640080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話す・話さない・休む</a:t>
            </a:r>
            <a:endParaRPr lang="en-US" sz="1600" dirty="0"/>
          </a:p>
        </p:txBody>
      </p:sp>
      <p:sp>
        <p:nvSpPr>
          <p:cNvPr id="7" name="care_card1"/>
          <p:cNvSpPr/>
          <p:nvPr/>
        </p:nvSpPr>
        <p:spPr>
          <a:xfrm>
            <a:off x="3273552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care_head1"/>
          <p:cNvSpPr txBox="1"/>
          <p:nvPr/>
        </p:nvSpPr>
        <p:spPr>
          <a:xfrm>
            <a:off x="3456432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正解はありません</a:t>
            </a:r>
            <a:endParaRPr lang="en-US" sz="1900" dirty="0"/>
          </a:p>
        </p:txBody>
      </p:sp>
      <p:sp>
        <p:nvSpPr>
          <p:cNvPr id="9" name="care_body1"/>
          <p:cNvSpPr txBox="1"/>
          <p:nvPr/>
        </p:nvSpPr>
        <p:spPr>
          <a:xfrm>
            <a:off x="3456432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感じ方は人それぞれ</a:t>
            </a:r>
            <a:endParaRPr lang="en-US" sz="1600" dirty="0"/>
          </a:p>
        </p:txBody>
      </p:sp>
      <p:sp>
        <p:nvSpPr>
          <p:cNvPr id="10" name="care_card2"/>
          <p:cNvSpPr/>
          <p:nvPr/>
        </p:nvSpPr>
        <p:spPr>
          <a:xfrm>
            <a:off x="6089904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1" name="care_head2"/>
          <p:cNvSpPr txBox="1"/>
          <p:nvPr/>
        </p:nvSpPr>
        <p:spPr>
          <a:xfrm>
            <a:off x="6272784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今日の目標</a:t>
            </a:r>
            <a:endParaRPr lang="en-US" sz="1900" dirty="0"/>
          </a:p>
        </p:txBody>
      </p:sp>
      <p:sp>
        <p:nvSpPr>
          <p:cNvPr id="12" name="care_body2"/>
          <p:cNvSpPr txBox="1"/>
          <p:nvPr/>
        </p:nvSpPr>
        <p:spPr>
          <a:xfrm>
            <a:off x="6272784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一つ気づいて、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一つ持ち帰る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直感でおしえてください（0〜25分）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答えたくない質問は、飛ばして大丈夫です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胸の奥の痛みについて、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どんな時に、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痛みが強くなりますか？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誰といる時・何をしている時・何を思い出した時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その痛みに、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色や形があるとしたら？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何色ですか？　どんな形ですか？　重さはありますか？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今の痛みはどのくらいですか？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ご自分でヒーリングしようとした時、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何が起きましたか？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今日は、ひとりで向き合わなくて大丈夫です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その痛みは、あなたの人生に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ゴールデンエイジ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子どもの頃に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見たこと・聞いたことが、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今の「当たり前」になりやすい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この大切な時期を「ゴールデンエイジ」と呼びます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幼少期のこと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子ども時代のことも、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聴かせていただいても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話したくないことは、話さなくて大丈夫です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胸の痛みの、いちばん古い記憶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胸の奥が、はじめて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ぎゅっと痛んだのは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いつ頃ですか？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誰かを責めるのではなく、当時のあなたの気持ちを大切にします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お話を聴かせてくださって、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ありがとうございます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ここで少し、頭の仕組みのお話をさせてください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なぜ「わかっているのに」痛みが残るのか（25〜45分）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第2部のはじめに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胸の奥の痛みだけは、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なかなか消えてくれない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その理由を、頭の仕組みからお話しします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1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「もう大丈夫」と頭でわかっていても痛むのは、心が弱いからではありません。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頭で考えるより先に、感情が体に出ているからです。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2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「痛まないように」「思い出さないように」と思うほど、脳は痛む場面を思い描いてしまいます。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3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つらかった体験は「二度と触れるな」と保存されて、似た場面になると胸をぎゅっと縮めて、あなたを守ろうとします。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4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子どもの頃、胸がぎゅっとした場面で覚えた「こうしなきゃ」が、今も胸の奥で続いています。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5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痛みを抱えたまま「これが当たり前」と思ってきたことも、あなたの育った場所で作られたもの。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6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痛みを無理に「もう平気」と思い込むことではありません。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古い受け取り方を、新しい受け取り方に入れ替えられる状態のことです。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7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感情には「エネルギーの高さ」がある</a:t>
            </a:r>
            <a:endParaRPr lang="en-US" sz="2400" dirty="0"/>
          </a:p>
        </p:txBody>
      </p:sp>
      <p:sp>
        <p:nvSpPr>
          <p:cNvPr id="4" name="lv_head0"/>
          <p:cNvSpPr txBox="1"/>
          <p:nvPr/>
        </p:nvSpPr>
        <p:spPr>
          <a:xfrm>
            <a:off x="457200" y="109728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エネルギー値</a:t>
            </a:r>
            <a:endParaRPr lang="en-US" sz="900" dirty="0"/>
          </a:p>
        </p:txBody>
      </p:sp>
      <p:sp>
        <p:nvSpPr>
          <p:cNvPr id="5" name="lv_head1"/>
          <p:cNvSpPr txBox="1"/>
          <p:nvPr/>
        </p:nvSpPr>
        <p:spPr>
          <a:xfrm>
            <a:off x="1508760" y="10972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意識のレベル</a:t>
            </a:r>
            <a:endParaRPr lang="en-US" sz="900" dirty="0"/>
          </a:p>
        </p:txBody>
      </p:sp>
      <p:sp>
        <p:nvSpPr>
          <p:cNvPr id="6" name="lv_head2"/>
          <p:cNvSpPr txBox="1"/>
          <p:nvPr/>
        </p:nvSpPr>
        <p:spPr>
          <a:xfrm>
            <a:off x="3063240" y="10972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感情</a:t>
            </a:r>
            <a:endParaRPr lang="en-US" sz="900" dirty="0"/>
          </a:p>
        </p:txBody>
      </p:sp>
      <p:sp>
        <p:nvSpPr>
          <p:cNvPr id="7" name="lv_row0"/>
          <p:cNvSpPr/>
          <p:nvPr/>
        </p:nvSpPr>
        <p:spPr>
          <a:xfrm>
            <a:off x="457200" y="1298448"/>
            <a:ext cx="5120640" cy="192024"/>
          </a:xfrm>
          <a:prstGeom prst="rect">
            <a:avLst/>
          </a:prstGeom>
          <a:solidFill>
            <a:srgbClr val="F0CC6A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lv_0_0"/>
          <p:cNvSpPr txBox="1"/>
          <p:nvPr/>
        </p:nvSpPr>
        <p:spPr>
          <a:xfrm>
            <a:off x="457200" y="12984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700〜1000</a:t>
            </a:r>
            <a:endParaRPr lang="en-US" sz="1000" dirty="0"/>
          </a:p>
        </p:txBody>
      </p:sp>
      <p:sp>
        <p:nvSpPr>
          <p:cNvPr id="9" name="lv_0_1"/>
          <p:cNvSpPr txBox="1"/>
          <p:nvPr/>
        </p:nvSpPr>
        <p:spPr>
          <a:xfrm>
            <a:off x="1508760" y="1298448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悟り</a:t>
            </a:r>
            <a:endParaRPr lang="en-US" sz="1000" dirty="0"/>
          </a:p>
        </p:txBody>
      </p:sp>
      <p:sp>
        <p:nvSpPr>
          <p:cNvPr id="10" name="lv_0_2"/>
          <p:cNvSpPr txBox="1"/>
          <p:nvPr/>
        </p:nvSpPr>
        <p:spPr>
          <a:xfrm>
            <a:off x="3063240" y="1298448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言語に絶する</a:t>
            </a:r>
            <a:endParaRPr lang="en-US" sz="1000" dirty="0"/>
          </a:p>
        </p:txBody>
      </p:sp>
      <p:sp>
        <p:nvSpPr>
          <p:cNvPr id="11" name="lv_row1"/>
          <p:cNvSpPr/>
          <p:nvPr/>
        </p:nvSpPr>
        <p:spPr>
          <a:xfrm>
            <a:off x="457200" y="1490472"/>
            <a:ext cx="5120640" cy="192024"/>
          </a:xfrm>
          <a:prstGeom prst="rect">
            <a:avLst/>
          </a:prstGeom>
          <a:solidFill>
            <a:srgbClr val="F0CC6A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lv_1_0"/>
          <p:cNvSpPr txBox="1"/>
          <p:nvPr/>
        </p:nvSpPr>
        <p:spPr>
          <a:xfrm>
            <a:off x="457200" y="149047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600</a:t>
            </a:r>
            <a:endParaRPr lang="en-US" sz="1000" dirty="0"/>
          </a:p>
        </p:txBody>
      </p:sp>
      <p:sp>
        <p:nvSpPr>
          <p:cNvPr id="13" name="lv_1_1"/>
          <p:cNvSpPr txBox="1"/>
          <p:nvPr/>
        </p:nvSpPr>
        <p:spPr>
          <a:xfrm>
            <a:off x="1508760" y="1490472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平和</a:t>
            </a:r>
            <a:endParaRPr lang="en-US" sz="1000" dirty="0"/>
          </a:p>
        </p:txBody>
      </p:sp>
      <p:sp>
        <p:nvSpPr>
          <p:cNvPr id="14" name="lv_1_2"/>
          <p:cNvSpPr txBox="1"/>
          <p:nvPr/>
        </p:nvSpPr>
        <p:spPr>
          <a:xfrm>
            <a:off x="3063240" y="1490472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至福</a:t>
            </a:r>
            <a:endParaRPr lang="en-US" sz="1000" dirty="0"/>
          </a:p>
        </p:txBody>
      </p:sp>
      <p:sp>
        <p:nvSpPr>
          <p:cNvPr id="15" name="lv_row2"/>
          <p:cNvSpPr/>
          <p:nvPr/>
        </p:nvSpPr>
        <p:spPr>
          <a:xfrm>
            <a:off x="457200" y="1682496"/>
            <a:ext cx="5120640" cy="192024"/>
          </a:xfrm>
          <a:prstGeom prst="rect">
            <a:avLst/>
          </a:prstGeom>
          <a:solidFill>
            <a:srgbClr val="F3D98B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lv_2_0"/>
          <p:cNvSpPr txBox="1"/>
          <p:nvPr/>
        </p:nvSpPr>
        <p:spPr>
          <a:xfrm>
            <a:off x="457200" y="168249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540</a:t>
            </a:r>
            <a:endParaRPr lang="en-US" sz="1000" dirty="0"/>
          </a:p>
        </p:txBody>
      </p:sp>
      <p:sp>
        <p:nvSpPr>
          <p:cNvPr id="17" name="lv_2_1"/>
          <p:cNvSpPr txBox="1"/>
          <p:nvPr/>
        </p:nvSpPr>
        <p:spPr>
          <a:xfrm>
            <a:off x="1508760" y="1682496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喜び</a:t>
            </a:r>
            <a:endParaRPr lang="en-US" sz="1000" dirty="0"/>
          </a:p>
        </p:txBody>
      </p:sp>
      <p:sp>
        <p:nvSpPr>
          <p:cNvPr id="18" name="lv_2_2"/>
          <p:cNvSpPr txBox="1"/>
          <p:nvPr/>
        </p:nvSpPr>
        <p:spPr>
          <a:xfrm>
            <a:off x="3063240" y="1682496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静穏</a:t>
            </a:r>
            <a:endParaRPr lang="en-US" sz="1000" dirty="0"/>
          </a:p>
        </p:txBody>
      </p:sp>
      <p:sp>
        <p:nvSpPr>
          <p:cNvPr id="19" name="lv_row3"/>
          <p:cNvSpPr/>
          <p:nvPr/>
        </p:nvSpPr>
        <p:spPr>
          <a:xfrm>
            <a:off x="457200" y="1874520"/>
            <a:ext cx="5120640" cy="192024"/>
          </a:xfrm>
          <a:prstGeom prst="rect">
            <a:avLst/>
          </a:prstGeom>
          <a:solidFill>
            <a:srgbClr val="F3D98B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lv_3_0"/>
          <p:cNvSpPr txBox="1"/>
          <p:nvPr/>
        </p:nvSpPr>
        <p:spPr>
          <a:xfrm>
            <a:off x="457200" y="187452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500</a:t>
            </a:r>
            <a:endParaRPr lang="en-US" sz="1000" dirty="0"/>
          </a:p>
        </p:txBody>
      </p:sp>
      <p:sp>
        <p:nvSpPr>
          <p:cNvPr id="21" name="lv_3_1"/>
          <p:cNvSpPr txBox="1"/>
          <p:nvPr/>
        </p:nvSpPr>
        <p:spPr>
          <a:xfrm>
            <a:off x="1508760" y="1874520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愛</a:t>
            </a:r>
            <a:endParaRPr lang="en-US" sz="1000" dirty="0"/>
          </a:p>
        </p:txBody>
      </p:sp>
      <p:sp>
        <p:nvSpPr>
          <p:cNvPr id="22" name="lv_3_2"/>
          <p:cNvSpPr txBox="1"/>
          <p:nvPr/>
        </p:nvSpPr>
        <p:spPr>
          <a:xfrm>
            <a:off x="3063240" y="1874520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尊敬</a:t>
            </a:r>
            <a:endParaRPr lang="en-US" sz="1000" dirty="0"/>
          </a:p>
        </p:txBody>
      </p:sp>
      <p:sp>
        <p:nvSpPr>
          <p:cNvPr id="23" name="lv_row4"/>
          <p:cNvSpPr/>
          <p:nvPr/>
        </p:nvSpPr>
        <p:spPr>
          <a:xfrm>
            <a:off x="457200" y="2066544"/>
            <a:ext cx="5120640" cy="192024"/>
          </a:xfrm>
          <a:prstGeom prst="rect">
            <a:avLst/>
          </a:prstGeom>
          <a:solidFill>
            <a:srgbClr val="F3D98B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lv_4_0"/>
          <p:cNvSpPr txBox="1"/>
          <p:nvPr/>
        </p:nvSpPr>
        <p:spPr>
          <a:xfrm>
            <a:off x="457200" y="206654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400</a:t>
            </a:r>
            <a:endParaRPr lang="en-US" sz="1000" dirty="0"/>
          </a:p>
        </p:txBody>
      </p:sp>
      <p:sp>
        <p:nvSpPr>
          <p:cNvPr id="25" name="lv_4_1"/>
          <p:cNvSpPr txBox="1"/>
          <p:nvPr/>
        </p:nvSpPr>
        <p:spPr>
          <a:xfrm>
            <a:off x="1508760" y="2066544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理性</a:t>
            </a:r>
            <a:endParaRPr lang="en-US" sz="1000" dirty="0"/>
          </a:p>
        </p:txBody>
      </p:sp>
      <p:sp>
        <p:nvSpPr>
          <p:cNvPr id="26" name="lv_4_2"/>
          <p:cNvSpPr txBox="1"/>
          <p:nvPr/>
        </p:nvSpPr>
        <p:spPr>
          <a:xfrm>
            <a:off x="3063240" y="2066544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理解</a:t>
            </a:r>
            <a:endParaRPr lang="en-US" sz="1000" dirty="0"/>
          </a:p>
        </p:txBody>
      </p:sp>
      <p:sp>
        <p:nvSpPr>
          <p:cNvPr id="27" name="lv_row5"/>
          <p:cNvSpPr/>
          <p:nvPr/>
        </p:nvSpPr>
        <p:spPr>
          <a:xfrm>
            <a:off x="457200" y="2258568"/>
            <a:ext cx="5120640" cy="192024"/>
          </a:xfrm>
          <a:prstGeom prst="rect">
            <a:avLst/>
          </a:prstGeom>
          <a:solidFill>
            <a:srgbClr val="F8EBC8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lv_5_0"/>
          <p:cNvSpPr txBox="1"/>
          <p:nvPr/>
        </p:nvSpPr>
        <p:spPr>
          <a:xfrm>
            <a:off x="457200" y="225856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350</a:t>
            </a:r>
            <a:endParaRPr lang="en-US" sz="1000" dirty="0"/>
          </a:p>
        </p:txBody>
      </p:sp>
      <p:sp>
        <p:nvSpPr>
          <p:cNvPr id="29" name="lv_5_1"/>
          <p:cNvSpPr txBox="1"/>
          <p:nvPr/>
        </p:nvSpPr>
        <p:spPr>
          <a:xfrm>
            <a:off x="1508760" y="2258568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受容</a:t>
            </a:r>
            <a:endParaRPr lang="en-US" sz="1000" dirty="0"/>
          </a:p>
        </p:txBody>
      </p:sp>
      <p:sp>
        <p:nvSpPr>
          <p:cNvPr id="30" name="lv_5_2"/>
          <p:cNvSpPr txBox="1"/>
          <p:nvPr/>
        </p:nvSpPr>
        <p:spPr>
          <a:xfrm>
            <a:off x="3063240" y="2258568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許し</a:t>
            </a:r>
            <a:endParaRPr lang="en-US" sz="1000" dirty="0"/>
          </a:p>
        </p:txBody>
      </p:sp>
      <p:sp>
        <p:nvSpPr>
          <p:cNvPr id="31" name="lv_row6"/>
          <p:cNvSpPr/>
          <p:nvPr/>
        </p:nvSpPr>
        <p:spPr>
          <a:xfrm>
            <a:off x="457200" y="2450592"/>
            <a:ext cx="5120640" cy="192024"/>
          </a:xfrm>
          <a:prstGeom prst="rect">
            <a:avLst/>
          </a:prstGeom>
          <a:solidFill>
            <a:srgbClr val="F8EBC8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lv_6_0"/>
          <p:cNvSpPr txBox="1"/>
          <p:nvPr/>
        </p:nvSpPr>
        <p:spPr>
          <a:xfrm>
            <a:off x="457200" y="245059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310</a:t>
            </a:r>
            <a:endParaRPr lang="en-US" sz="1000" dirty="0"/>
          </a:p>
        </p:txBody>
      </p:sp>
      <p:sp>
        <p:nvSpPr>
          <p:cNvPr id="33" name="lv_6_1"/>
          <p:cNvSpPr txBox="1"/>
          <p:nvPr/>
        </p:nvSpPr>
        <p:spPr>
          <a:xfrm>
            <a:off x="1508760" y="2450592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意欲</a:t>
            </a:r>
            <a:endParaRPr lang="en-US" sz="1000" dirty="0"/>
          </a:p>
        </p:txBody>
      </p:sp>
      <p:sp>
        <p:nvSpPr>
          <p:cNvPr id="34" name="lv_6_2"/>
          <p:cNvSpPr txBox="1"/>
          <p:nvPr/>
        </p:nvSpPr>
        <p:spPr>
          <a:xfrm>
            <a:off x="3063240" y="2450592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楽観</a:t>
            </a:r>
            <a:endParaRPr lang="en-US" sz="1000" dirty="0"/>
          </a:p>
        </p:txBody>
      </p:sp>
      <p:sp>
        <p:nvSpPr>
          <p:cNvPr id="35" name="lv_row7"/>
          <p:cNvSpPr/>
          <p:nvPr/>
        </p:nvSpPr>
        <p:spPr>
          <a:xfrm>
            <a:off x="457200" y="2642616"/>
            <a:ext cx="5120640" cy="192024"/>
          </a:xfrm>
          <a:prstGeom prst="rect">
            <a:avLst/>
          </a:prstGeom>
          <a:solidFill>
            <a:srgbClr val="F8EBC8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lv_7_0"/>
          <p:cNvSpPr txBox="1"/>
          <p:nvPr/>
        </p:nvSpPr>
        <p:spPr>
          <a:xfrm>
            <a:off x="457200" y="264261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250</a:t>
            </a:r>
            <a:endParaRPr lang="en-US" sz="1000" dirty="0"/>
          </a:p>
        </p:txBody>
      </p:sp>
      <p:sp>
        <p:nvSpPr>
          <p:cNvPr id="37" name="lv_7_1"/>
          <p:cNvSpPr txBox="1"/>
          <p:nvPr/>
        </p:nvSpPr>
        <p:spPr>
          <a:xfrm>
            <a:off x="1508760" y="2642616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中立</a:t>
            </a:r>
            <a:endParaRPr lang="en-US" sz="1000" dirty="0"/>
          </a:p>
        </p:txBody>
      </p:sp>
      <p:sp>
        <p:nvSpPr>
          <p:cNvPr id="38" name="lv_7_2"/>
          <p:cNvSpPr txBox="1"/>
          <p:nvPr/>
        </p:nvSpPr>
        <p:spPr>
          <a:xfrm>
            <a:off x="3063240" y="2642616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信頼</a:t>
            </a:r>
            <a:endParaRPr lang="en-US" sz="1000" dirty="0"/>
          </a:p>
        </p:txBody>
      </p:sp>
      <p:sp>
        <p:nvSpPr>
          <p:cNvPr id="39" name="lv_row8"/>
          <p:cNvSpPr/>
          <p:nvPr/>
        </p:nvSpPr>
        <p:spPr>
          <a:xfrm>
            <a:off x="457200" y="2834640"/>
            <a:ext cx="5120640" cy="192024"/>
          </a:xfrm>
          <a:prstGeom prst="rect">
            <a:avLst/>
          </a:prstGeom>
          <a:solidFill>
            <a:srgbClr val="F8EBC8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lv_8_0"/>
          <p:cNvSpPr txBox="1"/>
          <p:nvPr/>
        </p:nvSpPr>
        <p:spPr>
          <a:xfrm>
            <a:off x="457200" y="28346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200</a:t>
            </a:r>
            <a:endParaRPr lang="en-US" sz="1000" dirty="0"/>
          </a:p>
        </p:txBody>
      </p:sp>
      <p:sp>
        <p:nvSpPr>
          <p:cNvPr id="41" name="lv_8_1"/>
          <p:cNvSpPr txBox="1"/>
          <p:nvPr/>
        </p:nvSpPr>
        <p:spPr>
          <a:xfrm>
            <a:off x="1508760" y="2834640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勇気</a:t>
            </a:r>
            <a:endParaRPr lang="en-US" sz="1000" dirty="0"/>
          </a:p>
        </p:txBody>
      </p:sp>
      <p:sp>
        <p:nvSpPr>
          <p:cNvPr id="42" name="lv_8_2"/>
          <p:cNvSpPr txBox="1"/>
          <p:nvPr/>
        </p:nvSpPr>
        <p:spPr>
          <a:xfrm>
            <a:off x="3063240" y="2834640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肯定</a:t>
            </a:r>
            <a:endParaRPr lang="en-US" sz="1000" dirty="0"/>
          </a:p>
        </p:txBody>
      </p:sp>
      <p:sp>
        <p:nvSpPr>
          <p:cNvPr id="43" name="lv_row9"/>
          <p:cNvSpPr/>
          <p:nvPr/>
        </p:nvSpPr>
        <p:spPr>
          <a:xfrm>
            <a:off x="457200" y="3026664"/>
            <a:ext cx="5120640" cy="192024"/>
          </a:xfrm>
          <a:prstGeom prst="rect">
            <a:avLst/>
          </a:prstGeom>
          <a:solidFill>
            <a:srgbClr val="EEF0F5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lv_9_0"/>
          <p:cNvSpPr txBox="1"/>
          <p:nvPr/>
        </p:nvSpPr>
        <p:spPr>
          <a:xfrm>
            <a:off x="457200" y="302666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175</a:t>
            </a:r>
            <a:endParaRPr lang="en-US" sz="1000" dirty="0"/>
          </a:p>
        </p:txBody>
      </p:sp>
      <p:sp>
        <p:nvSpPr>
          <p:cNvPr id="45" name="lv_9_1"/>
          <p:cNvSpPr txBox="1"/>
          <p:nvPr/>
        </p:nvSpPr>
        <p:spPr>
          <a:xfrm>
            <a:off x="1508760" y="3026664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プライド</a:t>
            </a:r>
            <a:endParaRPr lang="en-US" sz="1000" dirty="0"/>
          </a:p>
        </p:txBody>
      </p:sp>
      <p:sp>
        <p:nvSpPr>
          <p:cNvPr id="46" name="lv_9_2"/>
          <p:cNvSpPr txBox="1"/>
          <p:nvPr/>
        </p:nvSpPr>
        <p:spPr>
          <a:xfrm>
            <a:off x="3063240" y="3026664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嘲笑</a:t>
            </a:r>
            <a:endParaRPr lang="en-US" sz="1000" dirty="0"/>
          </a:p>
        </p:txBody>
      </p:sp>
      <p:sp>
        <p:nvSpPr>
          <p:cNvPr id="47" name="lv_row10"/>
          <p:cNvSpPr/>
          <p:nvPr/>
        </p:nvSpPr>
        <p:spPr>
          <a:xfrm>
            <a:off x="457200" y="3218688"/>
            <a:ext cx="5120640" cy="192024"/>
          </a:xfrm>
          <a:prstGeom prst="rect">
            <a:avLst/>
          </a:prstGeom>
          <a:solidFill>
            <a:srgbClr val="EEF0F5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lv_10_0"/>
          <p:cNvSpPr txBox="1"/>
          <p:nvPr/>
        </p:nvSpPr>
        <p:spPr>
          <a:xfrm>
            <a:off x="457200" y="321868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150</a:t>
            </a:r>
            <a:endParaRPr lang="en-US" sz="1000" dirty="0"/>
          </a:p>
        </p:txBody>
      </p:sp>
      <p:sp>
        <p:nvSpPr>
          <p:cNvPr id="49" name="lv_10_1"/>
          <p:cNvSpPr txBox="1"/>
          <p:nvPr/>
        </p:nvSpPr>
        <p:spPr>
          <a:xfrm>
            <a:off x="1508760" y="3218688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怒り</a:t>
            </a:r>
            <a:endParaRPr lang="en-US" sz="1000" dirty="0"/>
          </a:p>
        </p:txBody>
      </p:sp>
      <p:sp>
        <p:nvSpPr>
          <p:cNvPr id="50" name="lv_10_2"/>
          <p:cNvSpPr txBox="1"/>
          <p:nvPr/>
        </p:nvSpPr>
        <p:spPr>
          <a:xfrm>
            <a:off x="3063240" y="3218688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憎しみ</a:t>
            </a:r>
            <a:endParaRPr lang="en-US" sz="1000" dirty="0"/>
          </a:p>
        </p:txBody>
      </p:sp>
      <p:sp>
        <p:nvSpPr>
          <p:cNvPr id="51" name="lv_row11"/>
          <p:cNvSpPr/>
          <p:nvPr/>
        </p:nvSpPr>
        <p:spPr>
          <a:xfrm>
            <a:off x="457200" y="3410712"/>
            <a:ext cx="5120640" cy="192024"/>
          </a:xfrm>
          <a:prstGeom prst="rect">
            <a:avLst/>
          </a:prstGeom>
          <a:solidFill>
            <a:srgbClr val="EEF0F5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lv_11_0"/>
          <p:cNvSpPr txBox="1"/>
          <p:nvPr/>
        </p:nvSpPr>
        <p:spPr>
          <a:xfrm>
            <a:off x="457200" y="34107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125</a:t>
            </a:r>
            <a:endParaRPr lang="en-US" sz="1000" dirty="0"/>
          </a:p>
        </p:txBody>
      </p:sp>
      <p:sp>
        <p:nvSpPr>
          <p:cNvPr id="53" name="lv_11_1"/>
          <p:cNvSpPr txBox="1"/>
          <p:nvPr/>
        </p:nvSpPr>
        <p:spPr>
          <a:xfrm>
            <a:off x="1508760" y="3410712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欲望</a:t>
            </a:r>
            <a:endParaRPr lang="en-US" sz="1000" dirty="0"/>
          </a:p>
        </p:txBody>
      </p:sp>
      <p:sp>
        <p:nvSpPr>
          <p:cNvPr id="54" name="lv_11_2"/>
          <p:cNvSpPr txBox="1"/>
          <p:nvPr/>
        </p:nvSpPr>
        <p:spPr>
          <a:xfrm>
            <a:off x="3063240" y="3410712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切望</a:t>
            </a:r>
            <a:endParaRPr lang="en-US" sz="1000" dirty="0"/>
          </a:p>
        </p:txBody>
      </p:sp>
      <p:sp>
        <p:nvSpPr>
          <p:cNvPr id="55" name="lv_row12"/>
          <p:cNvSpPr/>
          <p:nvPr/>
        </p:nvSpPr>
        <p:spPr>
          <a:xfrm>
            <a:off x="457200" y="3602736"/>
            <a:ext cx="5120640" cy="192024"/>
          </a:xfrm>
          <a:prstGeom prst="rect">
            <a:avLst/>
          </a:prstGeom>
          <a:solidFill>
            <a:srgbClr val="EEF0F5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lv_12_0"/>
          <p:cNvSpPr txBox="1"/>
          <p:nvPr/>
        </p:nvSpPr>
        <p:spPr>
          <a:xfrm>
            <a:off x="457200" y="360273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100</a:t>
            </a:r>
            <a:endParaRPr lang="en-US" sz="1000" dirty="0"/>
          </a:p>
        </p:txBody>
      </p:sp>
      <p:sp>
        <p:nvSpPr>
          <p:cNvPr id="57" name="lv_12_1"/>
          <p:cNvSpPr txBox="1"/>
          <p:nvPr/>
        </p:nvSpPr>
        <p:spPr>
          <a:xfrm>
            <a:off x="1508760" y="3602736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恐怖</a:t>
            </a:r>
            <a:endParaRPr lang="en-US" sz="1000" dirty="0"/>
          </a:p>
        </p:txBody>
      </p:sp>
      <p:sp>
        <p:nvSpPr>
          <p:cNvPr id="58" name="lv_12_2"/>
          <p:cNvSpPr txBox="1"/>
          <p:nvPr/>
        </p:nvSpPr>
        <p:spPr>
          <a:xfrm>
            <a:off x="3063240" y="3602736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不安</a:t>
            </a:r>
            <a:endParaRPr lang="en-US" sz="1000" dirty="0"/>
          </a:p>
        </p:txBody>
      </p:sp>
      <p:sp>
        <p:nvSpPr>
          <p:cNvPr id="59" name="lv_row13"/>
          <p:cNvSpPr/>
          <p:nvPr/>
        </p:nvSpPr>
        <p:spPr>
          <a:xfrm>
            <a:off x="457200" y="3794760"/>
            <a:ext cx="5120640" cy="192024"/>
          </a:xfrm>
          <a:prstGeom prst="rect">
            <a:avLst/>
          </a:prstGeom>
          <a:solidFill>
            <a:srgbClr val="EEF0F5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lv_13_0"/>
          <p:cNvSpPr txBox="1"/>
          <p:nvPr/>
        </p:nvSpPr>
        <p:spPr>
          <a:xfrm>
            <a:off x="457200" y="379476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75</a:t>
            </a:r>
            <a:endParaRPr lang="en-US" sz="1000" dirty="0"/>
          </a:p>
        </p:txBody>
      </p:sp>
      <p:sp>
        <p:nvSpPr>
          <p:cNvPr id="61" name="lv_13_1"/>
          <p:cNvSpPr txBox="1"/>
          <p:nvPr/>
        </p:nvSpPr>
        <p:spPr>
          <a:xfrm>
            <a:off x="1508760" y="3794760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深い悲しみ</a:t>
            </a:r>
            <a:endParaRPr lang="en-US" sz="1000" dirty="0"/>
          </a:p>
        </p:txBody>
      </p:sp>
      <p:sp>
        <p:nvSpPr>
          <p:cNvPr id="62" name="lv_13_2"/>
          <p:cNvSpPr txBox="1"/>
          <p:nvPr/>
        </p:nvSpPr>
        <p:spPr>
          <a:xfrm>
            <a:off x="3063240" y="3794760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後悔</a:t>
            </a:r>
            <a:endParaRPr lang="en-US" sz="1000" dirty="0"/>
          </a:p>
        </p:txBody>
      </p:sp>
      <p:sp>
        <p:nvSpPr>
          <p:cNvPr id="63" name="lv_row14"/>
          <p:cNvSpPr/>
          <p:nvPr/>
        </p:nvSpPr>
        <p:spPr>
          <a:xfrm>
            <a:off x="457200" y="3986784"/>
            <a:ext cx="5120640" cy="192024"/>
          </a:xfrm>
          <a:prstGeom prst="rect">
            <a:avLst/>
          </a:prstGeom>
          <a:solidFill>
            <a:srgbClr val="EEF0F5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lv_14_0"/>
          <p:cNvSpPr txBox="1"/>
          <p:nvPr/>
        </p:nvSpPr>
        <p:spPr>
          <a:xfrm>
            <a:off x="457200" y="39867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50</a:t>
            </a:r>
            <a:endParaRPr lang="en-US" sz="1000" dirty="0"/>
          </a:p>
        </p:txBody>
      </p:sp>
      <p:sp>
        <p:nvSpPr>
          <p:cNvPr id="65" name="lv_14_1"/>
          <p:cNvSpPr txBox="1"/>
          <p:nvPr/>
        </p:nvSpPr>
        <p:spPr>
          <a:xfrm>
            <a:off x="1508760" y="3986784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無気力</a:t>
            </a:r>
            <a:endParaRPr lang="en-US" sz="1000" dirty="0"/>
          </a:p>
        </p:txBody>
      </p:sp>
      <p:sp>
        <p:nvSpPr>
          <p:cNvPr id="66" name="lv_14_2"/>
          <p:cNvSpPr txBox="1"/>
          <p:nvPr/>
        </p:nvSpPr>
        <p:spPr>
          <a:xfrm>
            <a:off x="3063240" y="3986784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絶望</a:t>
            </a:r>
            <a:endParaRPr lang="en-US" sz="1000" dirty="0"/>
          </a:p>
        </p:txBody>
      </p:sp>
      <p:sp>
        <p:nvSpPr>
          <p:cNvPr id="67" name="lv_row15"/>
          <p:cNvSpPr/>
          <p:nvPr/>
        </p:nvSpPr>
        <p:spPr>
          <a:xfrm>
            <a:off x="457200" y="4178808"/>
            <a:ext cx="5120640" cy="192024"/>
          </a:xfrm>
          <a:prstGeom prst="rect">
            <a:avLst/>
          </a:prstGeom>
          <a:solidFill>
            <a:srgbClr val="EEF0F5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8" name="lv_15_0"/>
          <p:cNvSpPr txBox="1"/>
          <p:nvPr/>
        </p:nvSpPr>
        <p:spPr>
          <a:xfrm>
            <a:off x="457200" y="417880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30</a:t>
            </a:r>
            <a:endParaRPr lang="en-US" sz="1000" dirty="0"/>
          </a:p>
        </p:txBody>
      </p:sp>
      <p:sp>
        <p:nvSpPr>
          <p:cNvPr id="69" name="lv_15_1"/>
          <p:cNvSpPr txBox="1"/>
          <p:nvPr/>
        </p:nvSpPr>
        <p:spPr>
          <a:xfrm>
            <a:off x="1508760" y="4178808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罪悪感</a:t>
            </a:r>
            <a:endParaRPr lang="en-US" sz="1000" dirty="0"/>
          </a:p>
        </p:txBody>
      </p:sp>
      <p:sp>
        <p:nvSpPr>
          <p:cNvPr id="70" name="lv_15_2"/>
          <p:cNvSpPr txBox="1"/>
          <p:nvPr/>
        </p:nvSpPr>
        <p:spPr>
          <a:xfrm>
            <a:off x="3063240" y="4178808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非難</a:t>
            </a:r>
            <a:endParaRPr lang="en-US" sz="1000" dirty="0"/>
          </a:p>
        </p:txBody>
      </p:sp>
      <p:sp>
        <p:nvSpPr>
          <p:cNvPr id="71" name="lv_row16"/>
          <p:cNvSpPr/>
          <p:nvPr/>
        </p:nvSpPr>
        <p:spPr>
          <a:xfrm>
            <a:off x="457200" y="4370832"/>
            <a:ext cx="5120640" cy="192024"/>
          </a:xfrm>
          <a:prstGeom prst="rect">
            <a:avLst/>
          </a:prstGeom>
          <a:solidFill>
            <a:srgbClr val="EEF0F5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2" name="lv_16_0"/>
          <p:cNvSpPr txBox="1"/>
          <p:nvPr/>
        </p:nvSpPr>
        <p:spPr>
          <a:xfrm>
            <a:off x="457200" y="437083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20</a:t>
            </a:r>
            <a:endParaRPr lang="en-US" sz="1000" dirty="0"/>
          </a:p>
        </p:txBody>
      </p:sp>
      <p:sp>
        <p:nvSpPr>
          <p:cNvPr id="73" name="lv_16_1"/>
          <p:cNvSpPr txBox="1"/>
          <p:nvPr/>
        </p:nvSpPr>
        <p:spPr>
          <a:xfrm>
            <a:off x="1508760" y="4370832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恥</a:t>
            </a:r>
            <a:endParaRPr lang="en-US" sz="1000" dirty="0"/>
          </a:p>
        </p:txBody>
      </p:sp>
      <p:sp>
        <p:nvSpPr>
          <p:cNvPr id="74" name="lv_16_2"/>
          <p:cNvSpPr txBox="1"/>
          <p:nvPr/>
        </p:nvSpPr>
        <p:spPr>
          <a:xfrm>
            <a:off x="3063240" y="4370832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屈辱</a:t>
            </a:r>
            <a:endParaRPr lang="en-US" sz="1000" dirty="0"/>
          </a:p>
        </p:txBody>
      </p:sp>
      <p:sp>
        <p:nvSpPr>
          <p:cNvPr id="75" name="lv_border"/>
          <p:cNvSpPr/>
          <p:nvPr/>
        </p:nvSpPr>
        <p:spPr>
          <a:xfrm>
            <a:off x="457200" y="3026664"/>
            <a:ext cx="5120640" cy="0"/>
          </a:xfrm>
          <a:prstGeom prst="line">
            <a:avLst/>
          </a:prstGeom>
          <a:noFill/>
          <a:ln w="25400">
            <a:solidFill>
              <a:srgbClr val="8C6A34"/>
            </a:solidFill>
            <a:prstDash val="dash"/>
          </a:ln>
        </p:spPr>
        <p:txBody>
          <a:bodyPr/>
          <a:p/>
        </p:txBody>
      </p:sp>
      <p:sp>
        <p:nvSpPr>
          <p:cNvPr id="76" name="lv_power"/>
          <p:cNvSpPr txBox="1"/>
          <p:nvPr/>
        </p:nvSpPr>
        <p:spPr>
          <a:xfrm>
            <a:off x="3840480" y="282549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chemeClr val="accent2"/>
                </a:solidFill>
              </a:rPr>
              <a:t>▲ パワー（生かす力）</a:t>
            </a:r>
            <a:endParaRPr lang="en-US" sz="800" dirty="0"/>
          </a:p>
        </p:txBody>
      </p:sp>
      <p:sp>
        <p:nvSpPr>
          <p:cNvPr id="77" name="lv_force"/>
          <p:cNvSpPr txBox="1"/>
          <p:nvPr/>
        </p:nvSpPr>
        <p:spPr>
          <a:xfrm>
            <a:off x="3840480" y="303580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chemeClr val="accent2"/>
                </a:solidFill>
              </a:rPr>
              <a:t>▼ フォース（押す力）</a:t>
            </a:r>
            <a:endParaRPr lang="en-US" sz="800" dirty="0"/>
          </a:p>
        </p:txBody>
      </p:sp>
      <p:sp>
        <p:nvSpPr>
          <p:cNvPr id="78" name="money_card"/>
          <p:cNvSpPr/>
          <p:nvPr/>
        </p:nvSpPr>
        <p:spPr>
          <a:xfrm>
            <a:off x="5806440" y="1097280"/>
            <a:ext cx="2880360" cy="3456432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79" name="money_head"/>
          <p:cNvSpPr txBox="1"/>
          <p:nvPr/>
        </p:nvSpPr>
        <p:spPr>
          <a:xfrm>
            <a:off x="5989320" y="1207008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80" name="money_body"/>
          <p:cNvSpPr txBox="1"/>
          <p:nvPr/>
        </p:nvSpPr>
        <p:spPr>
          <a:xfrm>
            <a:off x="5989320" y="1600200"/>
            <a:ext cx="2560320" cy="2514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胸の奥にしまってきた感情にも、エネルギーの高さがあります。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出てきた感情を否定せずに感じ切ると、統合されて、上へ上がっていきます。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怒りや悲しみが出ても大丈夫。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ほどけはじめているサインです。</a:t>
            </a:r>
            <a:endParaRPr lang="en-US" sz="1300" dirty="0"/>
          </a:p>
        </p:txBody>
      </p:sp>
      <p:sp>
        <p:nvSpPr>
          <p:cNvPr id="81" name="lv_src"/>
          <p:cNvSpPr txBox="1"/>
          <p:nvPr/>
        </p:nvSpPr>
        <p:spPr>
          <a:xfrm>
            <a:off x="5943600" y="4114800"/>
            <a:ext cx="265176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1"/>
                </a:solidFill>
              </a:rPr>
              <a:t>D.R.ホーキンズ『パワーか、フォースか』の意識のマップをもとに作成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ワークA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思い込みが生まれた場面に戻って、書き換えていきます（45〜95分）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1〜2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穴埋め「胸の奥の痛みは、＿」「この痛みがなくなったら、私は＿」→本人の言葉を打ち込む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「その言葉は、守っている？選択を狭めている？」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すごい質問「何があなたをそう思わせるのですか？」（見える・色・聞こえる・体の感じ）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1階層目を5つ以上 → 表に打ち込み、100点満点で点数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1階層目で一番強いものを軸に、2階層目も同じ質問で（全部で10個くらい）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点数がわからない時はOリング・筋肉反射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胸の痛みの奥にある思い込みを言葉にする</a:t>
            </a:r>
            <a:endParaRPr lang="en-US" sz="1300" dirty="0"/>
          </a:p>
        </p:txBody>
      </p:sp>
      <p:sp>
        <p:nvSpPr>
          <p:cNvPr id="4" name="fill1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「胸の奥の痛みは、＿＿＿＿＿＿」</a:t>
            </a:r>
            <a:endParaRPr lang="en-US" sz="3000" dirty="0"/>
          </a:p>
        </p:txBody>
      </p:sp>
      <p:sp>
        <p:nvSpPr>
          <p:cNvPr id="5" name="fill2"/>
          <p:cNvSpPr txBox="1"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「この痛みがなくなったら、私は＿＿＿＿」</a:t>
            </a:r>
            <a:endParaRPr lang="en-US" sz="3000" dirty="0"/>
          </a:p>
        </p:txBody>
      </p:sp>
      <p:sp>
        <p:nvSpPr>
          <p:cNvPr id="6" name="fill_hint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正解を探さず、浮かんだ言葉をそのまま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その言葉は、今のあなたを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守っていますか？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それとも、選択を狭めていますか？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思いつくまま、いくつでも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点数は、直感で大丈夫です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正解・不正解はありません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3〜4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上位3つに印 → 一番邪魔している思い込みを1つ（Oリング可）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確認「ゆるんだら、よい影響が出そう？」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思い込みが生まれた場面へ（見える・色・聞こえる・体の感じ）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外から見る「本当はどうして欲しかった？」「本当はどうしたかった？」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和解と許し「相手の考え方は、いつできた？」「相手は本当はどうしたかった？」（無理に許さなくてよい）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痛みがほどけた未来のあなた（見える・色・聞こえる・体の感じ）→「どんなあなたですか？」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未来のあなたから「あの時のあなたへ、＿」→「伝えてみて、どんな気持ち？」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「これから自分にかけたい言葉」を本人の言葉で（由香が打ち込む）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一番、邪魔している思い込みは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どれですか？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点数の高い上位3つの中から、1つ選びます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あなたの毎日によい影響が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その思い込みが生まれた場面に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戻ってみましょう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苦しくなったら、いったん止めて、息を吐き切りましょう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相手の中にも入ってみる？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その相手の考え方は、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いつ、どうやって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相手にも、相手の子ども時代があります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相手は本当は、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どうしたかったのでしょう？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未来のあなた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胸の痛みがほどけた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未来のあなたを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思い浮かべてください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未来のあなた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その未来のあなたは、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どんなあなたですか？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どんな毎日を過ごしていますか？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未来のあなたから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あの時のあなたへ、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＿＿＿＿＿＿＿＿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伝えてみて、どんな気持ちですか？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これから選びたい、自分への言葉</a:t>
            </a:r>
            <a:endParaRPr lang="en-US" sz="2400" dirty="0"/>
          </a:p>
        </p:txBody>
      </p:sp>
      <p:sp>
        <p:nvSpPr>
          <p:cNvPr id="3" name="old_card"/>
          <p:cNvSpPr/>
          <p:nvPr/>
        </p:nvSpPr>
        <p:spPr>
          <a:xfrm>
            <a:off x="45720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old_head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今まで自分にかけてきた言葉</a:t>
            </a:r>
            <a:endParaRPr lang="en-US" sz="1600" dirty="0"/>
          </a:p>
        </p:txBody>
      </p:sp>
      <p:sp>
        <p:nvSpPr>
          <p:cNvPr id="5" name="old_body"/>
          <p:cNvSpPr txBox="1"/>
          <p:nvPr/>
        </p:nvSpPr>
        <p:spPr>
          <a:xfrm>
            <a:off x="64008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new_card"/>
          <p:cNvSpPr/>
          <p:nvPr/>
        </p:nvSpPr>
        <p:spPr>
          <a:xfrm>
            <a:off x="470916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7" name="new_head"/>
          <p:cNvSpPr txBox="1"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これから自分にかけたい言葉</a:t>
            </a:r>
            <a:endParaRPr lang="en-US" sz="1600" dirty="0"/>
          </a:p>
        </p:txBody>
      </p:sp>
      <p:sp>
        <p:nvSpPr>
          <p:cNvPr id="8" name="new_body"/>
          <p:cNvSpPr txBox="1"/>
          <p:nvPr/>
        </p:nvSpPr>
        <p:spPr>
          <a:xfrm>
            <a:off x="489204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9" name="new_note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無理にポジティブな言葉にせず、自分が納得できる言葉で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ワークB　感情を統合する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出てきた感情を、そのまま感じていきます（45〜95分）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目を閉じて、ゆっくり息を吐いてください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感情の統合（誘導）の進め方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出てきた感情を否定しない。ポジティブに変えない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その感情の池に入っていく → 池の色 → 入れそうか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入れたら「何が見えますか？」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「先に進んでみましょう」を、見るものがなくなるまで繰り返す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見るものがなくなったら、入ってきた入口を見る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出てきたら、今度は理想の池に入る（同じ流れで）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入れない・苦しい時は止めて、息を吐き切る（池の外から見るだけでもOK）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胸の痛みが動いたら、そのまま感じてもらう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出てきた感情の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池に入っていきます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その池は、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色に見えますか？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見えたら、どんな色ですか？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入ってみること、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できそうですか？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無理に入らなくて大丈夫です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池に入れたら、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先に進んで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みましょう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そこから、入ってきた入口を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見てみましょう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　理想の池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池から出てきたら、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今度は理想の池に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入っていきます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　理想の池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その池は、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色に見えますか？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見えたら、どんな色ですか？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　理想の池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入ってみること、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　理想の池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池に入れたら、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　理想の池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先に進んで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みましょう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感情の統合　理想の池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そこから、入ってきた入口を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見てみましょう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残っている痛みを、やさしく手放していきます（95〜110分）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はじめる前に、今の気持ちと胸の感じを確かめます。終わったら、感じたことを言葉にしてみましょう</a:t>
            </a:r>
            <a:endParaRPr lang="en-US" sz="1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最初に「1〜10」で聞いた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胸の痛みは、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いまどのくらいですか？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はじめ：＿＿　→　いま：＿＿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それが、今日持ち帰るものです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これから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次に同じ感情が出てきたら、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自分にどんな言葉を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かけてあげたいですか？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気づいたら、責めずに見つめる。そして、今の自分で選び直す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gic_main"/>
          <p:cNvSpPr txBox="1"/>
          <p:nvPr/>
        </p:nvSpPr>
        <p:spPr>
          <a:xfrm>
            <a:off x="548640" y="1005840"/>
            <a:ext cx="80467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根深いものは、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何度も何度も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自分に魔法をかけて、とっていく</a:t>
            </a:r>
            <a:endParaRPr lang="en-US" sz="3400" dirty="0"/>
          </a:p>
        </p:txBody>
      </p:sp>
      <p:sp>
        <p:nvSpPr>
          <p:cNvPr id="3" name="magic_sub"/>
          <p:cNvSpPr txBox="1"/>
          <p:nvPr/>
        </p:nvSpPr>
        <p:spPr>
          <a:xfrm>
            <a:off x="73152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あなたが自分にかける言葉が、魔法になります</a:t>
            </a:r>
            <a:endParaRPr lang="en-US" sz="1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1週間後に、LINEでその後のご様子をお伺いします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胸の奥の痛みをほどく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2026-10-31T03:56:12Z</dcterms:created>
  <dcterms:modified xsi:type="dcterms:W3CDTF">2026-10-31T03:56:12Z</dcterms:modified>
</cp:coreProperties>
</file>
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6BA6"/>
                </a:solidFill>
                <a:latin typeface="Meiryo UI"/>
                <a:ea typeface="Meiryo UI"/>
                <a:cs typeface="Meiryo UI"/>
              </a:rPr>
              <a:t>北原 要治さんへ　｜　2026年10月17日のセッションから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「ずっと1、2年後」を、カレンダーに書いた日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3474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8A95A0"/>
                </a:solidFill>
                <a:latin typeface="Meiryo UI"/>
                <a:ea typeface="Meiryo UI"/>
                <a:cs typeface="Meiryo UI"/>
              </a:rPr>
              <a:t>お誕生日おめでとうございます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52044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1　今日、言葉にできたこと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93392"/>
            <a:ext cx="3063240" cy="310896"/>
          </a:xfrm>
          <a:prstGeom prst="roundRect">
            <a:avLst>
              <a:gd name="adj" fmla="val 25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3063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予想していないことが起きる</a:t>
            </a:r>
          </a:p>
        </p:txBody>
      </p:sp>
      <p:sp>
        <p:nvSpPr>
          <p:cNvPr id="9" name="Down Arrow 8"/>
          <p:cNvSpPr/>
          <p:nvPr/>
        </p:nvSpPr>
        <p:spPr>
          <a:xfrm>
            <a:off x="2144268" y="2331720"/>
            <a:ext cx="237744" cy="146304"/>
          </a:xfrm>
          <a:prstGeom prst="downArrow">
            <a:avLst/>
          </a:prstGeom>
          <a:solidFill>
            <a:srgbClr val="8A9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487168"/>
            <a:ext cx="3063240" cy="310896"/>
          </a:xfrm>
          <a:prstGeom prst="roundRect">
            <a:avLst>
              <a:gd name="adj" fmla="val 25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87168"/>
            <a:ext cx="3063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冷静さを失って、思考が止まる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144268" y="2825496"/>
            <a:ext cx="237744" cy="146304"/>
          </a:xfrm>
          <a:prstGeom prst="downArrow">
            <a:avLst/>
          </a:prstGeom>
          <a:solidFill>
            <a:srgbClr val="8A9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980944"/>
            <a:ext cx="3063240" cy="310896"/>
          </a:xfrm>
          <a:prstGeom prst="roundRect">
            <a:avLst>
              <a:gd name="adj" fmla="val 25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80944"/>
            <a:ext cx="3063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「勝手にすりゃいい」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144268" y="3319272"/>
            <a:ext cx="237744" cy="146304"/>
          </a:xfrm>
          <a:prstGeom prst="downArrow">
            <a:avLst/>
          </a:prstGeom>
          <a:solidFill>
            <a:srgbClr val="8A9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474720"/>
            <a:ext cx="3063240" cy="310896"/>
          </a:xfrm>
          <a:prstGeom prst="roundRect">
            <a:avLst>
              <a:gd name="adj" fmla="val 25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74720"/>
            <a:ext cx="3063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最後は全部、自分が尻ぬぐい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40480"/>
            <a:ext cx="3063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6BA6"/>
                </a:solidFill>
                <a:latin typeface="Meiryo UI"/>
                <a:ea typeface="Meiryo UI"/>
                <a:cs typeface="Meiryo UI"/>
              </a:rPr>
              <a:t>だから、これからは ――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33088"/>
            <a:ext cx="3063240" cy="1353311"/>
          </a:xfrm>
          <a:prstGeom prst="roundRect">
            <a:avLst>
              <a:gd name="adj" fmla="val 8000"/>
            </a:avLst>
          </a:prstGeom>
          <a:solidFill>
            <a:srgbClr val="DC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24528"/>
            <a:ext cx="2880360" cy="1170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止まるのは体の防衛反応。止めなくてOK。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止まったら、こう言えば十分です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「どういうことですか？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　説明してもらえますか？」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「別の日に、もう一度話させてください」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1371600"/>
            <a:ext cx="406908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536192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2　塾のロードマップ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1883664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E6BA6"/>
                </a:solidFill>
                <a:latin typeface="Meiryo UI"/>
                <a:ea typeface="Meiryo UI"/>
                <a:cs typeface="Meiryo UI"/>
              </a:rPr>
              <a:t>半年で三級整備士。「自信」を持てる場所を、地域の先輩たちと。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23559" y="2578608"/>
            <a:ext cx="0" cy="2487168"/>
          </a:xfrm>
          <a:prstGeom prst="line">
            <a:avLst/>
          </a:prstGeom>
          <a:ln w="31750">
            <a:solidFill>
              <a:srgbClr val="74B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5532120" y="2487168"/>
            <a:ext cx="182880" cy="182880"/>
          </a:xfrm>
          <a:prstGeom prst="ellipse">
            <a:avLst/>
          </a:prstGeom>
          <a:solidFill>
            <a:srgbClr val="74B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245059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2E6BA6"/>
                </a:solidFill>
                <a:latin typeface="Meiryo UI"/>
                <a:ea typeface="Meiryo UI"/>
                <a:cs typeface="Meiryo UI"/>
              </a:rPr>
              <a:t>年内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599" y="24323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プレハブの片付け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599" y="26700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部品はヤフオクへ（もう始まっています）</a:t>
            </a:r>
          </a:p>
        </p:txBody>
      </p:sp>
      <p:sp>
        <p:nvSpPr>
          <p:cNvPr id="29" name="Oval 28"/>
          <p:cNvSpPr/>
          <p:nvPr/>
        </p:nvSpPr>
        <p:spPr>
          <a:xfrm>
            <a:off x="5532120" y="3108960"/>
            <a:ext cx="182880" cy="182880"/>
          </a:xfrm>
          <a:prstGeom prst="ellipse">
            <a:avLst/>
          </a:prstGeom>
          <a:solidFill>
            <a:srgbClr val="74B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307238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2E6BA6"/>
                </a:solidFill>
                <a:latin typeface="Meiryo UI"/>
                <a:ea typeface="Meiryo UI"/>
                <a:cs typeface="Meiryo UI"/>
              </a:rPr>
              <a:t>2027年1月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599" y="305409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教室の準備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599" y="329184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エアコン・長机・椅子・モニター・PC</a:t>
            </a:r>
          </a:p>
        </p:txBody>
      </p:sp>
      <p:sp>
        <p:nvSpPr>
          <p:cNvPr id="33" name="Oval 32"/>
          <p:cNvSpPr/>
          <p:nvPr/>
        </p:nvSpPr>
        <p:spPr>
          <a:xfrm>
            <a:off x="5532120" y="3730752"/>
            <a:ext cx="182880" cy="182880"/>
          </a:xfrm>
          <a:prstGeom prst="ellipse">
            <a:avLst/>
          </a:prstGeom>
          <a:solidFill>
            <a:srgbClr val="74B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36941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2E6BA6"/>
                </a:solidFill>
                <a:latin typeface="Meiryo UI"/>
                <a:ea typeface="Meiryo UI"/>
                <a:cs typeface="Meiryo UI"/>
              </a:rPr>
              <a:t>〜2028年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599" y="367588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カリキュラム作り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599" y="39136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講習 週2日＋北原自動車でOJT</a:t>
            </a:r>
          </a:p>
        </p:txBody>
      </p:sp>
      <p:sp>
        <p:nvSpPr>
          <p:cNvPr id="37" name="Oval 36"/>
          <p:cNvSpPr/>
          <p:nvPr/>
        </p:nvSpPr>
        <p:spPr>
          <a:xfrm>
            <a:off x="5486399" y="4306824"/>
            <a:ext cx="274320" cy="274320"/>
          </a:xfrm>
          <a:prstGeom prst="ellipse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0" y="4315968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0AD00"/>
                </a:solidFill>
                <a:latin typeface="Meiryo UI"/>
                <a:ea typeface="Meiryo UI"/>
                <a:cs typeface="Meiryo UI"/>
              </a:rPr>
              <a:t>2028年9月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52159" y="4261104"/>
            <a:ext cx="2286000" cy="54864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599" y="42976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塾スタート！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599" y="453542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3月は最繁忙期なので9月に</a:t>
            </a:r>
          </a:p>
        </p:txBody>
      </p:sp>
      <p:sp>
        <p:nvSpPr>
          <p:cNvPr id="42" name="Oval 41"/>
          <p:cNvSpPr/>
          <p:nvPr/>
        </p:nvSpPr>
        <p:spPr>
          <a:xfrm>
            <a:off x="5532120" y="4974336"/>
            <a:ext cx="182880" cy="182880"/>
          </a:xfrm>
          <a:prstGeom prst="ellipse">
            <a:avLst/>
          </a:prstGeom>
          <a:solidFill>
            <a:srgbClr val="74B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493776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2E6BA6"/>
                </a:solidFill>
                <a:latin typeface="Meiryo UI"/>
                <a:ea typeface="Meiryo UI"/>
                <a:cs typeface="Meiryo UI"/>
              </a:rPr>
              <a:t>2030年ごろ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599" y="491947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北原さん60歳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599" y="51572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赤いちゃんちゃんこ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58200" y="1371600"/>
            <a:ext cx="324612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153619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3　明日からやること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1965960"/>
            <a:ext cx="2788920" cy="96012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23960" y="2039112"/>
            <a:ext cx="2514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毎朝 8:00〜8:15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「考える15分」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いまYouTubeを見ている時間を使う</a:t>
            </a:r>
          </a:p>
        </p:txBody>
      </p:sp>
      <p:sp>
        <p:nvSpPr>
          <p:cNvPr id="50" name="Oval 49"/>
          <p:cNvSpPr/>
          <p:nvPr/>
        </p:nvSpPr>
        <p:spPr>
          <a:xfrm>
            <a:off x="8686800" y="3191256"/>
            <a:ext cx="292608" cy="292608"/>
          </a:xfrm>
          <a:prstGeom prst="ellipse">
            <a:avLst/>
          </a:prstGeom>
          <a:solidFill>
            <a:srgbClr val="5BB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9992" y="3154680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裏紙のメモを写真でChatGPTへ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79992" y="3401568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塾の叩き台をつくっていく</a:t>
            </a:r>
          </a:p>
        </p:txBody>
      </p:sp>
      <p:sp>
        <p:nvSpPr>
          <p:cNvPr id="53" name="Oval 52"/>
          <p:cNvSpPr/>
          <p:nvPr/>
        </p:nvSpPr>
        <p:spPr>
          <a:xfrm>
            <a:off x="8686800" y="3794760"/>
            <a:ext cx="292608" cy="292608"/>
          </a:xfrm>
          <a:prstGeom prst="ellipse">
            <a:avLst/>
          </a:prstGeom>
          <a:solidFill>
            <a:srgbClr val="5BB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79992" y="3758184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カスタム指示を入れる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79992" y="4005072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髙橋の設定をベースに</a:t>
            </a:r>
          </a:p>
        </p:txBody>
      </p:sp>
      <p:sp>
        <p:nvSpPr>
          <p:cNvPr id="56" name="Oval 55"/>
          <p:cNvSpPr/>
          <p:nvPr/>
        </p:nvSpPr>
        <p:spPr>
          <a:xfrm>
            <a:off x="8686800" y="4398264"/>
            <a:ext cx="292608" cy="292608"/>
          </a:xfrm>
          <a:prstGeom prst="ellipse">
            <a:avLst/>
          </a:prstGeom>
          <a:solidFill>
            <a:srgbClr val="5BB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9992" y="4361688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社員さんの設定も確認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79992" y="4608576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「モデルを改善する」オフ</a:t>
            </a:r>
          </a:p>
        </p:txBody>
      </p:sp>
      <p:sp>
        <p:nvSpPr>
          <p:cNvPr id="59" name="Oval 58"/>
          <p:cNvSpPr/>
          <p:nvPr/>
        </p:nvSpPr>
        <p:spPr>
          <a:xfrm>
            <a:off x="8686800" y="5001768"/>
            <a:ext cx="292608" cy="292608"/>
          </a:xfrm>
          <a:prstGeom prst="ellipse">
            <a:avLst/>
          </a:prstGeom>
          <a:solidFill>
            <a:srgbClr val="5BB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2" y="4965192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止まったら連絡をください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79992" y="5212079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「喋れませんか？」だけでOK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5852160"/>
            <a:ext cx="11201400" cy="731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31520" y="5989320"/>
            <a:ext cx="457200" cy="457200"/>
          </a:xfrm>
          <a:prstGeom prst="ellipse">
            <a:avLst/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  <a:ea typeface="Meiryo UI"/>
                <a:cs typeface="Meiryo UI"/>
              </a:rPr>
              <a:t>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71600" y="5852160"/>
            <a:ext cx="877824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3A5C"/>
                </a:solidFill>
                <a:latin typeface="Meiryo UI"/>
                <a:ea typeface="Meiryo UI"/>
                <a:cs typeface="Meiryo UI"/>
              </a:rPr>
              <a:t>十何年ぶりの、奥さんからのプレゼント。カエルのキーホルダー ＝「無事に帰る」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eiryo UI"/>
                <a:ea typeface="Meiryo UI"/>
                <a:cs typeface="Meiryo UI"/>
              </a:rPr>
              <a:t>一番いいときの、自信満々の北原さんに、周りを見る大人の目を足して ―― 帰っておいで。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92640" y="5852160"/>
            <a:ext cx="182880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2E6BA6"/>
                </a:solidFill>
                <a:latin typeface="Meiryo UI"/>
                <a:ea typeface="Meiryo UI"/>
                <a:cs typeface="Meiryo UI"/>
              </a:rPr>
              <a:t>髙橋 由香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
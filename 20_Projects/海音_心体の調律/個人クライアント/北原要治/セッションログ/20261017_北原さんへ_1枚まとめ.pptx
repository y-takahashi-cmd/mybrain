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北原 要治さんへ　｜　2026年10月17日のセッションから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「ずっと1、2年後」を、カレンダーに書いた日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31089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8A95A0"/>
                </a:solidFill>
                <a:latin typeface="Meiryo UI"/>
                <a:ea typeface="Meiryo UI"/>
                <a:cs typeface="Meiryo UI"/>
              </a:rPr>
              <a:t>お誕生日おめでとうございます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352044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99031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1　今日、言葉にできたこと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063240" cy="292608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063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予想していないことが起きる</a:t>
            </a:r>
          </a:p>
        </p:txBody>
      </p:sp>
      <p:sp>
        <p:nvSpPr>
          <p:cNvPr id="9" name="Down Arrow 8"/>
          <p:cNvSpPr/>
          <p:nvPr/>
        </p:nvSpPr>
        <p:spPr>
          <a:xfrm>
            <a:off x="2107691" y="2144268"/>
            <a:ext cx="219456" cy="109728"/>
          </a:xfrm>
          <a:prstGeom prst="downArrow">
            <a:avLst/>
          </a:prstGeom>
          <a:solidFill>
            <a:srgbClr val="8A9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76856"/>
            <a:ext cx="3063240" cy="292608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276856"/>
            <a:ext cx="3063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冷静さを失って、思考が止まる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07691" y="2592323"/>
            <a:ext cx="219456" cy="109728"/>
          </a:xfrm>
          <a:prstGeom prst="downArrow">
            <a:avLst/>
          </a:prstGeom>
          <a:solidFill>
            <a:srgbClr val="8A9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1"/>
            <a:ext cx="3063240" cy="292608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1"/>
            <a:ext cx="3063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「勝手にすりゃいい」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07691" y="3040379"/>
            <a:ext cx="219456" cy="109728"/>
          </a:xfrm>
          <a:prstGeom prst="downArrow">
            <a:avLst/>
          </a:prstGeom>
          <a:solidFill>
            <a:srgbClr val="8A9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172967"/>
            <a:ext cx="3063240" cy="292608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72967"/>
            <a:ext cx="3063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最後は全部、自分が尻ぬぐい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57015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だから、これからは ――</a:t>
            </a:r>
          </a:p>
        </p:txBody>
      </p:sp>
      <p:pic>
        <p:nvPicPr>
          <p:cNvPr id="19" name="Picture 18" descr="paus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4101083"/>
            <a:ext cx="1325880" cy="13258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1874519" y="3877055"/>
            <a:ext cx="1920239" cy="1773936"/>
          </a:xfrm>
          <a:prstGeom prst="roundRect">
            <a:avLst>
              <a:gd name="adj" fmla="val 8000"/>
            </a:avLst>
          </a:prstGeom>
          <a:solidFill>
            <a:srgbClr val="DC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4248" y="3877055"/>
            <a:ext cx="1737359" cy="1773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止まってOK。こう言えば十分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「どういうことですか？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　説明してもらえますか？」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「別の日に、もう一度</a:t>
            </a:r>
          </a:p>
          <a:p>
            <a:pPr algn="l">
              <a:spcAft>
                <a:spcPts val="200"/>
              </a:spcAft>
            </a:pPr>
            <a:r>
              <a:rPr sz="115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　話させてください」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1261872"/>
            <a:ext cx="4160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399031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2　塾のロードマップ</a:t>
            </a:r>
          </a:p>
        </p:txBody>
      </p:sp>
      <p:pic>
        <p:nvPicPr>
          <p:cNvPr id="24" name="Picture 23" descr="hero.png"/>
          <p:cNvPicPr>
            <a:picLocks noChangeAspect="1"/>
          </p:cNvPicPr>
          <p:nvPr/>
        </p:nvPicPr>
        <p:blipFill>
          <a:blip r:embed="rId3"/>
          <a:srcRect t="8776" b="16298"/>
          <a:stretch>
            <a:fillRect/>
          </a:stretch>
        </p:blipFill>
        <p:spPr>
          <a:xfrm>
            <a:off x="4297680" y="1810512"/>
            <a:ext cx="3794759" cy="16002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407408" y="19202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2028年9月 塾スタート！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456432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半年で三級整備士。「自信」を持てる場所を、地域の先輩たちと。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40680" y="3931919"/>
            <a:ext cx="0" cy="1572768"/>
          </a:xfrm>
          <a:prstGeom prst="line">
            <a:avLst/>
          </a:prstGeom>
          <a:ln w="31750">
            <a:solidFill>
              <a:srgbClr val="74B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367528" y="3858767"/>
            <a:ext cx="146304" cy="146304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3813047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年内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794759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プレハブの片付け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3986783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部品はヤフオクへ（もう始まっています）</a:t>
            </a:r>
          </a:p>
        </p:txBody>
      </p:sp>
      <p:sp>
        <p:nvSpPr>
          <p:cNvPr id="32" name="Oval 31"/>
          <p:cNvSpPr/>
          <p:nvPr/>
        </p:nvSpPr>
        <p:spPr>
          <a:xfrm>
            <a:off x="5367528" y="4251959"/>
            <a:ext cx="146304" cy="146304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4206239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2027年1月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4187951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教室の準備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379975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エアコン・長机・椅子・モニター・PC</a:t>
            </a:r>
          </a:p>
        </p:txBody>
      </p:sp>
      <p:sp>
        <p:nvSpPr>
          <p:cNvPr id="36" name="Oval 35"/>
          <p:cNvSpPr/>
          <p:nvPr/>
        </p:nvSpPr>
        <p:spPr>
          <a:xfrm>
            <a:off x="5367528" y="4645151"/>
            <a:ext cx="146304" cy="146304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1960" y="4599431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〜2028年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4581144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カリキュラム作り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4773168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講習 週2日＋北原自動車でOJT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4974336"/>
            <a:ext cx="2468879" cy="384048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330952" y="5001767"/>
            <a:ext cx="219456" cy="219456"/>
          </a:xfrm>
          <a:prstGeom prst="ellipse">
            <a:avLst/>
          </a:prstGeom>
          <a:solidFill>
            <a:srgbClr val="F0A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4992623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0AD00"/>
                </a:solidFill>
                <a:latin typeface="Meiryo UI"/>
                <a:ea typeface="Meiryo UI"/>
                <a:cs typeface="Meiryo UI"/>
              </a:rPr>
              <a:t>2028年9月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4974336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塾スタート！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5166359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3月は最繁忙期なので9月に</a:t>
            </a:r>
          </a:p>
        </p:txBody>
      </p:sp>
      <p:sp>
        <p:nvSpPr>
          <p:cNvPr id="45" name="Oval 44"/>
          <p:cNvSpPr/>
          <p:nvPr/>
        </p:nvSpPr>
        <p:spPr>
          <a:xfrm>
            <a:off x="5367528" y="5431535"/>
            <a:ext cx="146304" cy="146304"/>
          </a:xfrm>
          <a:prstGeom prst="ellipse">
            <a:avLst/>
          </a:prstGeom>
          <a:solidFill>
            <a:srgbClr val="74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5385815"/>
            <a:ext cx="10241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2030年ごろ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15000" y="5367527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北原さん60歳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5559551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赤いちゃんちゃんこ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1261872"/>
            <a:ext cx="3319272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41080" y="1399031"/>
            <a:ext cx="28620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3　明日からやること</a:t>
            </a:r>
          </a:p>
        </p:txBody>
      </p:sp>
      <p:pic>
        <p:nvPicPr>
          <p:cNvPr id="51" name="Picture 50" descr="morning.png"/>
          <p:cNvPicPr>
            <a:picLocks noChangeAspect="1"/>
          </p:cNvPicPr>
          <p:nvPr/>
        </p:nvPicPr>
        <p:blipFill>
          <a:blip r:embed="rId4"/>
          <a:srcRect t="8406" b="19613"/>
          <a:stretch>
            <a:fillRect/>
          </a:stretch>
        </p:blipFill>
        <p:spPr>
          <a:xfrm>
            <a:off x="8595359" y="1810512"/>
            <a:ext cx="2953512" cy="141732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8595359" y="3319272"/>
            <a:ext cx="2953512" cy="73152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19" y="3319272"/>
            <a:ext cx="2679191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毎朝 8:00〜8:15「考える15分」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いまYouTubeを見ている時間を使う</a:t>
            </a:r>
          </a:p>
        </p:txBody>
      </p:sp>
      <p:sp>
        <p:nvSpPr>
          <p:cNvPr id="54" name="Oval 53"/>
          <p:cNvSpPr/>
          <p:nvPr/>
        </p:nvSpPr>
        <p:spPr>
          <a:xfrm>
            <a:off x="8613648" y="4224528"/>
            <a:ext cx="274320" cy="274320"/>
          </a:xfrm>
          <a:prstGeom prst="ellipse">
            <a:avLst/>
          </a:prstGeom>
          <a:solidFill>
            <a:srgbClr val="5BB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79407" y="4178808"/>
            <a:ext cx="2587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裏紙のメモを写真でChatGPTへ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9407" y="4370832"/>
            <a:ext cx="25877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塾の叩き台をつくっていく</a:t>
            </a:r>
          </a:p>
        </p:txBody>
      </p:sp>
      <p:sp>
        <p:nvSpPr>
          <p:cNvPr id="57" name="Oval 56"/>
          <p:cNvSpPr/>
          <p:nvPr/>
        </p:nvSpPr>
        <p:spPr>
          <a:xfrm>
            <a:off x="8613648" y="4636008"/>
            <a:ext cx="274320" cy="274320"/>
          </a:xfrm>
          <a:prstGeom prst="ellipse">
            <a:avLst/>
          </a:prstGeom>
          <a:solidFill>
            <a:srgbClr val="5BB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79407" y="4590288"/>
            <a:ext cx="2587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カスタム指示を入れる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9407" y="4782312"/>
            <a:ext cx="25877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髙橋の設定をベースに</a:t>
            </a:r>
          </a:p>
        </p:txBody>
      </p:sp>
      <p:sp>
        <p:nvSpPr>
          <p:cNvPr id="60" name="Oval 59"/>
          <p:cNvSpPr/>
          <p:nvPr/>
        </p:nvSpPr>
        <p:spPr>
          <a:xfrm>
            <a:off x="8613648" y="5047488"/>
            <a:ext cx="274320" cy="274320"/>
          </a:xfrm>
          <a:prstGeom prst="ellipse">
            <a:avLst/>
          </a:prstGeom>
          <a:solidFill>
            <a:srgbClr val="5BB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79407" y="5001768"/>
            <a:ext cx="2587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社員さんの設定も確認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79407" y="5193792"/>
            <a:ext cx="25877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「モデルを改善する」オフ</a:t>
            </a:r>
          </a:p>
        </p:txBody>
      </p:sp>
      <p:sp>
        <p:nvSpPr>
          <p:cNvPr id="63" name="Oval 62"/>
          <p:cNvSpPr/>
          <p:nvPr/>
        </p:nvSpPr>
        <p:spPr>
          <a:xfrm>
            <a:off x="8613648" y="5458968"/>
            <a:ext cx="274320" cy="274320"/>
          </a:xfrm>
          <a:prstGeom prst="ellipse">
            <a:avLst/>
          </a:prstGeom>
          <a:solidFill>
            <a:srgbClr val="5BB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79407" y="5413248"/>
            <a:ext cx="258775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止まったら連絡をください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79407" y="5605272"/>
            <a:ext cx="25877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「喋れませんか？」だけでOK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5961888"/>
            <a:ext cx="11274552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frog_c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0080" y="5989320"/>
            <a:ext cx="64008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426464" y="5961888"/>
            <a:ext cx="85039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A3A5C"/>
                </a:solidFill>
                <a:latin typeface="Meiryo UI"/>
                <a:ea typeface="Meiryo UI"/>
                <a:cs typeface="Meiryo UI"/>
              </a:rPr>
              <a:t>十何年ぶりの、奥さんからのプレゼント。カエルのキーホルダー ＝「無事に帰る」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4A4A4A"/>
                </a:solidFill>
                <a:latin typeface="Meiryo UI"/>
                <a:ea typeface="Meiryo UI"/>
                <a:cs typeface="Meiryo UI"/>
              </a:rPr>
              <a:t>一番いいときの、自信満々の北原さんに、周りを見る大人の目を足して ―― 帰っておいで。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5961888"/>
            <a:ext cx="18288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2E6BA6"/>
                </a:solidFill>
                <a:latin typeface="Meiryo UI"/>
                <a:ea typeface="Meiryo UI"/>
                <a:cs typeface="Meiryo UI"/>
              </a:rPr>
              <a:t>髙橋 由香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
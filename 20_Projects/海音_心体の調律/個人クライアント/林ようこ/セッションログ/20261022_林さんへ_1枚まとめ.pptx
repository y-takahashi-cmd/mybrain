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6BA6"/>
                </a:solidFill>
                <a:latin typeface="Meiryo UI"/>
              </a:rPr>
              <a:t>林 ようこさんへ　｜　2026年10月22日のセッションから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A3A5C"/>
                </a:solidFill>
                <a:latin typeface="Meiryo UI"/>
              </a:rPr>
              <a:t>「引き受ける」をおろして、自分の人生へ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743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A95A0"/>
                </a:solidFill>
                <a:latin typeface="Meiryo UI"/>
              </a:rPr>
              <a:t>引っ越し前の、片付けの季節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3611880" cy="45537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39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3A5C"/>
                </a:solidFill>
                <a:latin typeface="Meiryo UI"/>
              </a:rPr>
              <a:t>1　腎臓の数字を、いま止める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6537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5A0"/>
                </a:solidFill>
                <a:latin typeface="Meiryo UI"/>
              </a:rPr>
              <a:t>eGFR（腎臓のろ過の力）の流れ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19" y="2609088"/>
            <a:ext cx="3017520" cy="0"/>
          </a:xfrm>
          <a:prstGeom prst="line">
            <a:avLst/>
          </a:prstGeom>
          <a:ln w="19050">
            <a:solidFill>
              <a:srgbClr val="F0AD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199" y="23896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F0AD00"/>
                </a:solidFill>
                <a:latin typeface="Meiryo UI"/>
              </a:rPr>
              <a:t>めやす 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7999" y="2329180"/>
            <a:ext cx="332841" cy="1163828"/>
          </a:xfrm>
          <a:prstGeom prst="rect">
            <a:avLst/>
          </a:prstGeom>
          <a:solidFill>
            <a:srgbClr val="74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" y="2384044"/>
            <a:ext cx="60716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 UI"/>
              </a:rPr>
              <a:t>89.5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119" y="3529584"/>
            <a:ext cx="69860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8A95A0"/>
                </a:solidFill>
                <a:latin typeface="Meiryo UI"/>
              </a:rPr>
              <a:t>2019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2359" y="2723997"/>
            <a:ext cx="332841" cy="769010"/>
          </a:xfrm>
          <a:prstGeom prst="rect">
            <a:avLst/>
          </a:prstGeom>
          <a:solidFill>
            <a:srgbClr val="74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65199" y="2778861"/>
            <a:ext cx="60716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 UI"/>
              </a:rPr>
              <a:t>76.1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9479" y="3529584"/>
            <a:ext cx="69860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8A95A0"/>
                </a:solidFill>
                <a:latin typeface="Meiryo UI"/>
              </a:rPr>
              <a:t>2022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96719" y="2726944"/>
            <a:ext cx="332841" cy="766063"/>
          </a:xfrm>
          <a:prstGeom prst="rect">
            <a:avLst/>
          </a:prstGeom>
          <a:solidFill>
            <a:srgbClr val="74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59559" y="2781808"/>
            <a:ext cx="60716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 UI"/>
              </a:rPr>
              <a:t>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3839" y="3529584"/>
            <a:ext cx="69860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8A95A0"/>
                </a:solidFill>
                <a:latin typeface="Meiryo UI"/>
              </a:rPr>
              <a:t>26年2月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1079" y="2800604"/>
            <a:ext cx="332841" cy="692404"/>
          </a:xfrm>
          <a:prstGeom prst="rect">
            <a:avLst/>
          </a:prstGeom>
          <a:solidFill>
            <a:srgbClr val="74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53919" y="2855468"/>
            <a:ext cx="60716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 UI"/>
              </a:rPr>
              <a:t>73.5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8199" y="3529584"/>
            <a:ext cx="69860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8A95A0"/>
                </a:solidFill>
                <a:latin typeface="Meiryo UI"/>
              </a:rPr>
              <a:t>26年6月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85439" y="3021584"/>
            <a:ext cx="332841" cy="471424"/>
          </a:xfrm>
          <a:prstGeom prst="rect">
            <a:avLst/>
          </a:prstGeom>
          <a:solidFill>
            <a:srgbClr val="2E6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8279" y="3076448"/>
            <a:ext cx="60716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 UI"/>
              </a:rPr>
              <a:t>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2559" y="3529584"/>
            <a:ext cx="69860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8A95A0"/>
                </a:solidFill>
                <a:latin typeface="Meiryo UI"/>
              </a:rPr>
              <a:t>今回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8561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6BA6"/>
                </a:solidFill>
                <a:latin typeface="Meiryo UI"/>
              </a:rPr>
              <a:t>今年に入って下がり続けている → 原因を見つけて、まず止める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4133087"/>
            <a:ext cx="274320" cy="274320"/>
          </a:xfrm>
          <a:prstGeom prst="ellipse">
            <a:avLst/>
          </a:prstGeom>
          <a:solidFill>
            <a:srgbClr val="5B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09651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3A5C"/>
                </a:solidFill>
                <a:latin typeface="Meiryo UI"/>
              </a:rPr>
              <a:t>プロテインを2か月お休み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Meiryo UI"/>
              </a:rPr>
              <a:t>サプリもいったんお休み（手が伸びない物は今いらない）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4553712"/>
            <a:ext cx="274320" cy="274320"/>
          </a:xfrm>
          <a:prstGeom prst="ellipse">
            <a:avLst/>
          </a:prstGeom>
          <a:solidFill>
            <a:srgbClr val="5B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51713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3A5C"/>
                </a:solidFill>
                <a:latin typeface="Meiryo UI"/>
              </a:rPr>
              <a:t>水分は1日2リットル前後をキープ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Meiryo UI"/>
              </a:rPr>
              <a:t>今のままでOK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4974336"/>
            <a:ext cx="274320" cy="274320"/>
          </a:xfrm>
          <a:prstGeom prst="ellipse">
            <a:avLst/>
          </a:prstGeom>
          <a:solidFill>
            <a:srgbClr val="5B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9377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3A5C"/>
                </a:solidFill>
                <a:latin typeface="Meiryo UI"/>
              </a:rPr>
              <a:t>11月ごろ、もう一度採血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Meiryo UI"/>
              </a:rPr>
              <a:t>1年分を並べて見る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" y="5394959"/>
            <a:ext cx="274320" cy="274320"/>
          </a:xfrm>
          <a:prstGeom prst="ellipse">
            <a:avLst/>
          </a:prstGeom>
          <a:solidFill>
            <a:srgbClr val="5B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5358384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3A5C"/>
                </a:solidFill>
                <a:latin typeface="Meiryo UI"/>
              </a:rPr>
              <a:t>次の受診で先生に聞く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Meiryo UI"/>
              </a:rPr>
              <a:t>「eGFRが下がってきている。漢方も含めて影響はない？」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24528" y="1298448"/>
            <a:ext cx="3794760" cy="45537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1463039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3A5C"/>
                </a:solidFill>
                <a:latin typeface="Meiryo UI"/>
              </a:rPr>
              <a:t>2　毎日のセルフケア</a:t>
            </a:r>
          </a:p>
        </p:txBody>
      </p:sp>
      <p:pic>
        <p:nvPicPr>
          <p:cNvPr id="36" name="Picture 35" descr="i0.png"/>
          <p:cNvPicPr>
            <a:picLocks noChangeAspect="1"/>
          </p:cNvPicPr>
          <p:nvPr/>
        </p:nvPicPr>
        <p:blipFill>
          <a:blip r:embed="rId2"/>
          <a:srcRect l="1667" r="1667"/>
          <a:stretch>
            <a:fillRect/>
          </a:stretch>
        </p:blipFill>
        <p:spPr>
          <a:xfrm>
            <a:off x="4453128" y="1865376"/>
            <a:ext cx="1325880" cy="91440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870448" y="1865376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61888" y="1901952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3A5C"/>
                </a:solidFill>
                <a:latin typeface="Meiryo UI"/>
              </a:rPr>
              <a:t>なでなでマッサージ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グーでやさしく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お腹：縦10回・横10回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ウエスト：縦10回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背中：縦10回・横10回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3128" y="2816352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6BA6"/>
                </a:solidFill>
                <a:latin typeface="Meiryo UI"/>
              </a:rPr>
              <a:t>体に「ありがとう」と言いながら。気づいた時に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53128" y="3127248"/>
            <a:ext cx="3337560" cy="205740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08576" y="32004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3A5C"/>
                </a:solidFill>
                <a:latin typeface="Meiryo UI"/>
              </a:rPr>
              <a:t>タマラのリチャージ　3パターン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8576" y="3493008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深呼吸3回 → 宇宙の中心で黄金のタマラを集める →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頭からつま先まで満たして → 地球の中心へ流す</a:t>
            </a:r>
          </a:p>
        </p:txBody>
      </p:sp>
      <p:sp>
        <p:nvSpPr>
          <p:cNvPr id="43" name="Oval 42"/>
          <p:cNvSpPr/>
          <p:nvPr/>
        </p:nvSpPr>
        <p:spPr>
          <a:xfrm>
            <a:off x="4608576" y="3977640"/>
            <a:ext cx="256032" cy="256032"/>
          </a:xfrm>
          <a:prstGeom prst="ellipse">
            <a:avLst/>
          </a:prstGeom>
          <a:solidFill>
            <a:srgbClr val="F0A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56048" y="395020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A3A5C"/>
                </a:solidFill>
                <a:latin typeface="Meiryo UI"/>
              </a:rPr>
              <a:t>体を浄化する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お腹にたまった「もじゃもじゃ」を流す</a:t>
            </a:r>
          </a:p>
        </p:txBody>
      </p:sp>
      <p:sp>
        <p:nvSpPr>
          <p:cNvPr id="45" name="Oval 44"/>
          <p:cNvSpPr/>
          <p:nvPr/>
        </p:nvSpPr>
        <p:spPr>
          <a:xfrm>
            <a:off x="4608576" y="4379976"/>
            <a:ext cx="256032" cy="256032"/>
          </a:xfrm>
          <a:prstGeom prst="ellipse">
            <a:avLst/>
          </a:prstGeom>
          <a:solidFill>
            <a:srgbClr val="F0A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435254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A3A5C"/>
                </a:solidFill>
                <a:latin typeface="Meiryo UI"/>
              </a:rPr>
              <a:t>腎臓の負担になっている感情を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洗い流す</a:t>
            </a:r>
          </a:p>
        </p:txBody>
      </p:sp>
      <p:sp>
        <p:nvSpPr>
          <p:cNvPr id="47" name="Oval 46"/>
          <p:cNvSpPr/>
          <p:nvPr/>
        </p:nvSpPr>
        <p:spPr>
          <a:xfrm>
            <a:off x="4608576" y="4782312"/>
            <a:ext cx="256032" cy="256032"/>
          </a:xfrm>
          <a:prstGeom prst="ellipse">
            <a:avLst/>
          </a:prstGeom>
          <a:solidFill>
            <a:srgbClr val="F0A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56048" y="475488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A3A5C"/>
                </a:solidFill>
                <a:latin typeface="Meiryo UI"/>
              </a:rPr>
              <a:t>肺に滞っている感情を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洗い流す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53128" y="53035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3A5C"/>
                </a:solidFill>
                <a:latin typeface="Meiryo UI"/>
              </a:rPr>
              <a:t>コーヒーで吐き気＝アクセル全開のサイン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休む時は仕事を考えない。アクセルを一回はなす練習を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74736" y="1298448"/>
            <a:ext cx="3566160" cy="45537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03336" y="14630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3A5C"/>
                </a:solidFill>
                <a:latin typeface="Meiryo UI"/>
              </a:rPr>
              <a:t>3　これからの道</a:t>
            </a:r>
          </a:p>
        </p:txBody>
      </p:sp>
      <p:pic>
        <p:nvPicPr>
          <p:cNvPr id="52" name="Picture 51" descr="i1.png"/>
          <p:cNvPicPr>
            <a:picLocks noChangeAspect="1"/>
          </p:cNvPicPr>
          <p:nvPr/>
        </p:nvPicPr>
        <p:blipFill>
          <a:blip r:embed="rId3"/>
          <a:srcRect t="21324" b="21324"/>
          <a:stretch>
            <a:fillRect/>
          </a:stretch>
        </p:blipFill>
        <p:spPr>
          <a:xfrm>
            <a:off x="8403336" y="1892807"/>
            <a:ext cx="3108960" cy="118872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8403336" y="3200400"/>
            <a:ext cx="3108960" cy="603504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0496" y="3246120"/>
            <a:ext cx="28346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3A5C"/>
                </a:solidFill>
                <a:latin typeface="Meiryo UI"/>
              </a:rPr>
              <a:t>人の不調は、引き取らない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A4A"/>
                </a:solidFill>
                <a:latin typeface="Meiryo UI"/>
              </a:rPr>
              <a:t>自分を満たして、あふれた分だけ分ける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253728" y="4078224"/>
            <a:ext cx="0" cy="1371600"/>
          </a:xfrm>
          <a:prstGeom prst="line">
            <a:avLst/>
          </a:prstGeom>
          <a:ln w="38100">
            <a:solidFill>
              <a:srgbClr val="74B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357615" y="396849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2E6BA6"/>
                </a:solidFill>
                <a:latin typeface="Meiryo UI"/>
              </a:rPr>
              <a:t>1〜2か月</a:t>
            </a:r>
          </a:p>
        </p:txBody>
      </p:sp>
      <p:sp>
        <p:nvSpPr>
          <p:cNvPr id="57" name="Oval 56"/>
          <p:cNvSpPr/>
          <p:nvPr/>
        </p:nvSpPr>
        <p:spPr>
          <a:xfrm>
            <a:off x="9162288" y="4023359"/>
            <a:ext cx="182880" cy="182880"/>
          </a:xfrm>
          <a:prstGeom prst="ellipse">
            <a:avLst/>
          </a:prstGeom>
          <a:solidFill>
            <a:srgbClr val="74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54896" y="395020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3A5C"/>
                </a:solidFill>
                <a:latin typeface="Meiryo UI"/>
              </a:rPr>
              <a:t>セールスと判断をスタッフへ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30%できればOK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57615" y="457200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2E6BA6"/>
                </a:solidFill>
                <a:latin typeface="Meiryo UI"/>
              </a:rPr>
              <a:t>その間に</a:t>
            </a:r>
          </a:p>
        </p:txBody>
      </p:sp>
      <p:sp>
        <p:nvSpPr>
          <p:cNvPr id="60" name="Oval 59"/>
          <p:cNvSpPr/>
          <p:nvPr/>
        </p:nvSpPr>
        <p:spPr>
          <a:xfrm>
            <a:off x="9162288" y="4626864"/>
            <a:ext cx="182880" cy="182880"/>
          </a:xfrm>
          <a:prstGeom prst="ellipse">
            <a:avLst/>
          </a:prstGeom>
          <a:solidFill>
            <a:srgbClr val="74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54896" y="455371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3A5C"/>
                </a:solidFill>
                <a:latin typeface="Meiryo UI"/>
              </a:rPr>
              <a:t>体を整える＋リセット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申込時「腎機能が徐々に低下」と書く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57615" y="5175504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F0AD00"/>
                </a:solidFill>
                <a:latin typeface="Meiryo UI"/>
              </a:rPr>
              <a:t>春</a:t>
            </a:r>
          </a:p>
        </p:txBody>
      </p:sp>
      <p:sp>
        <p:nvSpPr>
          <p:cNvPr id="63" name="Oval 62"/>
          <p:cNvSpPr/>
          <p:nvPr/>
        </p:nvSpPr>
        <p:spPr>
          <a:xfrm>
            <a:off x="9144000" y="5230368"/>
            <a:ext cx="219456" cy="219456"/>
          </a:xfrm>
          <a:prstGeom prst="ellipse">
            <a:avLst/>
          </a:prstGeom>
          <a:solidFill>
            <a:srgbClr val="F0A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54896" y="5157216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3A5C"/>
                </a:solidFill>
                <a:latin typeface="Meiryo UI"/>
              </a:rPr>
              <a:t>会社から抜けて、パーソナルへ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20歳の頃の夢とひとつになった道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5989320"/>
            <a:ext cx="11283696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2.png"/>
          <p:cNvPicPr>
            <a:picLocks noChangeAspect="1"/>
          </p:cNvPicPr>
          <p:nvPr/>
        </p:nvPicPr>
        <p:blipFill>
          <a:blip r:embed="rId4"/>
          <a:srcRect t="806" b="806"/>
          <a:stretch>
            <a:fillRect/>
          </a:stretch>
        </p:blipFill>
        <p:spPr>
          <a:xfrm>
            <a:off x="566928" y="6053328"/>
            <a:ext cx="850392" cy="55778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600200" y="6080759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3A5C"/>
                </a:solidFill>
                <a:latin typeface="Meiryo UI"/>
              </a:rPr>
              <a:t>いまは新しい家に移る前の、片付けの時間。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4A4A4A"/>
                </a:solidFill>
                <a:latin typeface="Meiryo UI"/>
              </a:rPr>
              <a:t>「やりたい」が大きくなれば、体は自然と追いついてくる。　まず、数字の下り坂を止めるところから。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66960" y="615391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2E6BA6"/>
                </a:solidFill>
                <a:latin typeface="Meiryo UI"/>
              </a:rPr>
              <a:t>髙橋 由香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
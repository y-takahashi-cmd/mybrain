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E6BA6"/>
                </a:solidFill>
                <a:latin typeface="Meiryo UI"/>
              </a:rPr>
              <a:t>林 ようこさんへ　｜　2026年10月22日のセッションから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9601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A3A5C"/>
                </a:solidFill>
                <a:latin typeface="Meiryo UI"/>
              </a:rPr>
              <a:t>「引き受ける」をおろして、自分の人生へ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274320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>
                <a:solidFill>
                  <a:srgbClr val="8A95A0"/>
                </a:solidFill>
                <a:latin typeface="Meiryo UI"/>
              </a:rPr>
              <a:t>引っ越し前の、片付けの季節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98448"/>
            <a:ext cx="3611880" cy="45537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39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3A5C"/>
                </a:solidFill>
                <a:latin typeface="Meiryo UI"/>
              </a:rPr>
              <a:t>1　腎臓の数字を、いま止める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65376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A95A0"/>
                </a:solidFill>
                <a:latin typeface="Meiryo UI"/>
              </a:rPr>
              <a:t>eGFR（腎臓のろ過の力）の流れ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1519" y="2609088"/>
            <a:ext cx="3017520" cy="0"/>
          </a:xfrm>
          <a:prstGeom prst="line">
            <a:avLst/>
          </a:prstGeom>
          <a:ln w="19050">
            <a:solidFill>
              <a:srgbClr val="F0AD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199" y="23896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F0AD00"/>
                </a:solidFill>
                <a:latin typeface="Meiryo UI"/>
              </a:rPr>
              <a:t>めやす 80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7999" y="2329180"/>
            <a:ext cx="332841" cy="1163828"/>
          </a:xfrm>
          <a:prstGeom prst="rect">
            <a:avLst/>
          </a:prstGeom>
          <a:solidFill>
            <a:srgbClr val="74B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0839" y="2384044"/>
            <a:ext cx="60716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eiryo UI"/>
              </a:rPr>
              <a:t>89.5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5119" y="3529584"/>
            <a:ext cx="69860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8A95A0"/>
                </a:solidFill>
                <a:latin typeface="Meiryo UI"/>
              </a:rPr>
              <a:t>2019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502359" y="2723997"/>
            <a:ext cx="332841" cy="769010"/>
          </a:xfrm>
          <a:prstGeom prst="rect">
            <a:avLst/>
          </a:prstGeom>
          <a:solidFill>
            <a:srgbClr val="74B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65199" y="2778861"/>
            <a:ext cx="60716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eiryo UI"/>
              </a:rPr>
              <a:t>76.1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19479" y="3529584"/>
            <a:ext cx="69860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8A95A0"/>
                </a:solidFill>
                <a:latin typeface="Meiryo UI"/>
              </a:rPr>
              <a:t>2022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96719" y="2726944"/>
            <a:ext cx="332841" cy="766063"/>
          </a:xfrm>
          <a:prstGeom prst="rect">
            <a:avLst/>
          </a:prstGeom>
          <a:solidFill>
            <a:srgbClr val="74B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59559" y="2781808"/>
            <a:ext cx="60716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eiryo UI"/>
              </a:rPr>
              <a:t>76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13839" y="3529584"/>
            <a:ext cx="69860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8A95A0"/>
                </a:solidFill>
                <a:latin typeface="Meiryo UI"/>
              </a:rPr>
              <a:t>26年2月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91079" y="2800604"/>
            <a:ext cx="332841" cy="692404"/>
          </a:xfrm>
          <a:prstGeom prst="rect">
            <a:avLst/>
          </a:prstGeom>
          <a:solidFill>
            <a:srgbClr val="74B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53919" y="2855468"/>
            <a:ext cx="60716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eiryo UI"/>
              </a:rPr>
              <a:t>73.5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08199" y="3529584"/>
            <a:ext cx="69860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8A95A0"/>
                </a:solidFill>
                <a:latin typeface="Meiryo UI"/>
              </a:rPr>
              <a:t>26年6月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85439" y="3021584"/>
            <a:ext cx="332841" cy="471424"/>
          </a:xfrm>
          <a:prstGeom prst="rect">
            <a:avLst/>
          </a:prstGeom>
          <a:solidFill>
            <a:srgbClr val="2E6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48279" y="3076448"/>
            <a:ext cx="60716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eiryo UI"/>
              </a:rPr>
              <a:t>66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2559" y="3529584"/>
            <a:ext cx="69860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8A95A0"/>
                </a:solidFill>
                <a:latin typeface="Meiryo UI"/>
              </a:rPr>
              <a:t>今回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3785616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E6BA6"/>
                </a:solidFill>
                <a:latin typeface="Meiryo UI"/>
              </a:rPr>
              <a:t>今年に入って下がり続けている → 原因を見つけて、まず止める</a:t>
            </a:r>
          </a:p>
        </p:txBody>
      </p:sp>
      <p:sp>
        <p:nvSpPr>
          <p:cNvPr id="26" name="Oval 25"/>
          <p:cNvSpPr/>
          <p:nvPr/>
        </p:nvSpPr>
        <p:spPr>
          <a:xfrm>
            <a:off x="685800" y="4133087"/>
            <a:ext cx="274320" cy="274320"/>
          </a:xfrm>
          <a:prstGeom prst="ellipse">
            <a:avLst/>
          </a:prstGeom>
          <a:solidFill>
            <a:srgbClr val="5BC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4096512"/>
            <a:ext cx="2834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3A5C"/>
                </a:solidFill>
                <a:latin typeface="Meiryo UI"/>
              </a:rPr>
              <a:t>プロテインを2か月お休み</a:t>
            </a:r>
          </a:p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Meiryo UI"/>
              </a:rPr>
              <a:t>サプリもいったんお休み（手が伸びない物は今いらない）</a:t>
            </a:r>
          </a:p>
        </p:txBody>
      </p:sp>
      <p:sp>
        <p:nvSpPr>
          <p:cNvPr id="28" name="Oval 27"/>
          <p:cNvSpPr/>
          <p:nvPr/>
        </p:nvSpPr>
        <p:spPr>
          <a:xfrm>
            <a:off x="685800" y="4553712"/>
            <a:ext cx="274320" cy="274320"/>
          </a:xfrm>
          <a:prstGeom prst="ellipse">
            <a:avLst/>
          </a:prstGeom>
          <a:solidFill>
            <a:srgbClr val="5BC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" y="4517136"/>
            <a:ext cx="2834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3A5C"/>
                </a:solidFill>
                <a:latin typeface="Meiryo UI"/>
              </a:rPr>
              <a:t>水分は1日2リットル前後をキープ</a:t>
            </a:r>
          </a:p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Meiryo UI"/>
              </a:rPr>
              <a:t>今のままでOK</a:t>
            </a:r>
          </a:p>
        </p:txBody>
      </p:sp>
      <p:sp>
        <p:nvSpPr>
          <p:cNvPr id="30" name="Oval 29"/>
          <p:cNvSpPr/>
          <p:nvPr/>
        </p:nvSpPr>
        <p:spPr>
          <a:xfrm>
            <a:off x="685800" y="4974336"/>
            <a:ext cx="274320" cy="274320"/>
          </a:xfrm>
          <a:prstGeom prst="ellipse">
            <a:avLst/>
          </a:prstGeom>
          <a:solidFill>
            <a:srgbClr val="5BC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" y="4937760"/>
            <a:ext cx="2834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3A5C"/>
                </a:solidFill>
                <a:latin typeface="Meiryo UI"/>
              </a:rPr>
              <a:t>11月ごろ、もう一度採血</a:t>
            </a:r>
          </a:p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Meiryo UI"/>
              </a:rPr>
              <a:t>1年分を並べて見る</a:t>
            </a:r>
          </a:p>
        </p:txBody>
      </p:sp>
      <p:sp>
        <p:nvSpPr>
          <p:cNvPr id="32" name="Oval 31"/>
          <p:cNvSpPr/>
          <p:nvPr/>
        </p:nvSpPr>
        <p:spPr>
          <a:xfrm>
            <a:off x="685800" y="5394959"/>
            <a:ext cx="274320" cy="274320"/>
          </a:xfrm>
          <a:prstGeom prst="ellipse">
            <a:avLst/>
          </a:prstGeom>
          <a:solidFill>
            <a:srgbClr val="5BC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992" y="5358384"/>
            <a:ext cx="2834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3A5C"/>
                </a:solidFill>
                <a:latin typeface="Meiryo UI"/>
              </a:rPr>
              <a:t>次の受診で先生に聞く</a:t>
            </a:r>
          </a:p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Meiryo UI"/>
              </a:rPr>
              <a:t>「eGFRが下がってきている。漢方も含めて影響はない？」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24528" y="1298448"/>
            <a:ext cx="3794760" cy="45537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53128" y="1463039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3A5C"/>
                </a:solidFill>
                <a:latin typeface="Meiryo UI"/>
              </a:rPr>
              <a:t>2　毎日のセルフケア</a:t>
            </a:r>
          </a:p>
        </p:txBody>
      </p:sp>
      <p:pic>
        <p:nvPicPr>
          <p:cNvPr id="36" name="Picture 35" descr="i0.png"/>
          <p:cNvPicPr>
            <a:picLocks noChangeAspect="1"/>
          </p:cNvPicPr>
          <p:nvPr/>
        </p:nvPicPr>
        <p:blipFill>
          <a:blip r:embed="rId2"/>
          <a:srcRect t="14041" b="14041"/>
          <a:stretch>
            <a:fillRect/>
          </a:stretch>
        </p:blipFill>
        <p:spPr>
          <a:xfrm>
            <a:off x="4453128" y="1892807"/>
            <a:ext cx="3337560" cy="160020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4453128" y="3584448"/>
            <a:ext cx="3337560" cy="1097280"/>
          </a:xfrm>
          <a:prstGeom prst="roundRect">
            <a:avLst>
              <a:gd name="adj" fmla="val 8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08576" y="3694176"/>
            <a:ext cx="3063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A3A5C"/>
                </a:solidFill>
                <a:latin typeface="Meiryo UI"/>
              </a:rPr>
              <a:t>お腹と背中の「なでなでマッサージ」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4A4A4A"/>
                </a:solidFill>
                <a:latin typeface="Meiryo UI"/>
              </a:rPr>
              <a:t>グーでやさしく  お腹：縦10回・横10回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4A4A4A"/>
                </a:solidFill>
                <a:latin typeface="Meiryo UI"/>
              </a:rPr>
              <a:t>ウエスト：縦10回 ／ 背中：縦10回・横10回</a:t>
            </a:r>
          </a:p>
          <a:p>
            <a:pPr algn="l">
              <a:lnSpc>
                <a:spcPct val="125000"/>
              </a:lnSpc>
            </a:pPr>
            <a:r>
              <a:rPr sz="1000" b="1">
                <a:solidFill>
                  <a:srgbClr val="2E6BA6"/>
                </a:solidFill>
                <a:latin typeface="Meiryo UI"/>
              </a:rPr>
              <a:t>体に「ありがとう」と言いながら。気づいた時に</a:t>
            </a:r>
          </a:p>
        </p:txBody>
      </p:sp>
      <p:pic>
        <p:nvPicPr>
          <p:cNvPr id="39" name="Picture 38" descr="i3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453128" y="4882896"/>
            <a:ext cx="1234440" cy="82296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5824728" y="4864608"/>
            <a:ext cx="1965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3A5C"/>
                </a:solidFill>
                <a:latin typeface="Meiryo UI"/>
              </a:rPr>
              <a:t>コーヒーで吐き気＝</a:t>
            </a:r>
          </a:p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3A5C"/>
                </a:solidFill>
                <a:latin typeface="Meiryo UI"/>
              </a:rPr>
              <a:t>アクセル全開のサイン</a:t>
            </a:r>
          </a:p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Meiryo UI"/>
              </a:rPr>
              <a:t>休む時は仕事を考えない。アクセルを一回はなす練習を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74736" y="1298448"/>
            <a:ext cx="3566160" cy="45537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03336" y="1463039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3A5C"/>
                </a:solidFill>
                <a:latin typeface="Meiryo UI"/>
              </a:rPr>
              <a:t>3　これからの道</a:t>
            </a:r>
          </a:p>
        </p:txBody>
      </p:sp>
      <p:pic>
        <p:nvPicPr>
          <p:cNvPr id="43" name="Picture 42" descr="i1.png"/>
          <p:cNvPicPr>
            <a:picLocks noChangeAspect="1"/>
          </p:cNvPicPr>
          <p:nvPr/>
        </p:nvPicPr>
        <p:blipFill>
          <a:blip r:embed="rId4"/>
          <a:srcRect t="21324" b="21324"/>
          <a:stretch>
            <a:fillRect/>
          </a:stretch>
        </p:blipFill>
        <p:spPr>
          <a:xfrm>
            <a:off x="8403336" y="1892807"/>
            <a:ext cx="3108960" cy="1188720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8403336" y="3200400"/>
            <a:ext cx="3108960" cy="603504"/>
          </a:xfrm>
          <a:prstGeom prst="roundRect">
            <a:avLst>
              <a:gd name="adj" fmla="val 10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40496" y="3246120"/>
            <a:ext cx="2834639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A3A5C"/>
                </a:solidFill>
                <a:latin typeface="Meiryo UI"/>
              </a:rPr>
              <a:t>人の不調は、引き取らない</a:t>
            </a:r>
          </a:p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A4A"/>
                </a:solidFill>
                <a:latin typeface="Meiryo UI"/>
              </a:rPr>
              <a:t>自分を満たして、あふれた分だけ分ける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9253728" y="4078224"/>
            <a:ext cx="0" cy="1371600"/>
          </a:xfrm>
          <a:prstGeom prst="line">
            <a:avLst/>
          </a:prstGeom>
          <a:ln w="38100">
            <a:solidFill>
              <a:srgbClr val="74B2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357615" y="3968496"/>
            <a:ext cx="7498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2E6BA6"/>
                </a:solidFill>
                <a:latin typeface="Meiryo UI"/>
              </a:rPr>
              <a:t>1〜2か月</a:t>
            </a:r>
          </a:p>
        </p:txBody>
      </p:sp>
      <p:sp>
        <p:nvSpPr>
          <p:cNvPr id="48" name="Oval 47"/>
          <p:cNvSpPr/>
          <p:nvPr/>
        </p:nvSpPr>
        <p:spPr>
          <a:xfrm>
            <a:off x="9162288" y="4023359"/>
            <a:ext cx="182880" cy="182880"/>
          </a:xfrm>
          <a:prstGeom prst="ellipse">
            <a:avLst/>
          </a:prstGeom>
          <a:solidFill>
            <a:srgbClr val="74B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454896" y="3950208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3A5C"/>
                </a:solidFill>
                <a:latin typeface="Meiryo UI"/>
              </a:rPr>
              <a:t>セールスと判断をスタッフへ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4A4A4A"/>
                </a:solidFill>
                <a:latin typeface="Meiryo UI"/>
              </a:rPr>
              <a:t>30%できればOK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57615" y="4572000"/>
            <a:ext cx="7498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2E6BA6"/>
                </a:solidFill>
                <a:latin typeface="Meiryo UI"/>
              </a:rPr>
              <a:t>その間に</a:t>
            </a:r>
          </a:p>
        </p:txBody>
      </p:sp>
      <p:sp>
        <p:nvSpPr>
          <p:cNvPr id="51" name="Oval 50"/>
          <p:cNvSpPr/>
          <p:nvPr/>
        </p:nvSpPr>
        <p:spPr>
          <a:xfrm>
            <a:off x="9162288" y="4626864"/>
            <a:ext cx="182880" cy="182880"/>
          </a:xfrm>
          <a:prstGeom prst="ellipse">
            <a:avLst/>
          </a:prstGeom>
          <a:solidFill>
            <a:srgbClr val="74B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454896" y="4553712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3A5C"/>
                </a:solidFill>
                <a:latin typeface="Meiryo UI"/>
              </a:rPr>
              <a:t>体を整える＋リセット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4A4A4A"/>
                </a:solidFill>
                <a:latin typeface="Meiryo UI"/>
              </a:rPr>
              <a:t>申込時「腎機能が徐々に低下」と書く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57615" y="5175504"/>
            <a:ext cx="7498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F0AD00"/>
                </a:solidFill>
                <a:latin typeface="Meiryo UI"/>
              </a:rPr>
              <a:t>春</a:t>
            </a:r>
          </a:p>
        </p:txBody>
      </p:sp>
      <p:sp>
        <p:nvSpPr>
          <p:cNvPr id="54" name="Oval 53"/>
          <p:cNvSpPr/>
          <p:nvPr/>
        </p:nvSpPr>
        <p:spPr>
          <a:xfrm>
            <a:off x="9144000" y="5230368"/>
            <a:ext cx="219456" cy="219456"/>
          </a:xfrm>
          <a:prstGeom prst="ellipse">
            <a:avLst/>
          </a:prstGeom>
          <a:solidFill>
            <a:srgbClr val="F0A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454896" y="5157216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3A5C"/>
                </a:solidFill>
                <a:latin typeface="Meiryo UI"/>
              </a:rPr>
              <a:t>会社から抜けて、パーソナルへ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4A4A4A"/>
                </a:solidFill>
                <a:latin typeface="Meiryo UI"/>
              </a:rPr>
              <a:t>20歳の頃の夢とひとつになった道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57200" y="5989320"/>
            <a:ext cx="11283696" cy="685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i2.png"/>
          <p:cNvPicPr>
            <a:picLocks noChangeAspect="1"/>
          </p:cNvPicPr>
          <p:nvPr/>
        </p:nvPicPr>
        <p:blipFill>
          <a:blip r:embed="rId5"/>
          <a:srcRect t="806" b="806"/>
          <a:stretch>
            <a:fillRect/>
          </a:stretch>
        </p:blipFill>
        <p:spPr>
          <a:xfrm>
            <a:off x="566928" y="6053328"/>
            <a:ext cx="850392" cy="557784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600200" y="6080759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3A5C"/>
                </a:solidFill>
                <a:latin typeface="Meiryo UI"/>
              </a:rPr>
              <a:t>いまは新しい家に移る前の、片付けの時間。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4A4A4A"/>
                </a:solidFill>
                <a:latin typeface="Meiryo UI"/>
              </a:rPr>
              <a:t>「やりたい」が大きくなれば、体は自然と追いついてくる。　まず、数字の下り坂を止めるところから。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966960" y="6153912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2E6BA6"/>
                </a:solidFill>
                <a:latin typeface="Meiryo UI"/>
              </a:rPr>
              <a:t>髙橋 由香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
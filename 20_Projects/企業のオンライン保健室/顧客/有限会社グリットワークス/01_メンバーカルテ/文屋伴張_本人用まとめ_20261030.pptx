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E6DA4"/>
                </a:solidFill>
                <a:latin typeface="Yu Gothic UI"/>
              </a:rPr>
              <a:t>文ちゃんへ　｜　2026年10月30日 受診のあとに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6B7280"/>
                </a:solidFill>
                <a:latin typeface="Yu Gothic UI"/>
              </a:rPr>
              <a:t>診断：適応障害　お薬なし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338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F3A5F"/>
                </a:solidFill>
                <a:latin typeface="Yu Gothic UI"/>
              </a:rPr>
              <a:t>今は、休むことが治療です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36118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A5F"/>
                </a:solidFill>
                <a:latin typeface="Yu Gothic UI"/>
              </a:rPr>
              <a:t>1　今日わかったこと</a:t>
            </a:r>
          </a:p>
        </p:txBody>
      </p:sp>
      <p:pic>
        <p:nvPicPr>
          <p:cNvPr id="7" name="Picture 6" descr="img1.png"/>
          <p:cNvPicPr>
            <a:picLocks noChangeAspect="1"/>
          </p:cNvPicPr>
          <p:nvPr/>
        </p:nvPicPr>
        <p:blipFill>
          <a:blip r:embed="rId2"/>
          <a:srcRect t="12661" b="12661"/>
          <a:stretch>
            <a:fillRect/>
          </a:stretch>
        </p:blipFill>
        <p:spPr>
          <a:xfrm>
            <a:off x="685800" y="2121408"/>
            <a:ext cx="315468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538728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Yu Gothic UI"/>
              </a:rPr>
              <a:t>先生の言葉</a:t>
            </a:r>
          </a:p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Yu Gothic UI"/>
              </a:rPr>
              <a:t>「まずは、お薬なしで</a:t>
            </a:r>
          </a:p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Yu Gothic UI"/>
              </a:rPr>
              <a:t>　休んでみよう」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07408"/>
            <a:ext cx="3154680" cy="1207008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7280"/>
                </a:solidFill>
                <a:latin typeface="Yu Gothic UI"/>
              </a:rPr>
              <a:t>次の受診</a:t>
            </a: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1F3A5F"/>
                </a:solidFill>
                <a:latin typeface="Yu Gothic UI"/>
              </a:rPr>
              <a:t>11/6（金）18:15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1F3A5F"/>
                </a:solidFill>
                <a:latin typeface="Yu Gothic UI"/>
              </a:rPr>
              <a:t>大泉学園の11/5は、まだそのまま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Yu Gothic UI"/>
              </a:rPr>
              <a:t>（診断書の返事を待ってから決める）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81328"/>
            <a:ext cx="3749039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A5F"/>
                </a:solidFill>
                <a:latin typeface="Yu Gothic UI"/>
              </a:rPr>
              <a:t>2　この1週間の過ごし方</a:t>
            </a:r>
          </a:p>
        </p:txBody>
      </p:sp>
      <p:pic>
        <p:nvPicPr>
          <p:cNvPr id="13" name="Picture 12" descr="img2.png"/>
          <p:cNvPicPr>
            <a:picLocks noChangeAspect="1"/>
          </p:cNvPicPr>
          <p:nvPr/>
        </p:nvPicPr>
        <p:blipFill>
          <a:blip r:embed="rId3"/>
          <a:srcRect t="17918" b="17918"/>
          <a:stretch>
            <a:fillRect/>
          </a:stretch>
        </p:blipFill>
        <p:spPr>
          <a:xfrm>
            <a:off x="4480560" y="2121408"/>
            <a:ext cx="3291839" cy="11887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80560" y="3401568"/>
            <a:ext cx="3291839" cy="2212848"/>
          </a:xfrm>
          <a:prstGeom prst="roundRect">
            <a:avLst>
              <a:gd name="adj" fmla="val 6000"/>
            </a:avLst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493008"/>
            <a:ext cx="3017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2E6DA4"/>
                </a:solidFill>
                <a:latin typeface="Yu Gothic UI"/>
              </a:rPr>
              <a:t>起きる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3A5F"/>
                </a:solidFill>
                <a:latin typeface="Yu Gothic UI"/>
              </a:rPr>
              <a:t>　毎朝同じ時間に（昼夜逆転しない）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2E6DA4"/>
                </a:solidFill>
                <a:latin typeface="Yu Gothic UI"/>
              </a:rPr>
              <a:t>動く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3A5F"/>
                </a:solidFill>
                <a:latin typeface="Yu Gothic UI"/>
              </a:rPr>
              <a:t>　散歩や軽い運動を、しんどくない分だけ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2E6DA4"/>
                </a:solidFill>
                <a:latin typeface="Yu Gothic UI"/>
              </a:rPr>
              <a:t>お風呂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3A5F"/>
                </a:solidFill>
                <a:latin typeface="Yu Gothic UI"/>
              </a:rPr>
              <a:t>　シャワーでなく湯船に。音楽をかけて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2E6DA4"/>
                </a:solidFill>
                <a:latin typeface="Yu Gothic UI"/>
              </a:rPr>
              <a:t>食べる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3A5F"/>
                </a:solidFill>
                <a:latin typeface="Yu Gothic UI"/>
              </a:rPr>
              <a:t>　お粥・うどん・お味噌汁（1日1杯）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2E6DA4"/>
                </a:solidFill>
                <a:latin typeface="Yu Gothic UI"/>
              </a:rPr>
              <a:t>夕ご飯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F3A5F"/>
                </a:solidFill>
                <a:latin typeface="Yu Gothic UI"/>
              </a:rPr>
              <a:t>　20時までに（寝る前は胃に負担）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81328"/>
            <a:ext cx="354787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A5F"/>
                </a:solidFill>
                <a:latin typeface="Yu Gothic UI"/>
              </a:rPr>
              <a:t>3　次にやること</a:t>
            </a:r>
          </a:p>
        </p:txBody>
      </p:sp>
      <p:pic>
        <p:nvPicPr>
          <p:cNvPr id="18" name="Picture 17" descr="img3.png"/>
          <p:cNvPicPr>
            <a:picLocks noChangeAspect="1"/>
          </p:cNvPicPr>
          <p:nvPr/>
        </p:nvPicPr>
        <p:blipFill>
          <a:blip r:embed="rId4"/>
          <a:srcRect t="15830" b="15830"/>
          <a:stretch>
            <a:fillRect/>
          </a:stretch>
        </p:blipFill>
        <p:spPr>
          <a:xfrm>
            <a:off x="8412480" y="2121408"/>
            <a:ext cx="3090672" cy="118872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8412480" y="3447288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3419856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診断書がいつ出るか、返事を待つ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11/3までに来なければ髙橋と一緒に考える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4032504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4005072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返事が来たら会社へ報告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診断書の日付・傷病手当金の書類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0" y="4617720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4590288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受診メモを作って先生に見せる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10/29から休み／診断書／傷病手当金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0" y="5202936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5175503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11/6 18:45〜 髙橋とZoom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受診の報告と、気持ちの整理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16168"/>
            <a:ext cx="11274552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g4.png"/>
          <p:cNvPicPr>
            <a:picLocks noChangeAspect="1"/>
          </p:cNvPicPr>
          <p:nvPr/>
        </p:nvPicPr>
        <p:blipFill>
          <a:blip r:embed="rId5"/>
          <a:srcRect l="9037" r="9037"/>
          <a:stretch>
            <a:fillRect/>
          </a:stretch>
        </p:blipFill>
        <p:spPr>
          <a:xfrm>
            <a:off x="566928" y="5989320"/>
            <a:ext cx="1051560" cy="7223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783080" y="5980176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Yu Gothic UI"/>
              </a:rPr>
              <a:t>モヤモヤは声に出して自分の耳で聞く。しんどい日は「今日はもう終わり」と自分に言う。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37360" y="6373368"/>
            <a:ext cx="8001000" cy="338328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6373368"/>
            <a:ext cx="80010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E6DA4"/>
                </a:solidFill>
                <a:latin typeface="Yu Gothic UI"/>
              </a:rPr>
              <a:t>どうしてもつらい時は髙橋へ電話／夜は よりそいホットライン 0120-279-338（24時間）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5961888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>
                <a:solidFill>
                  <a:srgbClr val="2E6DA4"/>
                </a:solidFill>
                <a:latin typeface="Yu Gothic UI"/>
              </a:rPr>
              <a:t>髙橋 由香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6400800"/>
            <a:ext cx="1600200" cy="292608"/>
          </a:xfrm>
          <a:prstGeom prst="roundRect">
            <a:avLst>
              <a:gd name="adj" fmla="val 20000"/>
            </a:avLst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640080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F3A5F"/>
                </a:solidFill>
                <a:latin typeface="Yu Gothic UI"/>
              </a:rPr>
              <a:t>次回：11/6（金）18:45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
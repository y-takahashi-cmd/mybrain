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3276000" cy="198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76000" cy="19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76000" cy="558000"/>
          </a:xfrm>
          <a:prstGeom prst="rect">
            <a:avLst/>
          </a:prstGeom>
          <a:solidFill>
            <a:srgbClr val="F5C5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5999" y="43200"/>
            <a:ext cx="1980000" cy="10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50" b="0">
                <a:solidFill>
                  <a:srgbClr val="1F3A5F"/>
                </a:solidFill>
                <a:latin typeface="游ゴシック"/>
              </a:rPr>
              <a:t>企業のオンライン保健室　はたらくトリセツ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5999" y="151200"/>
            <a:ext cx="2268000" cy="27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700" b="1">
                <a:solidFill>
                  <a:srgbClr val="1F3A5F"/>
                </a:solidFill>
                <a:latin typeface="游ゴシック"/>
              </a:rPr>
              <a:t>杉山 耕一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5999" y="406799"/>
            <a:ext cx="2268000" cy="10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50" b="0">
                <a:solidFill>
                  <a:srgbClr val="1F3A5F"/>
                </a:solidFill>
                <a:latin typeface="游ゴシック"/>
              </a:rPr>
              <a:t>パワーカラー 黄：底抜けの明るさ・ムードメーカー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502000" y="79200"/>
            <a:ext cx="648000" cy="3960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502000" y="90000"/>
            <a:ext cx="648000" cy="10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777777"/>
                </a:solidFill>
                <a:latin typeface="游ゴシック"/>
              </a:rPr>
              <a:t>心のエンジン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02000" y="180000"/>
            <a:ext cx="648000" cy="19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>
                <a:solidFill>
                  <a:srgbClr val="9A7400"/>
                </a:solidFill>
                <a:latin typeface="游ゴシック"/>
              </a:rPr>
              <a:t>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02000" y="367200"/>
            <a:ext cx="648000" cy="9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450" b="0">
                <a:solidFill>
                  <a:srgbClr val="777777"/>
                </a:solidFill>
                <a:latin typeface="游ゴシック"/>
              </a:rPr>
              <a:t>新しいこと好き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5999" y="594000"/>
            <a:ext cx="1188000" cy="10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00" b="1">
                <a:solidFill>
                  <a:srgbClr val="777777"/>
                </a:solidFill>
                <a:latin typeface="游ゴシック"/>
              </a:rPr>
              <a:t>利き脳タイプ（未判定）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25999" y="702000"/>
            <a:ext cx="558000" cy="342000"/>
          </a:xfrm>
          <a:prstGeom prst="roundRect">
            <a:avLst/>
          </a:prstGeom>
          <a:solidFill>
            <a:srgbClr val="EE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5999" y="730799"/>
            <a:ext cx="558000" cy="18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50" b="0">
                <a:solidFill>
                  <a:srgbClr val="777777"/>
                </a:solidFill>
                <a:latin typeface="游ゴシック"/>
              </a:rPr>
              <a:t>切りひらく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5999" y="900000"/>
            <a:ext cx="558000" cy="10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50" b="0">
                <a:solidFill>
                  <a:srgbClr val="777777"/>
                </a:solidFill>
                <a:latin typeface="游ゴシック"/>
              </a:rPr>
              <a:t>の人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12800" y="702000"/>
            <a:ext cx="558000" cy="342000"/>
          </a:xfrm>
          <a:prstGeom prst="roundRect">
            <a:avLst/>
          </a:prstGeom>
          <a:solidFill>
            <a:srgbClr val="EE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2800" y="730799"/>
            <a:ext cx="558000" cy="18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50" b="0">
                <a:solidFill>
                  <a:srgbClr val="777777"/>
                </a:solidFill>
                <a:latin typeface="游ゴシック"/>
              </a:rPr>
              <a:t>組み立てる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2800" y="900000"/>
            <a:ext cx="558000" cy="10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50" b="0">
                <a:solidFill>
                  <a:srgbClr val="777777"/>
                </a:solidFill>
                <a:latin typeface="游ゴシック"/>
              </a:rPr>
              <a:t>の人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25999" y="1072800"/>
            <a:ext cx="558000" cy="342000"/>
          </a:xfrm>
          <a:prstGeom prst="roundRect">
            <a:avLst/>
          </a:prstGeom>
          <a:solidFill>
            <a:srgbClr val="EE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25999" y="1101600"/>
            <a:ext cx="558000" cy="18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50" b="0">
                <a:solidFill>
                  <a:srgbClr val="777777"/>
                </a:solidFill>
                <a:latin typeface="游ゴシック"/>
              </a:rPr>
              <a:t>支える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5999" y="1270800"/>
            <a:ext cx="558000" cy="10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50" b="0">
                <a:solidFill>
                  <a:srgbClr val="777777"/>
                </a:solidFill>
                <a:latin typeface="游ゴシック"/>
              </a:rPr>
              <a:t>の人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12800" y="1072800"/>
            <a:ext cx="558000" cy="342000"/>
          </a:xfrm>
          <a:prstGeom prst="roundRect">
            <a:avLst/>
          </a:prstGeom>
          <a:solidFill>
            <a:srgbClr val="EE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2800" y="1101600"/>
            <a:ext cx="558000" cy="18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50" b="0">
                <a:solidFill>
                  <a:srgbClr val="777777"/>
                </a:solidFill>
                <a:latin typeface="游ゴシック"/>
              </a:rPr>
              <a:t>つなぐ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2800" y="1270800"/>
            <a:ext cx="558000" cy="10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50" b="0">
                <a:solidFill>
                  <a:srgbClr val="777777"/>
                </a:solidFill>
                <a:latin typeface="游ゴシック"/>
              </a:rPr>
              <a:t>の人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86000" y="594000"/>
            <a:ext cx="1764000" cy="12599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00" b="1">
                <a:solidFill>
                  <a:srgbClr val="777777"/>
                </a:solidFill>
                <a:latin typeface="游ゴシック"/>
              </a:rPr>
              <a:t>動き出し方（アクティビティレベル）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386000" y="745200"/>
            <a:ext cx="1764000" cy="50400"/>
          </a:xfrm>
          <a:prstGeom prst="roundRect">
            <a:avLst/>
          </a:prstGeom>
          <a:solidFill>
            <a:srgbClr val="EE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1386000" y="745200"/>
            <a:ext cx="1335022" cy="50400"/>
          </a:xfrm>
          <a:prstGeom prst="roundRect">
            <a:avLst/>
          </a:prstGeom>
          <a:solidFill>
            <a:srgbClr val="F5C5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2667022" y="716399"/>
            <a:ext cx="108000" cy="108000"/>
          </a:xfrm>
          <a:prstGeom prst="ellipse">
            <a:avLst/>
          </a:prstGeom>
          <a:solidFill>
            <a:srgbClr val="9A7400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386000" y="817200"/>
            <a:ext cx="882000" cy="10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50" b="0">
                <a:solidFill>
                  <a:srgbClr val="777777"/>
                </a:solidFill>
                <a:latin typeface="游ゴシック"/>
              </a:rPr>
              <a:t>じっくり考えて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268000" y="817200"/>
            <a:ext cx="882000" cy="10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550" b="0">
                <a:solidFill>
                  <a:srgbClr val="777777"/>
                </a:solidFill>
                <a:latin typeface="游ゴシック"/>
              </a:rPr>
              <a:t>まず体が動く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86000" y="917999"/>
            <a:ext cx="1764000" cy="10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00" b="1">
                <a:solidFill>
                  <a:srgbClr val="1F3A5F"/>
                </a:solidFill>
                <a:latin typeface="游ゴシック"/>
              </a:rPr>
              <a:t>体験＋衝動型：まず体が動く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86000" y="1044000"/>
            <a:ext cx="1764000" cy="12599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00" b="1">
                <a:solidFill>
                  <a:srgbClr val="777777"/>
                </a:solidFill>
                <a:latin typeface="游ゴシック"/>
              </a:rPr>
              <a:t>伝わり方（シンキングパターン 57）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386000" y="1195200"/>
            <a:ext cx="1764000" cy="50400"/>
          </a:xfrm>
          <a:prstGeom prst="roundRect">
            <a:avLst/>
          </a:prstGeom>
          <a:solidFill>
            <a:srgbClr val="EE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1386000" y="1195200"/>
            <a:ext cx="922090" cy="50400"/>
          </a:xfrm>
          <a:prstGeom prst="roundRect">
            <a:avLst/>
          </a:prstGeom>
          <a:solidFill>
            <a:srgbClr val="F5C5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2254090" y="1166400"/>
            <a:ext cx="108000" cy="108000"/>
          </a:xfrm>
          <a:prstGeom prst="ellipse">
            <a:avLst/>
          </a:prstGeom>
          <a:solidFill>
            <a:srgbClr val="9A7400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386000" y="1267200"/>
            <a:ext cx="882000" cy="10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50" b="0">
                <a:solidFill>
                  <a:srgbClr val="777777"/>
                </a:solidFill>
                <a:latin typeface="游ゴシック"/>
              </a:rPr>
              <a:t>気持ち・感動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268000" y="1267200"/>
            <a:ext cx="882000" cy="10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550" b="0">
                <a:solidFill>
                  <a:srgbClr val="777777"/>
                </a:solidFill>
                <a:latin typeface="游ゴシック"/>
              </a:rPr>
              <a:t>理屈・データ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386000" y="1368000"/>
            <a:ext cx="1764000" cy="10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00" b="1">
                <a:solidFill>
                  <a:srgbClr val="1F3A5F"/>
                </a:solidFill>
                <a:latin typeface="游ゴシック"/>
              </a:rPr>
              <a:t>両方：気持ちも理屈も使える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25999" y="1512000"/>
            <a:ext cx="3024000" cy="342000"/>
          </a:xfrm>
          <a:prstGeom prst="round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98000" y="1530000"/>
            <a:ext cx="576000" cy="30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50" b="1">
                <a:solidFill>
                  <a:srgbClr val="9A7400"/>
                </a:solidFill>
                <a:latin typeface="游ゴシック"/>
              </a:rPr>
              <a:t>わたしへの</a:t>
            </a:r>
          </a:p>
          <a:p>
            <a:pPr algn="l"/>
            <a:r>
              <a:rPr sz="550" b="1">
                <a:solidFill>
                  <a:srgbClr val="9A7400"/>
                </a:solidFill>
                <a:latin typeface="游ゴシック"/>
              </a:rPr>
              <a:t>ひとこと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20000" y="1530000"/>
            <a:ext cx="2015999" cy="30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00" b="1">
                <a:solidFill>
                  <a:srgbClr val="1F3A5F"/>
                </a:solidFill>
                <a:latin typeface="游ゴシック"/>
              </a:rPr>
              <a:t>まずやってみよう！が合言葉。</a:t>
            </a:r>
          </a:p>
          <a:p>
            <a:pPr algn="l"/>
            <a:r>
              <a:rPr sz="700" b="1">
                <a:solidFill>
                  <a:srgbClr val="1F3A5F"/>
                </a:solidFill>
                <a:latin typeface="游ゴシック"/>
              </a:rPr>
              <a:t>新しいアイデア、どんどん持ってきてください！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700000" y="1548000"/>
            <a:ext cx="413999" cy="27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50" b="1">
                <a:solidFill>
                  <a:srgbClr val="9A7400"/>
                </a:solidFill>
                <a:latin typeface="游ゴシック"/>
              </a:rPr>
              <a:t>Lucky</a:t>
            </a:r>
          </a:p>
          <a:p>
            <a:pPr algn="ctr"/>
            <a:r>
              <a:rPr sz="650" b="1">
                <a:solidFill>
                  <a:srgbClr val="9A7400"/>
                </a:solidFill>
                <a:latin typeface="游ゴシック"/>
              </a:rPr>
              <a:t>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76000" cy="19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76000" cy="558000"/>
          </a:xfrm>
          <a:prstGeom prst="rect">
            <a:avLst/>
          </a:prstGeom>
          <a:solidFill>
            <a:srgbClr val="3A86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5999" y="43200"/>
            <a:ext cx="1980000" cy="10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50" b="0">
                <a:solidFill>
                  <a:srgbClr val="FFFFFF"/>
                </a:solidFill>
                <a:latin typeface="游ゴシック"/>
              </a:rPr>
              <a:t>企業のオンライン保健室　はたらくトリセツ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5999" y="151200"/>
            <a:ext cx="2268000" cy="27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游ゴシック"/>
              </a:rPr>
              <a:t>中尾 玲沙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5999" y="406799"/>
            <a:ext cx="2268000" cy="10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50" b="0">
                <a:solidFill>
                  <a:srgbClr val="FFFFFF"/>
                </a:solidFill>
                <a:latin typeface="游ゴシック"/>
              </a:rPr>
              <a:t>パワーカラー 青：動じない雰囲気・クールに見える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502000" y="79200"/>
            <a:ext cx="648000" cy="3960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502000" y="90000"/>
            <a:ext cx="648000" cy="10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777777"/>
                </a:solidFill>
                <a:latin typeface="游ゴシック"/>
              </a:rPr>
              <a:t>心のエンジン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02000" y="180000"/>
            <a:ext cx="648000" cy="19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>
                <a:solidFill>
                  <a:srgbClr val="1F5A8F"/>
                </a:solidFill>
                <a:latin typeface="游ゴシック"/>
              </a:rPr>
              <a:t>陽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02000" y="367200"/>
            <a:ext cx="648000" cy="9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450" b="0">
                <a:solidFill>
                  <a:srgbClr val="777777"/>
                </a:solidFill>
                <a:latin typeface="游ゴシック"/>
              </a:rPr>
              <a:t>まじめ・誠実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5999" y="594000"/>
            <a:ext cx="1188000" cy="10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00" b="1">
                <a:solidFill>
                  <a:srgbClr val="777777"/>
                </a:solidFill>
                <a:latin typeface="游ゴシック"/>
              </a:rPr>
              <a:t>利き脳タイプ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25999" y="702000"/>
            <a:ext cx="558000" cy="342000"/>
          </a:xfrm>
          <a:prstGeom prst="roundRect">
            <a:avLst/>
          </a:prstGeom>
          <a:solidFill>
            <a:srgbClr val="EE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5999" y="730799"/>
            <a:ext cx="558000" cy="18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50" b="0">
                <a:solidFill>
                  <a:srgbClr val="777777"/>
                </a:solidFill>
                <a:latin typeface="游ゴシック"/>
              </a:rPr>
              <a:t>切りひらく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5999" y="900000"/>
            <a:ext cx="558000" cy="10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50" b="0">
                <a:solidFill>
                  <a:srgbClr val="777777"/>
                </a:solidFill>
                <a:latin typeface="游ゴシック"/>
              </a:rPr>
              <a:t>の人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12800" y="702000"/>
            <a:ext cx="558000" cy="342000"/>
          </a:xfrm>
          <a:prstGeom prst="roundRect">
            <a:avLst/>
          </a:prstGeom>
          <a:solidFill>
            <a:srgbClr val="EE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2800" y="730799"/>
            <a:ext cx="558000" cy="18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50" b="0">
                <a:solidFill>
                  <a:srgbClr val="777777"/>
                </a:solidFill>
                <a:latin typeface="游ゴシック"/>
              </a:rPr>
              <a:t>組み立てる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2800" y="900000"/>
            <a:ext cx="558000" cy="10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50" b="0">
                <a:solidFill>
                  <a:srgbClr val="777777"/>
                </a:solidFill>
                <a:latin typeface="游ゴシック"/>
              </a:rPr>
              <a:t>の人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25999" y="1072800"/>
            <a:ext cx="558000" cy="342000"/>
          </a:xfrm>
          <a:prstGeom prst="roundRect">
            <a:avLst/>
          </a:prstGeom>
          <a:solidFill>
            <a:srgbClr val="EE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25999" y="1101600"/>
            <a:ext cx="558000" cy="18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50" b="0">
                <a:solidFill>
                  <a:srgbClr val="777777"/>
                </a:solidFill>
                <a:latin typeface="游ゴシック"/>
              </a:rPr>
              <a:t>支える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5999" y="1270800"/>
            <a:ext cx="558000" cy="10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50" b="0">
                <a:solidFill>
                  <a:srgbClr val="777777"/>
                </a:solidFill>
                <a:latin typeface="游ゴシック"/>
              </a:rPr>
              <a:t>の人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12800" y="1072800"/>
            <a:ext cx="558000" cy="342000"/>
          </a:xfrm>
          <a:prstGeom prst="roundRect">
            <a:avLst/>
          </a:prstGeom>
          <a:solidFill>
            <a:srgbClr val="C25B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2800" y="1101600"/>
            <a:ext cx="558000" cy="18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  <a:latin typeface="游ゴシック"/>
              </a:rPr>
              <a:t>つなぐ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2800" y="1270800"/>
            <a:ext cx="558000" cy="10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50" b="1">
                <a:solidFill>
                  <a:srgbClr val="FFFFFF"/>
                </a:solidFill>
                <a:latin typeface="游ゴシック"/>
              </a:rPr>
              <a:t>の人 ★あなた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86000" y="594000"/>
            <a:ext cx="1764000" cy="12599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00" b="1">
                <a:solidFill>
                  <a:srgbClr val="777777"/>
                </a:solidFill>
                <a:latin typeface="游ゴシック"/>
              </a:rPr>
              <a:t>動き出し方（アクティビティレベル）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386000" y="745200"/>
            <a:ext cx="1764000" cy="50400"/>
          </a:xfrm>
          <a:prstGeom prst="roundRect">
            <a:avLst/>
          </a:prstGeom>
          <a:solidFill>
            <a:srgbClr val="EE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1386000" y="745200"/>
            <a:ext cx="640746" cy="50400"/>
          </a:xfrm>
          <a:prstGeom prst="roundRect">
            <a:avLst/>
          </a:prstGeom>
          <a:solidFill>
            <a:srgbClr val="3A86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972746" y="716399"/>
            <a:ext cx="108000" cy="108000"/>
          </a:xfrm>
          <a:prstGeom prst="ellipse">
            <a:avLst/>
          </a:prstGeom>
          <a:solidFill>
            <a:srgbClr val="1F5A8F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386000" y="817200"/>
            <a:ext cx="882000" cy="10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50" b="0">
                <a:solidFill>
                  <a:srgbClr val="777777"/>
                </a:solidFill>
                <a:latin typeface="游ゴシック"/>
              </a:rPr>
              <a:t>じっくり考えて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268000" y="817200"/>
            <a:ext cx="882000" cy="10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550" b="0">
                <a:solidFill>
                  <a:srgbClr val="777777"/>
                </a:solidFill>
                <a:latin typeface="游ゴシック"/>
              </a:rPr>
              <a:t>まず体が動く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86000" y="917999"/>
            <a:ext cx="1764000" cy="10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00" b="1">
                <a:solidFill>
                  <a:srgbClr val="1F3A5F"/>
                </a:solidFill>
                <a:latin typeface="游ゴシック"/>
              </a:rPr>
              <a:t>直感型：人より少し早く動き出す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86000" y="1044000"/>
            <a:ext cx="1764000" cy="12599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00" b="1">
                <a:solidFill>
                  <a:srgbClr val="777777"/>
                </a:solidFill>
                <a:latin typeface="游ゴシック"/>
              </a:rPr>
              <a:t>伝わり方（シンキングパターン 86）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386000" y="1195200"/>
            <a:ext cx="1764000" cy="50400"/>
          </a:xfrm>
          <a:prstGeom prst="roundRect">
            <a:avLst/>
          </a:prstGeom>
          <a:solidFill>
            <a:srgbClr val="EE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1386000" y="1195200"/>
            <a:ext cx="1503409" cy="50400"/>
          </a:xfrm>
          <a:prstGeom prst="roundRect">
            <a:avLst/>
          </a:prstGeom>
          <a:solidFill>
            <a:srgbClr val="3A86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2835409" y="1166400"/>
            <a:ext cx="108000" cy="108000"/>
          </a:xfrm>
          <a:prstGeom prst="ellipse">
            <a:avLst/>
          </a:prstGeom>
          <a:solidFill>
            <a:srgbClr val="1F5A8F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386000" y="1267200"/>
            <a:ext cx="882000" cy="10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50" b="0">
                <a:solidFill>
                  <a:srgbClr val="777777"/>
                </a:solidFill>
                <a:latin typeface="游ゴシック"/>
              </a:rPr>
              <a:t>気持ち・感動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268000" y="1267200"/>
            <a:ext cx="882000" cy="10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550" b="0">
                <a:solidFill>
                  <a:srgbClr val="777777"/>
                </a:solidFill>
                <a:latin typeface="游ゴシック"/>
              </a:rPr>
              <a:t>理屈・データ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386000" y="1368000"/>
            <a:ext cx="1764000" cy="10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00" b="1">
                <a:solidFill>
                  <a:srgbClr val="1F3A5F"/>
                </a:solidFill>
                <a:latin typeface="游ゴシック"/>
              </a:rPr>
              <a:t>ロジカル：理屈・データで受け取る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25999" y="1512000"/>
            <a:ext cx="3024000" cy="342000"/>
          </a:xfrm>
          <a:prstGeom prst="round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98000" y="1530000"/>
            <a:ext cx="576000" cy="30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50" b="1">
                <a:solidFill>
                  <a:srgbClr val="1F5A8F"/>
                </a:solidFill>
                <a:latin typeface="游ゴシック"/>
              </a:rPr>
              <a:t>わたしへの</a:t>
            </a:r>
          </a:p>
          <a:p>
            <a:pPr algn="l"/>
            <a:r>
              <a:rPr sz="550" b="1">
                <a:solidFill>
                  <a:srgbClr val="1F5A8F"/>
                </a:solidFill>
                <a:latin typeface="游ゴシック"/>
              </a:rPr>
              <a:t>ひとこと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20000" y="1530000"/>
            <a:ext cx="2015999" cy="30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00" b="1">
                <a:solidFill>
                  <a:srgbClr val="1F3A5F"/>
                </a:solidFill>
                <a:latin typeface="游ゴシック"/>
              </a:rPr>
              <a:t>結論と理由をはっきり伝えてください。</a:t>
            </a:r>
          </a:p>
          <a:p>
            <a:pPr algn="l"/>
            <a:r>
              <a:rPr sz="700" b="1">
                <a:solidFill>
                  <a:srgbClr val="1F3A5F"/>
                </a:solidFill>
                <a:latin typeface="游ゴシック"/>
              </a:rPr>
              <a:t>みんなで進めると力が出ます！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700000" y="1548000"/>
            <a:ext cx="413999" cy="27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50" b="1">
                <a:solidFill>
                  <a:srgbClr val="1F5A8F"/>
                </a:solidFill>
                <a:latin typeface="游ゴシック"/>
              </a:rPr>
              <a:t>Lucky</a:t>
            </a:r>
          </a:p>
          <a:p>
            <a:pPr algn="ctr"/>
            <a:r>
              <a:rPr sz="650" b="1">
                <a:solidFill>
                  <a:srgbClr val="1F5A8F"/>
                </a:solidFill>
                <a:latin typeface="游ゴシック"/>
              </a:rPr>
              <a:t>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76000" cy="19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76000" cy="558000"/>
          </a:xfrm>
          <a:prstGeom prst="rect">
            <a:avLst/>
          </a:prstGeom>
          <a:solidFill>
            <a:srgbClr val="EEF0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5999" y="43200"/>
            <a:ext cx="1980000" cy="10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50" b="0">
                <a:solidFill>
                  <a:srgbClr val="1F3A5F"/>
                </a:solidFill>
                <a:latin typeface="游ゴシック"/>
              </a:rPr>
              <a:t>企業のオンライン保健室　はたらくトリセツ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5999" y="151200"/>
            <a:ext cx="2268000" cy="27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700" b="1">
                <a:solidFill>
                  <a:srgbClr val="1F3A5F"/>
                </a:solidFill>
                <a:latin typeface="游ゴシック"/>
              </a:rPr>
              <a:t>佐々木 麻衣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5999" y="406799"/>
            <a:ext cx="2268000" cy="10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50" b="0">
                <a:solidFill>
                  <a:srgbClr val="1F3A5F"/>
                </a:solidFill>
                <a:latin typeface="游ゴシック"/>
              </a:rPr>
              <a:t>パワーカラー 白：優しい雰囲気・安心感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502000" y="79200"/>
            <a:ext cx="648000" cy="396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EEE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502000" y="90000"/>
            <a:ext cx="648000" cy="10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777777"/>
                </a:solidFill>
                <a:latin typeface="游ゴシック"/>
              </a:rPr>
              <a:t>心のエンジン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02000" y="180000"/>
            <a:ext cx="648000" cy="19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>
                <a:solidFill>
                  <a:srgbClr val="556070"/>
                </a:solidFill>
                <a:latin typeface="游ゴシック"/>
              </a:rPr>
              <a:t>宙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02000" y="367200"/>
            <a:ext cx="648000" cy="9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450" b="0">
                <a:solidFill>
                  <a:srgbClr val="777777"/>
                </a:solidFill>
                <a:latin typeface="游ゴシック"/>
              </a:rPr>
              <a:t>決めたらぶれない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5999" y="594000"/>
            <a:ext cx="1188000" cy="10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00" b="1">
                <a:solidFill>
                  <a:srgbClr val="777777"/>
                </a:solidFill>
                <a:latin typeface="游ゴシック"/>
              </a:rPr>
              <a:t>利き脳タイプ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25999" y="702000"/>
            <a:ext cx="558000" cy="342000"/>
          </a:xfrm>
          <a:prstGeom prst="roundRect">
            <a:avLst/>
          </a:prstGeom>
          <a:solidFill>
            <a:srgbClr val="EE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5999" y="730799"/>
            <a:ext cx="558000" cy="18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50" b="0">
                <a:solidFill>
                  <a:srgbClr val="777777"/>
                </a:solidFill>
                <a:latin typeface="游ゴシック"/>
              </a:rPr>
              <a:t>切りひらく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5999" y="900000"/>
            <a:ext cx="558000" cy="10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50" b="0">
                <a:solidFill>
                  <a:srgbClr val="777777"/>
                </a:solidFill>
                <a:latin typeface="游ゴシック"/>
              </a:rPr>
              <a:t>の人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12800" y="702000"/>
            <a:ext cx="558000" cy="342000"/>
          </a:xfrm>
          <a:prstGeom prst="roundRect">
            <a:avLst/>
          </a:prstGeom>
          <a:solidFill>
            <a:srgbClr val="EE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2800" y="730799"/>
            <a:ext cx="558000" cy="18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50" b="0">
                <a:solidFill>
                  <a:srgbClr val="777777"/>
                </a:solidFill>
                <a:latin typeface="游ゴシック"/>
              </a:rPr>
              <a:t>組み立てる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2800" y="900000"/>
            <a:ext cx="558000" cy="10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50" b="0">
                <a:solidFill>
                  <a:srgbClr val="777777"/>
                </a:solidFill>
                <a:latin typeface="游ゴシック"/>
              </a:rPr>
              <a:t>の人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25999" y="1072800"/>
            <a:ext cx="558000" cy="342000"/>
          </a:xfrm>
          <a:prstGeom prst="roundRect">
            <a:avLst/>
          </a:prstGeom>
          <a:solidFill>
            <a:srgbClr val="EE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25999" y="1101600"/>
            <a:ext cx="558000" cy="18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50" b="0">
                <a:solidFill>
                  <a:srgbClr val="777777"/>
                </a:solidFill>
                <a:latin typeface="游ゴシック"/>
              </a:rPr>
              <a:t>支える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5999" y="1270800"/>
            <a:ext cx="558000" cy="10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50" b="0">
                <a:solidFill>
                  <a:srgbClr val="777777"/>
                </a:solidFill>
                <a:latin typeface="游ゴシック"/>
              </a:rPr>
              <a:t>の人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12800" y="1072800"/>
            <a:ext cx="558000" cy="342000"/>
          </a:xfrm>
          <a:prstGeom prst="roundRect">
            <a:avLst/>
          </a:prstGeom>
          <a:solidFill>
            <a:srgbClr val="C25B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2800" y="1101600"/>
            <a:ext cx="558000" cy="18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  <a:latin typeface="游ゴシック"/>
              </a:rPr>
              <a:t>つなぐ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2800" y="1270800"/>
            <a:ext cx="558000" cy="10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50" b="1">
                <a:solidFill>
                  <a:srgbClr val="FFFFFF"/>
                </a:solidFill>
                <a:latin typeface="游ゴシック"/>
              </a:rPr>
              <a:t>の人 ★あなた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86000" y="594000"/>
            <a:ext cx="1764000" cy="12599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00" b="1">
                <a:solidFill>
                  <a:srgbClr val="777777"/>
                </a:solidFill>
                <a:latin typeface="游ゴシック"/>
              </a:rPr>
              <a:t>動き出し方（アクティビティレベル）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386000" y="745200"/>
            <a:ext cx="1764000" cy="50400"/>
          </a:xfrm>
          <a:prstGeom prst="roundRect">
            <a:avLst/>
          </a:prstGeom>
          <a:solidFill>
            <a:srgbClr val="EE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1386000" y="745200"/>
            <a:ext cx="192404" cy="50400"/>
          </a:xfrm>
          <a:prstGeom prst="roundRect">
            <a:avLst/>
          </a:prstGeom>
          <a:solidFill>
            <a:srgbClr val="5560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524404" y="716399"/>
            <a:ext cx="108000" cy="108000"/>
          </a:xfrm>
          <a:prstGeom prst="ellipse">
            <a:avLst/>
          </a:prstGeom>
          <a:solidFill>
            <a:srgbClr val="556070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386000" y="817200"/>
            <a:ext cx="882000" cy="10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50" b="0">
                <a:solidFill>
                  <a:srgbClr val="777777"/>
                </a:solidFill>
                <a:latin typeface="游ゴシック"/>
              </a:rPr>
              <a:t>じっくり考えて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268000" y="817200"/>
            <a:ext cx="882000" cy="10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550" b="0">
                <a:solidFill>
                  <a:srgbClr val="777777"/>
                </a:solidFill>
                <a:latin typeface="游ゴシック"/>
              </a:rPr>
              <a:t>まず体が動く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86000" y="917999"/>
            <a:ext cx="1764000" cy="10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00" b="1">
                <a:solidFill>
                  <a:srgbClr val="1F3A5F"/>
                </a:solidFill>
                <a:latin typeface="游ゴシック"/>
              </a:rPr>
              <a:t>思考型：納得するまで集めてから動く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86000" y="1044000"/>
            <a:ext cx="1764000" cy="12599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00" b="1">
                <a:solidFill>
                  <a:srgbClr val="777777"/>
                </a:solidFill>
                <a:latin typeface="游ゴシック"/>
              </a:rPr>
              <a:t>伝わり方（シンキングパターン 45）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386000" y="1195200"/>
            <a:ext cx="1764000" cy="50400"/>
          </a:xfrm>
          <a:prstGeom prst="roundRect">
            <a:avLst/>
          </a:prstGeom>
          <a:solidFill>
            <a:srgbClr val="EE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1386000" y="1195200"/>
            <a:ext cx="681545" cy="50400"/>
          </a:xfrm>
          <a:prstGeom prst="roundRect">
            <a:avLst/>
          </a:prstGeom>
          <a:solidFill>
            <a:srgbClr val="5560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2013545" y="1166400"/>
            <a:ext cx="108000" cy="108000"/>
          </a:xfrm>
          <a:prstGeom prst="ellipse">
            <a:avLst/>
          </a:prstGeom>
          <a:solidFill>
            <a:srgbClr val="556070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386000" y="1267200"/>
            <a:ext cx="882000" cy="10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50" b="0">
                <a:solidFill>
                  <a:srgbClr val="777777"/>
                </a:solidFill>
                <a:latin typeface="游ゴシック"/>
              </a:rPr>
              <a:t>気持ち・感動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268000" y="1267200"/>
            <a:ext cx="882000" cy="10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550" b="0">
                <a:solidFill>
                  <a:srgbClr val="777777"/>
                </a:solidFill>
                <a:latin typeface="游ゴシック"/>
              </a:rPr>
              <a:t>理屈・データ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386000" y="1368000"/>
            <a:ext cx="1764000" cy="10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00" b="1">
                <a:solidFill>
                  <a:srgbClr val="1F3A5F"/>
                </a:solidFill>
                <a:latin typeface="游ゴシック"/>
              </a:rPr>
              <a:t>両方：気持ちも理屈も使える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25999" y="1512000"/>
            <a:ext cx="3024000" cy="342000"/>
          </a:xfrm>
          <a:prstGeom prst="round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98000" y="1530000"/>
            <a:ext cx="576000" cy="30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50" b="1">
                <a:solidFill>
                  <a:srgbClr val="556070"/>
                </a:solidFill>
                <a:latin typeface="游ゴシック"/>
              </a:rPr>
              <a:t>わたしへの</a:t>
            </a:r>
          </a:p>
          <a:p>
            <a:pPr algn="l"/>
            <a:r>
              <a:rPr sz="550" b="1">
                <a:solidFill>
                  <a:srgbClr val="556070"/>
                </a:solidFill>
                <a:latin typeface="游ゴシック"/>
              </a:rPr>
              <a:t>ひとこと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20000" y="1530000"/>
            <a:ext cx="2015999" cy="30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00" b="1">
                <a:solidFill>
                  <a:srgbClr val="1F3A5F"/>
                </a:solidFill>
                <a:latin typeface="游ゴシック"/>
              </a:rPr>
              <a:t>全体像が見えると動きやすいです。</a:t>
            </a:r>
          </a:p>
          <a:p>
            <a:pPr algn="l"/>
            <a:r>
              <a:rPr sz="700" b="1">
                <a:solidFill>
                  <a:srgbClr val="1F3A5F"/>
                </a:solidFill>
                <a:latin typeface="游ゴシック"/>
              </a:rPr>
              <a:t>みんなで楽しく進めたいタイプです！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700000" y="1548000"/>
            <a:ext cx="413999" cy="27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50" b="1">
                <a:solidFill>
                  <a:srgbClr val="556070"/>
                </a:solidFill>
                <a:latin typeface="游ゴシック"/>
              </a:rPr>
              <a:t>Lucky</a:t>
            </a:r>
          </a:p>
          <a:p>
            <a:pPr algn="ctr"/>
            <a:r>
              <a:rPr sz="650" b="1">
                <a:solidFill>
                  <a:srgbClr val="556070"/>
                </a:solidFill>
                <a:latin typeface="游ゴシック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76000" cy="19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76000" cy="558000"/>
          </a:xfrm>
          <a:prstGeom prst="rect">
            <a:avLst/>
          </a:prstGeom>
          <a:solidFill>
            <a:srgbClr val="EEF0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5999" y="43200"/>
            <a:ext cx="1980000" cy="10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50" b="0">
                <a:solidFill>
                  <a:srgbClr val="1F3A5F"/>
                </a:solidFill>
                <a:latin typeface="游ゴシック"/>
              </a:rPr>
              <a:t>企業のオンライン保健室　はたらくトリセツ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5999" y="151200"/>
            <a:ext cx="2268000" cy="27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700" b="1">
                <a:solidFill>
                  <a:srgbClr val="1F3A5F"/>
                </a:solidFill>
                <a:latin typeface="游ゴシック"/>
              </a:rPr>
              <a:t>塩澤 裕己永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5999" y="406799"/>
            <a:ext cx="2268000" cy="10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50" b="0">
                <a:solidFill>
                  <a:srgbClr val="1F3A5F"/>
                </a:solidFill>
                <a:latin typeface="游ゴシック"/>
              </a:rPr>
              <a:t>パワーカラー 白：優しい雰囲気・安心感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502000" y="79200"/>
            <a:ext cx="648000" cy="396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EEE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502000" y="90000"/>
            <a:ext cx="648000" cy="10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777777"/>
                </a:solidFill>
                <a:latin typeface="游ゴシック"/>
              </a:rPr>
              <a:t>心のエンジン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02000" y="180000"/>
            <a:ext cx="648000" cy="19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>
                <a:solidFill>
                  <a:srgbClr val="556070"/>
                </a:solidFill>
                <a:latin typeface="游ゴシック"/>
              </a:rPr>
              <a:t>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02000" y="367200"/>
            <a:ext cx="648000" cy="9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450" b="0">
                <a:solidFill>
                  <a:srgbClr val="777777"/>
                </a:solidFill>
                <a:latin typeface="游ゴシック"/>
              </a:rPr>
              <a:t>気持ちに正直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5999" y="594000"/>
            <a:ext cx="1188000" cy="10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00" b="1">
                <a:solidFill>
                  <a:srgbClr val="777777"/>
                </a:solidFill>
                <a:latin typeface="游ゴシック"/>
              </a:rPr>
              <a:t>利き脳タイプ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25999" y="702000"/>
            <a:ext cx="558000" cy="342000"/>
          </a:xfrm>
          <a:prstGeom prst="roundRect">
            <a:avLst/>
          </a:prstGeom>
          <a:solidFill>
            <a:srgbClr val="E86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5999" y="730799"/>
            <a:ext cx="558000" cy="18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  <a:latin typeface="游ゴシック"/>
              </a:rPr>
              <a:t>切りひらく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5999" y="900000"/>
            <a:ext cx="558000" cy="10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50" b="1">
                <a:solidFill>
                  <a:srgbClr val="FFFFFF"/>
                </a:solidFill>
                <a:latin typeface="游ゴシック"/>
              </a:rPr>
              <a:t>の人 ★あなた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12800" y="702000"/>
            <a:ext cx="558000" cy="342000"/>
          </a:xfrm>
          <a:prstGeom prst="roundRect">
            <a:avLst/>
          </a:prstGeom>
          <a:solidFill>
            <a:srgbClr val="EE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2800" y="730799"/>
            <a:ext cx="558000" cy="18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50" b="0">
                <a:solidFill>
                  <a:srgbClr val="777777"/>
                </a:solidFill>
                <a:latin typeface="游ゴシック"/>
              </a:rPr>
              <a:t>組み立てる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2800" y="900000"/>
            <a:ext cx="558000" cy="10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50" b="0">
                <a:solidFill>
                  <a:srgbClr val="777777"/>
                </a:solidFill>
                <a:latin typeface="游ゴシック"/>
              </a:rPr>
              <a:t>の人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25999" y="1072800"/>
            <a:ext cx="558000" cy="342000"/>
          </a:xfrm>
          <a:prstGeom prst="roundRect">
            <a:avLst/>
          </a:prstGeom>
          <a:solidFill>
            <a:srgbClr val="EE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25999" y="1101600"/>
            <a:ext cx="558000" cy="18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50" b="0">
                <a:solidFill>
                  <a:srgbClr val="777777"/>
                </a:solidFill>
                <a:latin typeface="游ゴシック"/>
              </a:rPr>
              <a:t>支える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5999" y="1270800"/>
            <a:ext cx="558000" cy="10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50" b="0">
                <a:solidFill>
                  <a:srgbClr val="777777"/>
                </a:solidFill>
                <a:latin typeface="游ゴシック"/>
              </a:rPr>
              <a:t>の人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12800" y="1072800"/>
            <a:ext cx="558000" cy="342000"/>
          </a:xfrm>
          <a:prstGeom prst="roundRect">
            <a:avLst/>
          </a:prstGeom>
          <a:solidFill>
            <a:srgbClr val="EE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2800" y="1101600"/>
            <a:ext cx="558000" cy="18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50" b="0">
                <a:solidFill>
                  <a:srgbClr val="777777"/>
                </a:solidFill>
                <a:latin typeface="游ゴシック"/>
              </a:rPr>
              <a:t>つなぐ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2800" y="1270800"/>
            <a:ext cx="558000" cy="10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50" b="0">
                <a:solidFill>
                  <a:srgbClr val="777777"/>
                </a:solidFill>
                <a:latin typeface="游ゴシック"/>
              </a:rPr>
              <a:t>の人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86000" y="594000"/>
            <a:ext cx="1764000" cy="12599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00" b="1">
                <a:solidFill>
                  <a:srgbClr val="777777"/>
                </a:solidFill>
                <a:latin typeface="游ゴシック"/>
              </a:rPr>
              <a:t>動き出し方（アクティビティレベル）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386000" y="745200"/>
            <a:ext cx="1764000" cy="50400"/>
          </a:xfrm>
          <a:prstGeom prst="roundRect">
            <a:avLst/>
          </a:prstGeom>
          <a:solidFill>
            <a:srgbClr val="EE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1386000" y="745200"/>
            <a:ext cx="1339769" cy="50400"/>
          </a:xfrm>
          <a:prstGeom prst="roundRect">
            <a:avLst/>
          </a:prstGeom>
          <a:solidFill>
            <a:srgbClr val="5560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2671769" y="716399"/>
            <a:ext cx="108000" cy="108000"/>
          </a:xfrm>
          <a:prstGeom prst="ellipse">
            <a:avLst/>
          </a:prstGeom>
          <a:solidFill>
            <a:srgbClr val="556070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386000" y="817200"/>
            <a:ext cx="882000" cy="10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50" b="0">
                <a:solidFill>
                  <a:srgbClr val="777777"/>
                </a:solidFill>
                <a:latin typeface="游ゴシック"/>
              </a:rPr>
              <a:t>じっくり考えて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268000" y="817200"/>
            <a:ext cx="882000" cy="10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550" b="0">
                <a:solidFill>
                  <a:srgbClr val="777777"/>
                </a:solidFill>
                <a:latin typeface="游ゴシック"/>
              </a:rPr>
              <a:t>まず体が動く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86000" y="917999"/>
            <a:ext cx="1764000" cy="10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00" b="1">
                <a:solidFill>
                  <a:srgbClr val="1F3A5F"/>
                </a:solidFill>
                <a:latin typeface="游ゴシック"/>
              </a:rPr>
              <a:t>体験＋衝動型：まず体が動く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86000" y="1044000"/>
            <a:ext cx="1764000" cy="12599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00" b="1">
                <a:solidFill>
                  <a:srgbClr val="777777"/>
                </a:solidFill>
                <a:latin typeface="游ゴシック"/>
              </a:rPr>
              <a:t>伝わり方（シンキングパターン 99）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386000" y="1195200"/>
            <a:ext cx="1764000" cy="50400"/>
          </a:xfrm>
          <a:prstGeom prst="roundRect">
            <a:avLst/>
          </a:prstGeom>
          <a:solidFill>
            <a:srgbClr val="EE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1386000" y="1195200"/>
            <a:ext cx="1764000" cy="50400"/>
          </a:xfrm>
          <a:prstGeom prst="roundRect">
            <a:avLst/>
          </a:prstGeom>
          <a:solidFill>
            <a:srgbClr val="5560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3096000" y="1166400"/>
            <a:ext cx="108000" cy="108000"/>
          </a:xfrm>
          <a:prstGeom prst="ellipse">
            <a:avLst/>
          </a:prstGeom>
          <a:solidFill>
            <a:srgbClr val="556070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386000" y="1267200"/>
            <a:ext cx="882000" cy="10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50" b="0">
                <a:solidFill>
                  <a:srgbClr val="777777"/>
                </a:solidFill>
                <a:latin typeface="游ゴシック"/>
              </a:rPr>
              <a:t>気持ち・感動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268000" y="1267200"/>
            <a:ext cx="882000" cy="10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550" b="0">
                <a:solidFill>
                  <a:srgbClr val="777777"/>
                </a:solidFill>
                <a:latin typeface="游ゴシック"/>
              </a:rPr>
              <a:t>理屈・データ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386000" y="1368000"/>
            <a:ext cx="1764000" cy="10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00" b="1">
                <a:solidFill>
                  <a:srgbClr val="1F3A5F"/>
                </a:solidFill>
                <a:latin typeface="游ゴシック"/>
              </a:rPr>
              <a:t>ロジカル：理屈・データで受け取る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25999" y="1512000"/>
            <a:ext cx="3024000" cy="342000"/>
          </a:xfrm>
          <a:prstGeom prst="round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98000" y="1530000"/>
            <a:ext cx="576000" cy="30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50" b="1">
                <a:solidFill>
                  <a:srgbClr val="556070"/>
                </a:solidFill>
                <a:latin typeface="游ゴシック"/>
              </a:rPr>
              <a:t>わたしへの</a:t>
            </a:r>
          </a:p>
          <a:p>
            <a:pPr algn="l"/>
            <a:r>
              <a:rPr sz="550" b="1">
                <a:solidFill>
                  <a:srgbClr val="556070"/>
                </a:solidFill>
                <a:latin typeface="游ゴシック"/>
              </a:rPr>
              <a:t>ひとこと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20000" y="1530000"/>
            <a:ext cx="2015999" cy="30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00" b="1">
                <a:solidFill>
                  <a:srgbClr val="1F3A5F"/>
                </a:solidFill>
                <a:latin typeface="游ゴシック"/>
              </a:rPr>
              <a:t>まず動いて覚えるタイプです。</a:t>
            </a:r>
          </a:p>
          <a:p>
            <a:pPr algn="l"/>
            <a:r>
              <a:rPr sz="700" b="1">
                <a:solidFill>
                  <a:srgbClr val="1F3A5F"/>
                </a:solidFill>
                <a:latin typeface="游ゴシック"/>
              </a:rPr>
              <a:t>説明は理由をシンプルにお願いします！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700000" y="1548000"/>
            <a:ext cx="413999" cy="27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50" b="1">
                <a:solidFill>
                  <a:srgbClr val="556070"/>
                </a:solidFill>
                <a:latin typeface="游ゴシック"/>
              </a:rPr>
              <a:t>Lucky</a:t>
            </a:r>
          </a:p>
          <a:p>
            <a:pPr algn="ctr"/>
            <a:r>
              <a:rPr sz="650" b="1">
                <a:solidFill>
                  <a:srgbClr val="556070"/>
                </a:solidFill>
                <a:latin typeface="游ゴシック"/>
              </a:rPr>
              <a:t>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76000" cy="19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76000" cy="558000"/>
          </a:xfrm>
          <a:prstGeom prst="rect">
            <a:avLst/>
          </a:prstGeom>
          <a:solidFill>
            <a:srgbClr val="2E4A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5999" y="43200"/>
            <a:ext cx="1980000" cy="10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50" b="0">
                <a:solidFill>
                  <a:srgbClr val="FFFFFF"/>
                </a:solidFill>
                <a:latin typeface="游ゴシック"/>
              </a:rPr>
              <a:t>企業のオンライン保健室　はたらくトリセツ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5999" y="151200"/>
            <a:ext cx="2268000" cy="27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游ゴシック"/>
              </a:rPr>
              <a:t>太田 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5999" y="406799"/>
            <a:ext cx="2268000" cy="10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50" b="0">
                <a:solidFill>
                  <a:srgbClr val="FFFFFF"/>
                </a:solidFill>
                <a:latin typeface="游ゴシック"/>
              </a:rPr>
              <a:t>パワーカラー 藍：センスの良さ・器用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502000" y="79200"/>
            <a:ext cx="648000" cy="3960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502000" y="90000"/>
            <a:ext cx="648000" cy="10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777777"/>
                </a:solidFill>
                <a:latin typeface="游ゴシック"/>
              </a:rPr>
              <a:t>心のエンジン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02000" y="180000"/>
            <a:ext cx="648000" cy="19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>
                <a:solidFill>
                  <a:srgbClr val="1C2E5A"/>
                </a:solidFill>
                <a:latin typeface="游ゴシック"/>
              </a:rPr>
              <a:t>宙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02000" y="367200"/>
            <a:ext cx="648000" cy="9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450" b="0">
                <a:solidFill>
                  <a:srgbClr val="777777"/>
                </a:solidFill>
                <a:latin typeface="游ゴシック"/>
              </a:rPr>
              <a:t>決めたらぶれない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5999" y="594000"/>
            <a:ext cx="1188000" cy="10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00" b="1">
                <a:solidFill>
                  <a:srgbClr val="777777"/>
                </a:solidFill>
                <a:latin typeface="游ゴシック"/>
              </a:rPr>
              <a:t>利き脳タイプ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25999" y="702000"/>
            <a:ext cx="558000" cy="342000"/>
          </a:xfrm>
          <a:prstGeom prst="roundRect">
            <a:avLst/>
          </a:prstGeom>
          <a:solidFill>
            <a:srgbClr val="E86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5999" y="730799"/>
            <a:ext cx="558000" cy="18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  <a:latin typeface="游ゴシック"/>
              </a:rPr>
              <a:t>切りひらく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5999" y="900000"/>
            <a:ext cx="558000" cy="10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50" b="1">
                <a:solidFill>
                  <a:srgbClr val="FFFFFF"/>
                </a:solidFill>
                <a:latin typeface="游ゴシック"/>
              </a:rPr>
              <a:t>の人 ★あなた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12800" y="702000"/>
            <a:ext cx="558000" cy="342000"/>
          </a:xfrm>
          <a:prstGeom prst="roundRect">
            <a:avLst/>
          </a:prstGeom>
          <a:solidFill>
            <a:srgbClr val="EE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2800" y="730799"/>
            <a:ext cx="558000" cy="18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50" b="0">
                <a:solidFill>
                  <a:srgbClr val="777777"/>
                </a:solidFill>
                <a:latin typeface="游ゴシック"/>
              </a:rPr>
              <a:t>組み立てる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2800" y="900000"/>
            <a:ext cx="558000" cy="10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50" b="0">
                <a:solidFill>
                  <a:srgbClr val="777777"/>
                </a:solidFill>
                <a:latin typeface="游ゴシック"/>
              </a:rPr>
              <a:t>の人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25999" y="1072800"/>
            <a:ext cx="558000" cy="342000"/>
          </a:xfrm>
          <a:prstGeom prst="roundRect">
            <a:avLst/>
          </a:prstGeom>
          <a:solidFill>
            <a:srgbClr val="EE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25999" y="1101600"/>
            <a:ext cx="558000" cy="18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50" b="0">
                <a:solidFill>
                  <a:srgbClr val="777777"/>
                </a:solidFill>
                <a:latin typeface="游ゴシック"/>
              </a:rPr>
              <a:t>支える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5999" y="1270800"/>
            <a:ext cx="558000" cy="10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50" b="0">
                <a:solidFill>
                  <a:srgbClr val="777777"/>
                </a:solidFill>
                <a:latin typeface="游ゴシック"/>
              </a:rPr>
              <a:t>の人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12800" y="1072800"/>
            <a:ext cx="558000" cy="342000"/>
          </a:xfrm>
          <a:prstGeom prst="roundRect">
            <a:avLst/>
          </a:prstGeom>
          <a:solidFill>
            <a:srgbClr val="EE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2800" y="1101600"/>
            <a:ext cx="558000" cy="18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50" b="0">
                <a:solidFill>
                  <a:srgbClr val="777777"/>
                </a:solidFill>
                <a:latin typeface="游ゴシック"/>
              </a:rPr>
              <a:t>つなぐ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2800" y="1270800"/>
            <a:ext cx="558000" cy="10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50" b="0">
                <a:solidFill>
                  <a:srgbClr val="777777"/>
                </a:solidFill>
                <a:latin typeface="游ゴシック"/>
              </a:rPr>
              <a:t>の人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86000" y="594000"/>
            <a:ext cx="1764000" cy="12599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00" b="1">
                <a:solidFill>
                  <a:srgbClr val="777777"/>
                </a:solidFill>
                <a:latin typeface="游ゴシック"/>
              </a:rPr>
              <a:t>動き出し方（アクティビティレベル）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386000" y="745200"/>
            <a:ext cx="1764000" cy="50400"/>
          </a:xfrm>
          <a:prstGeom prst="roundRect">
            <a:avLst/>
          </a:prstGeom>
          <a:solidFill>
            <a:srgbClr val="EE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1386000" y="745200"/>
            <a:ext cx="1527010" cy="50400"/>
          </a:xfrm>
          <a:prstGeom prst="roundRect">
            <a:avLst/>
          </a:prstGeom>
          <a:solidFill>
            <a:srgbClr val="2E4A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2859010" y="716399"/>
            <a:ext cx="108000" cy="108000"/>
          </a:xfrm>
          <a:prstGeom prst="ellipse">
            <a:avLst/>
          </a:prstGeom>
          <a:solidFill>
            <a:srgbClr val="1C2E5A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386000" y="817200"/>
            <a:ext cx="882000" cy="10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50" b="0">
                <a:solidFill>
                  <a:srgbClr val="777777"/>
                </a:solidFill>
                <a:latin typeface="游ゴシック"/>
              </a:rPr>
              <a:t>じっくり考えて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268000" y="817200"/>
            <a:ext cx="882000" cy="10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550" b="0">
                <a:solidFill>
                  <a:srgbClr val="777777"/>
                </a:solidFill>
                <a:latin typeface="游ゴシック"/>
              </a:rPr>
              <a:t>まず体が動く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86000" y="917999"/>
            <a:ext cx="1764000" cy="10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00" b="1">
                <a:solidFill>
                  <a:srgbClr val="1F3A5F"/>
                </a:solidFill>
                <a:latin typeface="游ゴシック"/>
              </a:rPr>
              <a:t>体験＋衝動型：まず体が動く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86000" y="1044000"/>
            <a:ext cx="1764000" cy="12599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00" b="1">
                <a:solidFill>
                  <a:srgbClr val="777777"/>
                </a:solidFill>
                <a:latin typeface="游ゴシック"/>
              </a:rPr>
              <a:t>伝わり方（シンキングパターン 78）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386000" y="1195200"/>
            <a:ext cx="1764000" cy="50400"/>
          </a:xfrm>
          <a:prstGeom prst="roundRect">
            <a:avLst/>
          </a:prstGeom>
          <a:solidFill>
            <a:srgbClr val="EE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1386000" y="1195200"/>
            <a:ext cx="1343045" cy="50400"/>
          </a:xfrm>
          <a:prstGeom prst="roundRect">
            <a:avLst/>
          </a:prstGeom>
          <a:solidFill>
            <a:srgbClr val="2E4A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2675045" y="1166400"/>
            <a:ext cx="108000" cy="108000"/>
          </a:xfrm>
          <a:prstGeom prst="ellipse">
            <a:avLst/>
          </a:prstGeom>
          <a:solidFill>
            <a:srgbClr val="1C2E5A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386000" y="1267200"/>
            <a:ext cx="882000" cy="10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50" b="0">
                <a:solidFill>
                  <a:srgbClr val="777777"/>
                </a:solidFill>
                <a:latin typeface="游ゴシック"/>
              </a:rPr>
              <a:t>気持ち・感動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268000" y="1267200"/>
            <a:ext cx="882000" cy="10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550" b="0">
                <a:solidFill>
                  <a:srgbClr val="777777"/>
                </a:solidFill>
                <a:latin typeface="游ゴシック"/>
              </a:rPr>
              <a:t>理屈・データ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386000" y="1368000"/>
            <a:ext cx="1764000" cy="10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00" b="1">
                <a:solidFill>
                  <a:srgbClr val="1F3A5F"/>
                </a:solidFill>
                <a:latin typeface="游ゴシック"/>
              </a:rPr>
              <a:t>ロジカル：理屈・データで受け取る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25999" y="1512000"/>
            <a:ext cx="3024000" cy="342000"/>
          </a:xfrm>
          <a:prstGeom prst="round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98000" y="1530000"/>
            <a:ext cx="576000" cy="30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50" b="1">
                <a:solidFill>
                  <a:srgbClr val="1C2E5A"/>
                </a:solidFill>
                <a:latin typeface="游ゴシック"/>
              </a:rPr>
              <a:t>わたしへの</a:t>
            </a:r>
          </a:p>
          <a:p>
            <a:pPr algn="l"/>
            <a:r>
              <a:rPr sz="550" b="1">
                <a:solidFill>
                  <a:srgbClr val="1C2E5A"/>
                </a:solidFill>
                <a:latin typeface="游ゴシック"/>
              </a:rPr>
              <a:t>ひとこと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20000" y="1530000"/>
            <a:ext cx="2015999" cy="30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00" b="1">
                <a:solidFill>
                  <a:srgbClr val="1F3A5F"/>
                </a:solidFill>
                <a:latin typeface="游ゴシック"/>
              </a:rPr>
              <a:t>考えるより先に体が動きます。</a:t>
            </a:r>
          </a:p>
          <a:p>
            <a:pPr algn="l"/>
            <a:r>
              <a:rPr sz="700" b="1">
                <a:solidFill>
                  <a:srgbClr val="1F3A5F"/>
                </a:solidFill>
                <a:latin typeface="游ゴシック"/>
              </a:rPr>
              <a:t>理由はひとことで伝えてください！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700000" y="1548000"/>
            <a:ext cx="413999" cy="27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50" b="1">
                <a:solidFill>
                  <a:srgbClr val="1C2E5A"/>
                </a:solidFill>
                <a:latin typeface="游ゴシック"/>
              </a:rPr>
              <a:t>Lucky</a:t>
            </a:r>
          </a:p>
          <a:p>
            <a:pPr algn="ctr"/>
            <a:r>
              <a:rPr sz="650" b="1">
                <a:solidFill>
                  <a:srgbClr val="1C2E5A"/>
                </a:solidFill>
                <a:latin typeface="游ゴシック"/>
              </a:rPr>
              <a:t>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76000" cy="19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76000" cy="558000"/>
          </a:xfrm>
          <a:prstGeom prst="rect">
            <a:avLst/>
          </a:prstGeom>
          <a:solidFill>
            <a:srgbClr val="5DA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5999" y="43200"/>
            <a:ext cx="1980000" cy="10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50" b="0">
                <a:solidFill>
                  <a:srgbClr val="FFFFFF"/>
                </a:solidFill>
                <a:latin typeface="游ゴシック"/>
              </a:rPr>
              <a:t>企業のオンライン保健室　はたらくトリセツ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5999" y="151200"/>
            <a:ext cx="2268000" cy="27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游ゴシック"/>
              </a:rPr>
              <a:t>富永 春菜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5999" y="406799"/>
            <a:ext cx="2268000" cy="10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50" b="0">
                <a:solidFill>
                  <a:srgbClr val="FFFFFF"/>
                </a:solidFill>
                <a:latin typeface="游ゴシック"/>
              </a:rPr>
              <a:t>パワーカラー 緑：癒しの雰囲気・物静かでも心は熱い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502000" y="79200"/>
            <a:ext cx="648000" cy="3960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502000" y="90000"/>
            <a:ext cx="648000" cy="10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777777"/>
                </a:solidFill>
                <a:latin typeface="游ゴシック"/>
              </a:rPr>
              <a:t>心のエンジン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02000" y="180000"/>
            <a:ext cx="648000" cy="19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>
                <a:solidFill>
                  <a:srgbClr val="2F6E3B"/>
                </a:solidFill>
                <a:latin typeface="游ゴシック"/>
              </a:rPr>
              <a:t>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02000" y="367200"/>
            <a:ext cx="648000" cy="9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450" b="0">
                <a:solidFill>
                  <a:srgbClr val="777777"/>
                </a:solidFill>
                <a:latin typeface="游ゴシック"/>
              </a:rPr>
              <a:t>新しいこと好き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5999" y="594000"/>
            <a:ext cx="1188000" cy="10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00" b="1">
                <a:solidFill>
                  <a:srgbClr val="777777"/>
                </a:solidFill>
                <a:latin typeface="游ゴシック"/>
              </a:rPr>
              <a:t>利き脳タイプ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25999" y="702000"/>
            <a:ext cx="558000" cy="342000"/>
          </a:xfrm>
          <a:prstGeom prst="roundRect">
            <a:avLst/>
          </a:prstGeom>
          <a:solidFill>
            <a:srgbClr val="EE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5999" y="730799"/>
            <a:ext cx="558000" cy="18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50" b="0">
                <a:solidFill>
                  <a:srgbClr val="777777"/>
                </a:solidFill>
                <a:latin typeface="游ゴシック"/>
              </a:rPr>
              <a:t>切りひらく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5999" y="900000"/>
            <a:ext cx="558000" cy="10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50" b="0">
                <a:solidFill>
                  <a:srgbClr val="777777"/>
                </a:solidFill>
                <a:latin typeface="游ゴシック"/>
              </a:rPr>
              <a:t>の人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12800" y="702000"/>
            <a:ext cx="558000" cy="342000"/>
          </a:xfrm>
          <a:prstGeom prst="roundRect">
            <a:avLst/>
          </a:prstGeom>
          <a:solidFill>
            <a:srgbClr val="EE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2800" y="730799"/>
            <a:ext cx="558000" cy="18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50" b="0">
                <a:solidFill>
                  <a:srgbClr val="777777"/>
                </a:solidFill>
                <a:latin typeface="游ゴシック"/>
              </a:rPr>
              <a:t>組み立てる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2800" y="900000"/>
            <a:ext cx="558000" cy="10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50" b="0">
                <a:solidFill>
                  <a:srgbClr val="777777"/>
                </a:solidFill>
                <a:latin typeface="游ゴシック"/>
              </a:rPr>
              <a:t>の人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25999" y="1072800"/>
            <a:ext cx="558000" cy="342000"/>
          </a:xfrm>
          <a:prstGeom prst="roundRect">
            <a:avLst/>
          </a:prstGeom>
          <a:solidFill>
            <a:srgbClr val="4E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25999" y="1101600"/>
            <a:ext cx="558000" cy="18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  <a:latin typeface="游ゴシック"/>
              </a:rPr>
              <a:t>支える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5999" y="1270800"/>
            <a:ext cx="558000" cy="10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50" b="1">
                <a:solidFill>
                  <a:srgbClr val="FFFFFF"/>
                </a:solidFill>
                <a:latin typeface="游ゴシック"/>
              </a:rPr>
              <a:t>の人 ★あなた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12800" y="1072800"/>
            <a:ext cx="558000" cy="342000"/>
          </a:xfrm>
          <a:prstGeom prst="roundRect">
            <a:avLst/>
          </a:prstGeom>
          <a:solidFill>
            <a:srgbClr val="EE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2800" y="1101600"/>
            <a:ext cx="558000" cy="18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50" b="0">
                <a:solidFill>
                  <a:srgbClr val="777777"/>
                </a:solidFill>
                <a:latin typeface="游ゴシック"/>
              </a:rPr>
              <a:t>つなぐ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2800" y="1270800"/>
            <a:ext cx="558000" cy="10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50" b="0">
                <a:solidFill>
                  <a:srgbClr val="777777"/>
                </a:solidFill>
                <a:latin typeface="游ゴシック"/>
              </a:rPr>
              <a:t>の人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86000" y="594000"/>
            <a:ext cx="1764000" cy="12599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00" b="1">
                <a:solidFill>
                  <a:srgbClr val="777777"/>
                </a:solidFill>
                <a:latin typeface="游ゴシック"/>
              </a:rPr>
              <a:t>動き出し方（アクティビティレベル）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386000" y="745200"/>
            <a:ext cx="1764000" cy="50400"/>
          </a:xfrm>
          <a:prstGeom prst="roundRect">
            <a:avLst/>
          </a:prstGeom>
          <a:solidFill>
            <a:srgbClr val="EE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1386000" y="745200"/>
            <a:ext cx="52920" cy="50400"/>
          </a:xfrm>
          <a:prstGeom prst="roundRect">
            <a:avLst/>
          </a:prstGeom>
          <a:solidFill>
            <a:srgbClr val="5DA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384920" y="716399"/>
            <a:ext cx="108000" cy="108000"/>
          </a:xfrm>
          <a:prstGeom prst="ellipse">
            <a:avLst/>
          </a:prstGeom>
          <a:solidFill>
            <a:srgbClr val="2F6E3B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386000" y="817200"/>
            <a:ext cx="882000" cy="10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50" b="0">
                <a:solidFill>
                  <a:srgbClr val="777777"/>
                </a:solidFill>
                <a:latin typeface="游ゴシック"/>
              </a:rPr>
              <a:t>じっくり考えて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268000" y="817200"/>
            <a:ext cx="882000" cy="10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550" b="0">
                <a:solidFill>
                  <a:srgbClr val="777777"/>
                </a:solidFill>
                <a:latin typeface="游ゴシック"/>
              </a:rPr>
              <a:t>まず体が動く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86000" y="917999"/>
            <a:ext cx="1764000" cy="10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00" b="1">
                <a:solidFill>
                  <a:srgbClr val="1F3A5F"/>
                </a:solidFill>
                <a:latin typeface="游ゴシック"/>
              </a:rPr>
              <a:t>思考型：納得するまで集めてから動く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86000" y="1044000"/>
            <a:ext cx="1764000" cy="12599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00" b="1">
                <a:solidFill>
                  <a:srgbClr val="777777"/>
                </a:solidFill>
                <a:latin typeface="游ゴシック"/>
              </a:rPr>
              <a:t>伝わり方（シンキングパターン 13）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386000" y="1195200"/>
            <a:ext cx="1764000" cy="50400"/>
          </a:xfrm>
          <a:prstGeom prst="roundRect">
            <a:avLst/>
          </a:prstGeom>
          <a:solidFill>
            <a:srgbClr val="EE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1386000" y="1195200"/>
            <a:ext cx="50400" cy="50400"/>
          </a:xfrm>
          <a:prstGeom prst="roundRect">
            <a:avLst/>
          </a:prstGeom>
          <a:solidFill>
            <a:srgbClr val="5DA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1372090" y="1166400"/>
            <a:ext cx="108000" cy="108000"/>
          </a:xfrm>
          <a:prstGeom prst="ellipse">
            <a:avLst/>
          </a:prstGeom>
          <a:solidFill>
            <a:srgbClr val="2F6E3B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386000" y="1267200"/>
            <a:ext cx="882000" cy="10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50" b="0">
                <a:solidFill>
                  <a:srgbClr val="777777"/>
                </a:solidFill>
                <a:latin typeface="游ゴシック"/>
              </a:rPr>
              <a:t>気持ち・感動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268000" y="1267200"/>
            <a:ext cx="882000" cy="10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550" b="0">
                <a:solidFill>
                  <a:srgbClr val="777777"/>
                </a:solidFill>
                <a:latin typeface="游ゴシック"/>
              </a:rPr>
              <a:t>理屈・データ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386000" y="1368000"/>
            <a:ext cx="1764000" cy="10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00" b="1">
                <a:solidFill>
                  <a:srgbClr val="1F3A5F"/>
                </a:solidFill>
                <a:latin typeface="游ゴシック"/>
              </a:rPr>
              <a:t>フィーリング：気持ちで受け取る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25999" y="1512000"/>
            <a:ext cx="3024000" cy="342000"/>
          </a:xfrm>
          <a:prstGeom prst="round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98000" y="1530000"/>
            <a:ext cx="576000" cy="30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50" b="1">
                <a:solidFill>
                  <a:srgbClr val="2F6E3B"/>
                </a:solidFill>
                <a:latin typeface="游ゴシック"/>
              </a:rPr>
              <a:t>わたしへの</a:t>
            </a:r>
          </a:p>
          <a:p>
            <a:pPr algn="l"/>
            <a:r>
              <a:rPr sz="550" b="1">
                <a:solidFill>
                  <a:srgbClr val="2F6E3B"/>
                </a:solidFill>
                <a:latin typeface="游ゴシック"/>
              </a:rPr>
              <a:t>ひとこと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20000" y="1530000"/>
            <a:ext cx="2015999" cy="30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00" b="1">
                <a:solidFill>
                  <a:srgbClr val="1F3A5F"/>
                </a:solidFill>
                <a:latin typeface="游ゴシック"/>
              </a:rPr>
              <a:t>気持ちを分かってもらえると頑張れます。</a:t>
            </a:r>
          </a:p>
          <a:p>
            <a:pPr algn="l"/>
            <a:r>
              <a:rPr sz="700" b="1">
                <a:solidFill>
                  <a:srgbClr val="1F3A5F"/>
                </a:solidFill>
                <a:latin typeface="游ゴシック"/>
              </a:rPr>
              <a:t>役割をはっきりもらえると安心です。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700000" y="1548000"/>
            <a:ext cx="413999" cy="27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50" b="1">
                <a:solidFill>
                  <a:srgbClr val="2F6E3B"/>
                </a:solidFill>
                <a:latin typeface="游ゴシック"/>
              </a:rPr>
              <a:t>Lucky</a:t>
            </a:r>
          </a:p>
          <a:p>
            <a:pPr algn="ctr"/>
            <a:r>
              <a:rPr sz="650" b="1">
                <a:solidFill>
                  <a:srgbClr val="2F6E3B"/>
                </a:solidFill>
                <a:latin typeface="游ゴシック"/>
              </a:rPr>
              <a:t>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76000" cy="19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76000" cy="558000"/>
          </a:xfrm>
          <a:prstGeom prst="rect">
            <a:avLst/>
          </a:prstGeom>
          <a:solidFill>
            <a:srgbClr val="3A86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5999" y="43200"/>
            <a:ext cx="1980000" cy="10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50" b="0">
                <a:solidFill>
                  <a:srgbClr val="FFFFFF"/>
                </a:solidFill>
                <a:latin typeface="游ゴシック"/>
              </a:rPr>
              <a:t>企業のオンライン保健室　はたらくトリセツ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5999" y="151200"/>
            <a:ext cx="2268000" cy="27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游ゴシック"/>
              </a:rPr>
              <a:t>松崎 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5999" y="406799"/>
            <a:ext cx="2268000" cy="10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50" b="0">
                <a:solidFill>
                  <a:srgbClr val="FFFFFF"/>
                </a:solidFill>
                <a:latin typeface="游ゴシック"/>
              </a:rPr>
              <a:t>パワーカラー 青：動じない雰囲気・クールに見える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502000" y="79200"/>
            <a:ext cx="648000" cy="3960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502000" y="90000"/>
            <a:ext cx="648000" cy="10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777777"/>
                </a:solidFill>
                <a:latin typeface="游ゴシック"/>
              </a:rPr>
              <a:t>心のエンジン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02000" y="180000"/>
            <a:ext cx="648000" cy="19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>
                <a:solidFill>
                  <a:srgbClr val="1F5A8F"/>
                </a:solidFill>
                <a:latin typeface="游ゴシック"/>
              </a:rPr>
              <a:t>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02000" y="367200"/>
            <a:ext cx="648000" cy="9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450" b="0">
                <a:solidFill>
                  <a:srgbClr val="777777"/>
                </a:solidFill>
                <a:latin typeface="游ゴシック"/>
              </a:rPr>
              <a:t>気持ちに正直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5999" y="594000"/>
            <a:ext cx="1188000" cy="10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00" b="1">
                <a:solidFill>
                  <a:srgbClr val="777777"/>
                </a:solidFill>
                <a:latin typeface="游ゴシック"/>
              </a:rPr>
              <a:t>利き脳タイプ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25999" y="702000"/>
            <a:ext cx="558000" cy="342000"/>
          </a:xfrm>
          <a:prstGeom prst="roundRect">
            <a:avLst/>
          </a:prstGeom>
          <a:solidFill>
            <a:srgbClr val="EE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5999" y="730799"/>
            <a:ext cx="558000" cy="18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50" b="0">
                <a:solidFill>
                  <a:srgbClr val="777777"/>
                </a:solidFill>
                <a:latin typeface="游ゴシック"/>
              </a:rPr>
              <a:t>切りひらく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5999" y="900000"/>
            <a:ext cx="558000" cy="10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50" b="0">
                <a:solidFill>
                  <a:srgbClr val="777777"/>
                </a:solidFill>
                <a:latin typeface="游ゴシック"/>
              </a:rPr>
              <a:t>の人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12800" y="702000"/>
            <a:ext cx="558000" cy="342000"/>
          </a:xfrm>
          <a:prstGeom prst="roundRect">
            <a:avLst/>
          </a:prstGeom>
          <a:solidFill>
            <a:srgbClr val="3A7C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2800" y="730799"/>
            <a:ext cx="558000" cy="18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  <a:latin typeface="游ゴシック"/>
              </a:rPr>
              <a:t>組み立てる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2800" y="900000"/>
            <a:ext cx="558000" cy="10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50" b="1">
                <a:solidFill>
                  <a:srgbClr val="FFFFFF"/>
                </a:solidFill>
                <a:latin typeface="游ゴシック"/>
              </a:rPr>
              <a:t>の人 ★あなた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25999" y="1072800"/>
            <a:ext cx="558000" cy="342000"/>
          </a:xfrm>
          <a:prstGeom prst="roundRect">
            <a:avLst/>
          </a:prstGeom>
          <a:solidFill>
            <a:srgbClr val="EE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25999" y="1101600"/>
            <a:ext cx="558000" cy="18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50" b="0">
                <a:solidFill>
                  <a:srgbClr val="777777"/>
                </a:solidFill>
                <a:latin typeface="游ゴシック"/>
              </a:rPr>
              <a:t>支える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5999" y="1270800"/>
            <a:ext cx="558000" cy="10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50" b="0">
                <a:solidFill>
                  <a:srgbClr val="777777"/>
                </a:solidFill>
                <a:latin typeface="游ゴシック"/>
              </a:rPr>
              <a:t>の人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12800" y="1072800"/>
            <a:ext cx="558000" cy="342000"/>
          </a:xfrm>
          <a:prstGeom prst="roundRect">
            <a:avLst/>
          </a:prstGeom>
          <a:solidFill>
            <a:srgbClr val="EE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2800" y="1101600"/>
            <a:ext cx="558000" cy="18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50" b="0">
                <a:solidFill>
                  <a:srgbClr val="777777"/>
                </a:solidFill>
                <a:latin typeface="游ゴシック"/>
              </a:rPr>
              <a:t>つなぐ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2800" y="1270800"/>
            <a:ext cx="558000" cy="10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50" b="0">
                <a:solidFill>
                  <a:srgbClr val="777777"/>
                </a:solidFill>
                <a:latin typeface="游ゴシック"/>
              </a:rPr>
              <a:t>の人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86000" y="594000"/>
            <a:ext cx="1764000" cy="12599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00" b="1">
                <a:solidFill>
                  <a:srgbClr val="777777"/>
                </a:solidFill>
                <a:latin typeface="游ゴシック"/>
              </a:rPr>
              <a:t>動き出し方（アクティビティレベル）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386000" y="745200"/>
            <a:ext cx="1764000" cy="50400"/>
          </a:xfrm>
          <a:prstGeom prst="roundRect">
            <a:avLst/>
          </a:prstGeom>
          <a:solidFill>
            <a:srgbClr val="EE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1386000" y="745200"/>
            <a:ext cx="1338554" cy="50400"/>
          </a:xfrm>
          <a:prstGeom prst="roundRect">
            <a:avLst/>
          </a:prstGeom>
          <a:solidFill>
            <a:srgbClr val="3A86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2670554" y="716399"/>
            <a:ext cx="108000" cy="108000"/>
          </a:xfrm>
          <a:prstGeom prst="ellipse">
            <a:avLst/>
          </a:prstGeom>
          <a:solidFill>
            <a:srgbClr val="1F5A8F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386000" y="817200"/>
            <a:ext cx="882000" cy="10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50" b="0">
                <a:solidFill>
                  <a:srgbClr val="777777"/>
                </a:solidFill>
                <a:latin typeface="游ゴシック"/>
              </a:rPr>
              <a:t>じっくり考えて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268000" y="817200"/>
            <a:ext cx="882000" cy="10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550" b="0">
                <a:solidFill>
                  <a:srgbClr val="777777"/>
                </a:solidFill>
                <a:latin typeface="游ゴシック"/>
              </a:rPr>
              <a:t>まず体が動く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86000" y="917999"/>
            <a:ext cx="1764000" cy="10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00" b="1">
                <a:solidFill>
                  <a:srgbClr val="1F3A5F"/>
                </a:solidFill>
                <a:latin typeface="游ゴシック"/>
              </a:rPr>
              <a:t>体験＋衝動型：まず体が動く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86000" y="1044000"/>
            <a:ext cx="1764000" cy="12599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00" b="1">
                <a:solidFill>
                  <a:srgbClr val="777777"/>
                </a:solidFill>
                <a:latin typeface="游ゴシック"/>
              </a:rPr>
              <a:t>伝わり方（シンキングパターン 77）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386000" y="1195200"/>
            <a:ext cx="1764000" cy="50400"/>
          </a:xfrm>
          <a:prstGeom prst="roundRect">
            <a:avLst/>
          </a:prstGeom>
          <a:solidFill>
            <a:srgbClr val="EE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1386000" y="1195200"/>
            <a:ext cx="1323000" cy="50400"/>
          </a:xfrm>
          <a:prstGeom prst="roundRect">
            <a:avLst/>
          </a:prstGeom>
          <a:solidFill>
            <a:srgbClr val="3A86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2655000" y="1166400"/>
            <a:ext cx="108000" cy="108000"/>
          </a:xfrm>
          <a:prstGeom prst="ellipse">
            <a:avLst/>
          </a:prstGeom>
          <a:solidFill>
            <a:srgbClr val="1F5A8F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386000" y="1267200"/>
            <a:ext cx="882000" cy="10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50" b="0">
                <a:solidFill>
                  <a:srgbClr val="777777"/>
                </a:solidFill>
                <a:latin typeface="游ゴシック"/>
              </a:rPr>
              <a:t>気持ち・感動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268000" y="1267200"/>
            <a:ext cx="882000" cy="10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550" b="0">
                <a:solidFill>
                  <a:srgbClr val="777777"/>
                </a:solidFill>
                <a:latin typeface="游ゴシック"/>
              </a:rPr>
              <a:t>理屈・データ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386000" y="1368000"/>
            <a:ext cx="1764000" cy="10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00" b="1">
                <a:solidFill>
                  <a:srgbClr val="1F3A5F"/>
                </a:solidFill>
                <a:latin typeface="游ゴシック"/>
              </a:rPr>
              <a:t>ロジカル：理屈・データで受け取る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25999" y="1512000"/>
            <a:ext cx="3024000" cy="342000"/>
          </a:xfrm>
          <a:prstGeom prst="round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98000" y="1530000"/>
            <a:ext cx="576000" cy="30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50" b="1">
                <a:solidFill>
                  <a:srgbClr val="1F5A8F"/>
                </a:solidFill>
                <a:latin typeface="游ゴシック"/>
              </a:rPr>
              <a:t>わたしへの</a:t>
            </a:r>
          </a:p>
          <a:p>
            <a:pPr algn="l"/>
            <a:r>
              <a:rPr sz="550" b="1">
                <a:solidFill>
                  <a:srgbClr val="1F5A8F"/>
                </a:solidFill>
                <a:latin typeface="游ゴシック"/>
              </a:rPr>
              <a:t>ひとこと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20000" y="1530000"/>
            <a:ext cx="2015999" cy="30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00" b="1">
                <a:solidFill>
                  <a:srgbClr val="1F3A5F"/>
                </a:solidFill>
                <a:latin typeface="游ゴシック"/>
              </a:rPr>
              <a:t>大きな目標があると燃えます。</a:t>
            </a:r>
          </a:p>
          <a:p>
            <a:pPr algn="l"/>
            <a:r>
              <a:rPr sz="700" b="1">
                <a:solidFill>
                  <a:srgbClr val="1F3A5F"/>
                </a:solidFill>
                <a:latin typeface="游ゴシック"/>
              </a:rPr>
              <a:t>理由と計画をセットで伝えてください！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700000" y="1548000"/>
            <a:ext cx="413999" cy="27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50" b="1">
                <a:solidFill>
                  <a:srgbClr val="1F5A8F"/>
                </a:solidFill>
                <a:latin typeface="游ゴシック"/>
              </a:rPr>
              <a:t>Lucky</a:t>
            </a:r>
          </a:p>
          <a:p>
            <a:pPr algn="ctr"/>
            <a:r>
              <a:rPr sz="650" b="1">
                <a:solidFill>
                  <a:srgbClr val="1F5A8F"/>
                </a:solidFill>
                <a:latin typeface="游ゴシック"/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76000" cy="19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76000" cy="558000"/>
          </a:xfrm>
          <a:prstGeom prst="rect">
            <a:avLst/>
          </a:prstGeom>
          <a:solidFill>
            <a:srgbClr val="F5C5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5999" y="43200"/>
            <a:ext cx="1980000" cy="10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50" b="0">
                <a:solidFill>
                  <a:srgbClr val="1F3A5F"/>
                </a:solidFill>
                <a:latin typeface="游ゴシック"/>
              </a:rPr>
              <a:t>企業のオンライン保健室　はたらくトリセツ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5999" y="151200"/>
            <a:ext cx="2268000" cy="27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700" b="1">
                <a:solidFill>
                  <a:srgbClr val="1F3A5F"/>
                </a:solidFill>
                <a:latin typeface="游ゴシック"/>
              </a:rPr>
              <a:t>梅田 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5999" y="406799"/>
            <a:ext cx="2268000" cy="10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50" b="0">
                <a:solidFill>
                  <a:srgbClr val="1F3A5F"/>
                </a:solidFill>
                <a:latin typeface="游ゴシック"/>
              </a:rPr>
              <a:t>パワーカラー 黄：底抜けの明るさ・ムードメーカー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502000" y="79200"/>
            <a:ext cx="648000" cy="3960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502000" y="90000"/>
            <a:ext cx="648000" cy="10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777777"/>
                </a:solidFill>
                <a:latin typeface="游ゴシック"/>
              </a:rPr>
              <a:t>心のエンジン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02000" y="180000"/>
            <a:ext cx="648000" cy="19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>
                <a:solidFill>
                  <a:srgbClr val="9A7400"/>
                </a:solidFill>
                <a:latin typeface="游ゴシック"/>
              </a:rPr>
              <a:t>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02000" y="367200"/>
            <a:ext cx="648000" cy="9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450" b="0">
                <a:solidFill>
                  <a:srgbClr val="777777"/>
                </a:solidFill>
                <a:latin typeface="游ゴシック"/>
              </a:rPr>
              <a:t>情熱・喜怒哀楽が大きい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5999" y="594000"/>
            <a:ext cx="1188000" cy="10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00" b="1">
                <a:solidFill>
                  <a:srgbClr val="777777"/>
                </a:solidFill>
                <a:latin typeface="游ゴシック"/>
              </a:rPr>
              <a:t>利き脳タイプ（未判定）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25999" y="702000"/>
            <a:ext cx="558000" cy="342000"/>
          </a:xfrm>
          <a:prstGeom prst="roundRect">
            <a:avLst/>
          </a:prstGeom>
          <a:solidFill>
            <a:srgbClr val="EE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5999" y="730799"/>
            <a:ext cx="558000" cy="18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50" b="0">
                <a:solidFill>
                  <a:srgbClr val="777777"/>
                </a:solidFill>
                <a:latin typeface="游ゴシック"/>
              </a:rPr>
              <a:t>切りひらく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5999" y="900000"/>
            <a:ext cx="558000" cy="10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50" b="0">
                <a:solidFill>
                  <a:srgbClr val="777777"/>
                </a:solidFill>
                <a:latin typeface="游ゴシック"/>
              </a:rPr>
              <a:t>の人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12800" y="702000"/>
            <a:ext cx="558000" cy="342000"/>
          </a:xfrm>
          <a:prstGeom prst="roundRect">
            <a:avLst/>
          </a:prstGeom>
          <a:solidFill>
            <a:srgbClr val="EE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2800" y="730799"/>
            <a:ext cx="558000" cy="18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50" b="0">
                <a:solidFill>
                  <a:srgbClr val="777777"/>
                </a:solidFill>
                <a:latin typeface="游ゴシック"/>
              </a:rPr>
              <a:t>組み立てる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2800" y="900000"/>
            <a:ext cx="558000" cy="10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50" b="0">
                <a:solidFill>
                  <a:srgbClr val="777777"/>
                </a:solidFill>
                <a:latin typeface="游ゴシック"/>
              </a:rPr>
              <a:t>の人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25999" y="1072800"/>
            <a:ext cx="558000" cy="342000"/>
          </a:xfrm>
          <a:prstGeom prst="roundRect">
            <a:avLst/>
          </a:prstGeom>
          <a:solidFill>
            <a:srgbClr val="EE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25999" y="1101600"/>
            <a:ext cx="558000" cy="18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50" b="0">
                <a:solidFill>
                  <a:srgbClr val="777777"/>
                </a:solidFill>
                <a:latin typeface="游ゴシック"/>
              </a:rPr>
              <a:t>支える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5999" y="1270800"/>
            <a:ext cx="558000" cy="10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50" b="0">
                <a:solidFill>
                  <a:srgbClr val="777777"/>
                </a:solidFill>
                <a:latin typeface="游ゴシック"/>
              </a:rPr>
              <a:t>の人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12800" y="1072800"/>
            <a:ext cx="558000" cy="342000"/>
          </a:xfrm>
          <a:prstGeom prst="roundRect">
            <a:avLst/>
          </a:prstGeom>
          <a:solidFill>
            <a:srgbClr val="EE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2800" y="1101600"/>
            <a:ext cx="558000" cy="18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50" b="0">
                <a:solidFill>
                  <a:srgbClr val="777777"/>
                </a:solidFill>
                <a:latin typeface="游ゴシック"/>
              </a:rPr>
              <a:t>つなぐ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2800" y="1270800"/>
            <a:ext cx="558000" cy="10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50" b="0">
                <a:solidFill>
                  <a:srgbClr val="777777"/>
                </a:solidFill>
                <a:latin typeface="游ゴシック"/>
              </a:rPr>
              <a:t>の人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86000" y="594000"/>
            <a:ext cx="1764000" cy="12599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00" b="1">
                <a:solidFill>
                  <a:srgbClr val="777777"/>
                </a:solidFill>
                <a:latin typeface="游ゴシック"/>
              </a:rPr>
              <a:t>動き出し方（アクティビティレベル）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386000" y="745200"/>
            <a:ext cx="1764000" cy="50400"/>
          </a:xfrm>
          <a:prstGeom prst="roundRect">
            <a:avLst/>
          </a:prstGeom>
          <a:solidFill>
            <a:srgbClr val="EE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1386000" y="745200"/>
            <a:ext cx="52920" cy="50400"/>
          </a:xfrm>
          <a:prstGeom prst="roundRect">
            <a:avLst/>
          </a:prstGeom>
          <a:solidFill>
            <a:srgbClr val="F5C5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384920" y="716399"/>
            <a:ext cx="108000" cy="108000"/>
          </a:xfrm>
          <a:prstGeom prst="ellipse">
            <a:avLst/>
          </a:prstGeom>
          <a:solidFill>
            <a:srgbClr val="9A7400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386000" y="817200"/>
            <a:ext cx="882000" cy="10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50" b="0">
                <a:solidFill>
                  <a:srgbClr val="777777"/>
                </a:solidFill>
                <a:latin typeface="游ゴシック"/>
              </a:rPr>
              <a:t>じっくり考えて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268000" y="817200"/>
            <a:ext cx="882000" cy="10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550" b="0">
                <a:solidFill>
                  <a:srgbClr val="777777"/>
                </a:solidFill>
                <a:latin typeface="游ゴシック"/>
              </a:rPr>
              <a:t>まず体が動く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86000" y="917999"/>
            <a:ext cx="1764000" cy="10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00" b="1">
                <a:solidFill>
                  <a:srgbClr val="1F3A5F"/>
                </a:solidFill>
                <a:latin typeface="游ゴシック"/>
              </a:rPr>
              <a:t>思考型：納得するまで集めてから動く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86000" y="1044000"/>
            <a:ext cx="1764000" cy="12599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00" b="1">
                <a:solidFill>
                  <a:srgbClr val="777777"/>
                </a:solidFill>
                <a:latin typeface="游ゴシック"/>
              </a:rPr>
              <a:t>伝わり方（シンキングパターン 21）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386000" y="1195200"/>
            <a:ext cx="1764000" cy="50400"/>
          </a:xfrm>
          <a:prstGeom prst="roundRect">
            <a:avLst/>
          </a:prstGeom>
          <a:solidFill>
            <a:srgbClr val="EE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1386000" y="1195200"/>
            <a:ext cx="200454" cy="50400"/>
          </a:xfrm>
          <a:prstGeom prst="roundRect">
            <a:avLst/>
          </a:prstGeom>
          <a:solidFill>
            <a:srgbClr val="F5C5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1532454" y="1166400"/>
            <a:ext cx="108000" cy="108000"/>
          </a:xfrm>
          <a:prstGeom prst="ellipse">
            <a:avLst/>
          </a:prstGeom>
          <a:solidFill>
            <a:srgbClr val="9A7400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386000" y="1267200"/>
            <a:ext cx="882000" cy="10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50" b="0">
                <a:solidFill>
                  <a:srgbClr val="777777"/>
                </a:solidFill>
                <a:latin typeface="游ゴシック"/>
              </a:rPr>
              <a:t>気持ち・感動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268000" y="1267200"/>
            <a:ext cx="882000" cy="10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550" b="0">
                <a:solidFill>
                  <a:srgbClr val="777777"/>
                </a:solidFill>
                <a:latin typeface="游ゴシック"/>
              </a:rPr>
              <a:t>理屈・データ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386000" y="1368000"/>
            <a:ext cx="1764000" cy="10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00" b="1">
                <a:solidFill>
                  <a:srgbClr val="1F3A5F"/>
                </a:solidFill>
                <a:latin typeface="游ゴシック"/>
              </a:rPr>
              <a:t>フィーリング：気持ちで受け取る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25999" y="1512000"/>
            <a:ext cx="3024000" cy="342000"/>
          </a:xfrm>
          <a:prstGeom prst="round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98000" y="1530000"/>
            <a:ext cx="576000" cy="30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50" b="1">
                <a:solidFill>
                  <a:srgbClr val="9A7400"/>
                </a:solidFill>
                <a:latin typeface="游ゴシック"/>
              </a:rPr>
              <a:t>わたしへの</a:t>
            </a:r>
          </a:p>
          <a:p>
            <a:pPr algn="l"/>
            <a:r>
              <a:rPr sz="550" b="1">
                <a:solidFill>
                  <a:srgbClr val="9A7400"/>
                </a:solidFill>
                <a:latin typeface="游ゴシック"/>
              </a:rPr>
              <a:t>ひとこと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20000" y="1530000"/>
            <a:ext cx="2015999" cy="30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00" b="1">
                <a:solidFill>
                  <a:srgbClr val="1F3A5F"/>
                </a:solidFill>
                <a:latin typeface="游ゴシック"/>
              </a:rPr>
              <a:t>考える時間をもらえると力が出ます。</a:t>
            </a:r>
          </a:p>
          <a:p>
            <a:pPr algn="l"/>
            <a:r>
              <a:rPr sz="700" b="1">
                <a:solidFill>
                  <a:srgbClr val="1F3A5F"/>
                </a:solidFill>
                <a:latin typeface="游ゴシック"/>
              </a:rPr>
              <a:t>気持ちを込めて伝えてもらえるとうれしい！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700000" y="1548000"/>
            <a:ext cx="413999" cy="27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50" b="1">
                <a:solidFill>
                  <a:srgbClr val="9A7400"/>
                </a:solidFill>
                <a:latin typeface="游ゴシック"/>
              </a:rPr>
              <a:t>Lucky</a:t>
            </a:r>
          </a:p>
          <a:p>
            <a:pPr algn="ctr"/>
            <a:r>
              <a:rPr sz="650" b="1">
                <a:solidFill>
                  <a:srgbClr val="9A7400"/>
                </a:solidFill>
                <a:latin typeface="游ゴシック"/>
              </a:rPr>
              <a:t>3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76000" cy="19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76000" cy="558000"/>
          </a:xfrm>
          <a:prstGeom prst="rect">
            <a:avLst/>
          </a:prstGeom>
          <a:solidFill>
            <a:srgbClr val="D945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5999" y="43200"/>
            <a:ext cx="1980000" cy="10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50" b="0">
                <a:solidFill>
                  <a:srgbClr val="FFFFFF"/>
                </a:solidFill>
                <a:latin typeface="游ゴシック"/>
              </a:rPr>
              <a:t>企業のオンライン保健室　はたらくトリセツ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5999" y="151200"/>
            <a:ext cx="2268000" cy="27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游ゴシック"/>
              </a:rPr>
              <a:t>楠本 耕大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5999" y="406799"/>
            <a:ext cx="2268000" cy="10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50" b="0">
                <a:solidFill>
                  <a:srgbClr val="FFFFFF"/>
                </a:solidFill>
                <a:latin typeface="游ゴシック"/>
              </a:rPr>
              <a:t>パワーカラー 赤：情熱的・リーダー的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502000" y="79200"/>
            <a:ext cx="648000" cy="3960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502000" y="90000"/>
            <a:ext cx="648000" cy="10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777777"/>
                </a:solidFill>
                <a:latin typeface="游ゴシック"/>
              </a:rPr>
              <a:t>心のエンジン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02000" y="180000"/>
            <a:ext cx="648000" cy="19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>
                <a:solidFill>
                  <a:srgbClr val="9E241C"/>
                </a:solidFill>
                <a:latin typeface="游ゴシック"/>
              </a:rPr>
              <a:t>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02000" y="367200"/>
            <a:ext cx="648000" cy="9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450" b="0">
                <a:solidFill>
                  <a:srgbClr val="777777"/>
                </a:solidFill>
                <a:latin typeface="游ゴシック"/>
              </a:rPr>
              <a:t>ポジティブ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5999" y="594000"/>
            <a:ext cx="1188000" cy="10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00" b="1">
                <a:solidFill>
                  <a:srgbClr val="777777"/>
                </a:solidFill>
                <a:latin typeface="游ゴシック"/>
              </a:rPr>
              <a:t>利き脳タイプ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25999" y="702000"/>
            <a:ext cx="558000" cy="342000"/>
          </a:xfrm>
          <a:prstGeom prst="roundRect">
            <a:avLst/>
          </a:prstGeom>
          <a:solidFill>
            <a:srgbClr val="EE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5999" y="730799"/>
            <a:ext cx="558000" cy="18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50" b="0">
                <a:solidFill>
                  <a:srgbClr val="777777"/>
                </a:solidFill>
                <a:latin typeface="游ゴシック"/>
              </a:rPr>
              <a:t>切りひらく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5999" y="900000"/>
            <a:ext cx="558000" cy="10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50" b="0">
                <a:solidFill>
                  <a:srgbClr val="777777"/>
                </a:solidFill>
                <a:latin typeface="游ゴシック"/>
              </a:rPr>
              <a:t>の人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12800" y="702000"/>
            <a:ext cx="558000" cy="342000"/>
          </a:xfrm>
          <a:prstGeom prst="roundRect">
            <a:avLst/>
          </a:prstGeom>
          <a:solidFill>
            <a:srgbClr val="EE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2800" y="730799"/>
            <a:ext cx="558000" cy="18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50" b="0">
                <a:solidFill>
                  <a:srgbClr val="777777"/>
                </a:solidFill>
                <a:latin typeface="游ゴシック"/>
              </a:rPr>
              <a:t>組み立てる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2800" y="900000"/>
            <a:ext cx="558000" cy="10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50" b="0">
                <a:solidFill>
                  <a:srgbClr val="777777"/>
                </a:solidFill>
                <a:latin typeface="游ゴシック"/>
              </a:rPr>
              <a:t>の人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25999" y="1072800"/>
            <a:ext cx="558000" cy="342000"/>
          </a:xfrm>
          <a:prstGeom prst="roundRect">
            <a:avLst/>
          </a:prstGeom>
          <a:solidFill>
            <a:srgbClr val="EE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25999" y="1101600"/>
            <a:ext cx="558000" cy="18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50" b="0">
                <a:solidFill>
                  <a:srgbClr val="777777"/>
                </a:solidFill>
                <a:latin typeface="游ゴシック"/>
              </a:rPr>
              <a:t>支える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5999" y="1270800"/>
            <a:ext cx="558000" cy="10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50" b="0">
                <a:solidFill>
                  <a:srgbClr val="777777"/>
                </a:solidFill>
                <a:latin typeface="游ゴシック"/>
              </a:rPr>
              <a:t>の人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12800" y="1072800"/>
            <a:ext cx="558000" cy="342000"/>
          </a:xfrm>
          <a:prstGeom prst="roundRect">
            <a:avLst/>
          </a:prstGeom>
          <a:solidFill>
            <a:srgbClr val="C25B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2800" y="1101600"/>
            <a:ext cx="558000" cy="18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  <a:latin typeface="游ゴシック"/>
              </a:rPr>
              <a:t>つなぐ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2800" y="1270800"/>
            <a:ext cx="558000" cy="10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50" b="1">
                <a:solidFill>
                  <a:srgbClr val="FFFFFF"/>
                </a:solidFill>
                <a:latin typeface="游ゴシック"/>
              </a:rPr>
              <a:t>の人 ★あなた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86000" y="594000"/>
            <a:ext cx="1764000" cy="12599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00" b="1">
                <a:solidFill>
                  <a:srgbClr val="777777"/>
                </a:solidFill>
                <a:latin typeface="游ゴシック"/>
              </a:rPr>
              <a:t>動き出し方（アクティビティレベル）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386000" y="745200"/>
            <a:ext cx="1764000" cy="50400"/>
          </a:xfrm>
          <a:prstGeom prst="roundRect">
            <a:avLst/>
          </a:prstGeom>
          <a:solidFill>
            <a:srgbClr val="EE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1386000" y="745200"/>
            <a:ext cx="335474" cy="50400"/>
          </a:xfrm>
          <a:prstGeom prst="roundRect">
            <a:avLst/>
          </a:prstGeom>
          <a:solidFill>
            <a:srgbClr val="D945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667474" y="716399"/>
            <a:ext cx="108000" cy="108000"/>
          </a:xfrm>
          <a:prstGeom prst="ellipse">
            <a:avLst/>
          </a:prstGeom>
          <a:solidFill>
            <a:srgbClr val="9E241C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386000" y="817200"/>
            <a:ext cx="882000" cy="10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50" b="0">
                <a:solidFill>
                  <a:srgbClr val="777777"/>
                </a:solidFill>
                <a:latin typeface="游ゴシック"/>
              </a:rPr>
              <a:t>じっくり考えて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268000" y="817200"/>
            <a:ext cx="882000" cy="10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550" b="0">
                <a:solidFill>
                  <a:srgbClr val="777777"/>
                </a:solidFill>
                <a:latin typeface="游ゴシック"/>
              </a:rPr>
              <a:t>まず体が動く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86000" y="917999"/>
            <a:ext cx="1764000" cy="10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00" b="1">
                <a:solidFill>
                  <a:srgbClr val="1F3A5F"/>
                </a:solidFill>
                <a:latin typeface="游ゴシック"/>
              </a:rPr>
              <a:t>思考型：納得するまで集めてから動く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86000" y="1044000"/>
            <a:ext cx="1764000" cy="12599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00" b="1">
                <a:solidFill>
                  <a:srgbClr val="777777"/>
                </a:solidFill>
                <a:latin typeface="游ゴシック"/>
              </a:rPr>
              <a:t>伝わり方（シンキングパターン 28）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386000" y="1195200"/>
            <a:ext cx="1764000" cy="50400"/>
          </a:xfrm>
          <a:prstGeom prst="roundRect">
            <a:avLst/>
          </a:prstGeom>
          <a:solidFill>
            <a:srgbClr val="EE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1386000" y="1195200"/>
            <a:ext cx="340772" cy="50400"/>
          </a:xfrm>
          <a:prstGeom prst="roundRect">
            <a:avLst/>
          </a:prstGeom>
          <a:solidFill>
            <a:srgbClr val="D945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1672772" y="1166400"/>
            <a:ext cx="108000" cy="108000"/>
          </a:xfrm>
          <a:prstGeom prst="ellipse">
            <a:avLst/>
          </a:prstGeom>
          <a:solidFill>
            <a:srgbClr val="9E241C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386000" y="1267200"/>
            <a:ext cx="882000" cy="10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50" b="0">
                <a:solidFill>
                  <a:srgbClr val="777777"/>
                </a:solidFill>
                <a:latin typeface="游ゴシック"/>
              </a:rPr>
              <a:t>気持ち・感動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268000" y="1267200"/>
            <a:ext cx="882000" cy="10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550" b="0">
                <a:solidFill>
                  <a:srgbClr val="777777"/>
                </a:solidFill>
                <a:latin typeface="游ゴシック"/>
              </a:rPr>
              <a:t>理屈・データ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386000" y="1368000"/>
            <a:ext cx="1764000" cy="10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00" b="1">
                <a:solidFill>
                  <a:srgbClr val="1F3A5F"/>
                </a:solidFill>
                <a:latin typeface="游ゴシック"/>
              </a:rPr>
              <a:t>フィーリング：気持ちで受け取る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25999" y="1512000"/>
            <a:ext cx="3024000" cy="342000"/>
          </a:xfrm>
          <a:prstGeom prst="round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98000" y="1530000"/>
            <a:ext cx="576000" cy="30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50" b="1">
                <a:solidFill>
                  <a:srgbClr val="9E241C"/>
                </a:solidFill>
                <a:latin typeface="游ゴシック"/>
              </a:rPr>
              <a:t>わたしへの</a:t>
            </a:r>
          </a:p>
          <a:p>
            <a:pPr algn="l"/>
            <a:r>
              <a:rPr sz="550" b="1">
                <a:solidFill>
                  <a:srgbClr val="9E241C"/>
                </a:solidFill>
                <a:latin typeface="游ゴシック"/>
              </a:rPr>
              <a:t>ひとこと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20000" y="1530000"/>
            <a:ext cx="2015999" cy="30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00" b="1">
                <a:solidFill>
                  <a:srgbClr val="1F3A5F"/>
                </a:solidFill>
                <a:latin typeface="游ゴシック"/>
              </a:rPr>
              <a:t>足りない情報を先にもらえると動けます。</a:t>
            </a:r>
          </a:p>
          <a:p>
            <a:pPr algn="l"/>
            <a:r>
              <a:rPr sz="700" b="1">
                <a:solidFill>
                  <a:srgbClr val="1F3A5F"/>
                </a:solidFill>
                <a:latin typeface="游ゴシック"/>
              </a:rPr>
              <a:t>掛け声ひとつで集中モードに入ります！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700000" y="1548000"/>
            <a:ext cx="413999" cy="27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50" b="1">
                <a:solidFill>
                  <a:srgbClr val="9E241C"/>
                </a:solidFill>
                <a:latin typeface="游ゴシック"/>
              </a:rPr>
              <a:t>Lucky</a:t>
            </a:r>
          </a:p>
          <a:p>
            <a:pPr algn="ctr"/>
            <a:r>
              <a:rPr sz="650" b="1">
                <a:solidFill>
                  <a:srgbClr val="9E241C"/>
                </a:solidFill>
                <a:latin typeface="游ゴシック"/>
              </a:rP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76000" cy="19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76000" cy="558000"/>
          </a:xfrm>
          <a:prstGeom prst="rect">
            <a:avLst/>
          </a:prstGeom>
          <a:solidFill>
            <a:srgbClr val="D945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5999" y="43200"/>
            <a:ext cx="1980000" cy="10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50" b="0">
                <a:solidFill>
                  <a:srgbClr val="FFFFFF"/>
                </a:solidFill>
                <a:latin typeface="游ゴシック"/>
              </a:rPr>
              <a:t>企業のオンライン保健室　はたらくトリセツ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5999" y="151200"/>
            <a:ext cx="2268000" cy="27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游ゴシック"/>
              </a:rPr>
              <a:t>澤田 香織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5999" y="406799"/>
            <a:ext cx="2268000" cy="10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50" b="0">
                <a:solidFill>
                  <a:srgbClr val="FFFFFF"/>
                </a:solidFill>
                <a:latin typeface="游ゴシック"/>
              </a:rPr>
              <a:t>パワーカラー 赤：情熱的・リーダー的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502000" y="79200"/>
            <a:ext cx="648000" cy="3960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502000" y="90000"/>
            <a:ext cx="648000" cy="10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777777"/>
                </a:solidFill>
                <a:latin typeface="游ゴシック"/>
              </a:rPr>
              <a:t>心のエンジン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02000" y="180000"/>
            <a:ext cx="648000" cy="19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>
                <a:solidFill>
                  <a:srgbClr val="9E241C"/>
                </a:solidFill>
                <a:latin typeface="游ゴシック"/>
              </a:rPr>
              <a:t>宙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02000" y="367200"/>
            <a:ext cx="648000" cy="9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450" b="0">
                <a:solidFill>
                  <a:srgbClr val="777777"/>
                </a:solidFill>
                <a:latin typeface="游ゴシック"/>
              </a:rPr>
              <a:t>決めたらぶれない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5999" y="594000"/>
            <a:ext cx="1188000" cy="10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00" b="1">
                <a:solidFill>
                  <a:srgbClr val="777777"/>
                </a:solidFill>
                <a:latin typeface="游ゴシック"/>
              </a:rPr>
              <a:t>利き脳タイプ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25999" y="702000"/>
            <a:ext cx="558000" cy="342000"/>
          </a:xfrm>
          <a:prstGeom prst="roundRect">
            <a:avLst/>
          </a:prstGeom>
          <a:solidFill>
            <a:srgbClr val="EE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5999" y="730799"/>
            <a:ext cx="558000" cy="18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50" b="0">
                <a:solidFill>
                  <a:srgbClr val="777777"/>
                </a:solidFill>
                <a:latin typeface="游ゴシック"/>
              </a:rPr>
              <a:t>切りひらく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5999" y="900000"/>
            <a:ext cx="558000" cy="10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50" b="0">
                <a:solidFill>
                  <a:srgbClr val="777777"/>
                </a:solidFill>
                <a:latin typeface="游ゴシック"/>
              </a:rPr>
              <a:t>の人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12800" y="702000"/>
            <a:ext cx="558000" cy="342000"/>
          </a:xfrm>
          <a:prstGeom prst="roundRect">
            <a:avLst/>
          </a:prstGeom>
          <a:solidFill>
            <a:srgbClr val="EE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2800" y="730799"/>
            <a:ext cx="558000" cy="18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50" b="0">
                <a:solidFill>
                  <a:srgbClr val="777777"/>
                </a:solidFill>
                <a:latin typeface="游ゴシック"/>
              </a:rPr>
              <a:t>組み立てる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2800" y="900000"/>
            <a:ext cx="558000" cy="10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50" b="0">
                <a:solidFill>
                  <a:srgbClr val="777777"/>
                </a:solidFill>
                <a:latin typeface="游ゴシック"/>
              </a:rPr>
              <a:t>の人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25999" y="1072800"/>
            <a:ext cx="558000" cy="342000"/>
          </a:xfrm>
          <a:prstGeom prst="roundRect">
            <a:avLst/>
          </a:prstGeom>
          <a:solidFill>
            <a:srgbClr val="EE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25999" y="1101600"/>
            <a:ext cx="558000" cy="18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50" b="0">
                <a:solidFill>
                  <a:srgbClr val="777777"/>
                </a:solidFill>
                <a:latin typeface="游ゴシック"/>
              </a:rPr>
              <a:t>支える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5999" y="1270800"/>
            <a:ext cx="558000" cy="10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50" b="0">
                <a:solidFill>
                  <a:srgbClr val="777777"/>
                </a:solidFill>
                <a:latin typeface="游ゴシック"/>
              </a:rPr>
              <a:t>の人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12800" y="1072800"/>
            <a:ext cx="558000" cy="342000"/>
          </a:xfrm>
          <a:prstGeom prst="roundRect">
            <a:avLst/>
          </a:prstGeom>
          <a:solidFill>
            <a:srgbClr val="C25B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2800" y="1101600"/>
            <a:ext cx="558000" cy="18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  <a:latin typeface="游ゴシック"/>
              </a:rPr>
              <a:t>つなぐ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2800" y="1270800"/>
            <a:ext cx="558000" cy="10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50" b="1">
                <a:solidFill>
                  <a:srgbClr val="FFFFFF"/>
                </a:solidFill>
                <a:latin typeface="游ゴシック"/>
              </a:rPr>
              <a:t>の人 ★あなた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86000" y="594000"/>
            <a:ext cx="1764000" cy="12599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00" b="1">
                <a:solidFill>
                  <a:srgbClr val="777777"/>
                </a:solidFill>
                <a:latin typeface="游ゴシック"/>
              </a:rPr>
              <a:t>動き出し方（アクティビティレベル）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386000" y="745200"/>
            <a:ext cx="1764000" cy="50400"/>
          </a:xfrm>
          <a:prstGeom prst="roundRect">
            <a:avLst/>
          </a:prstGeom>
          <a:solidFill>
            <a:srgbClr val="EE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1386000" y="745200"/>
            <a:ext cx="140030" cy="50400"/>
          </a:xfrm>
          <a:prstGeom prst="roundRect">
            <a:avLst/>
          </a:prstGeom>
          <a:solidFill>
            <a:srgbClr val="D945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472030" y="716399"/>
            <a:ext cx="108000" cy="108000"/>
          </a:xfrm>
          <a:prstGeom prst="ellipse">
            <a:avLst/>
          </a:prstGeom>
          <a:solidFill>
            <a:srgbClr val="9E241C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386000" y="817200"/>
            <a:ext cx="882000" cy="10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50" b="0">
                <a:solidFill>
                  <a:srgbClr val="777777"/>
                </a:solidFill>
                <a:latin typeface="游ゴシック"/>
              </a:rPr>
              <a:t>じっくり考えて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268000" y="817200"/>
            <a:ext cx="882000" cy="10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550" b="0">
                <a:solidFill>
                  <a:srgbClr val="777777"/>
                </a:solidFill>
                <a:latin typeface="游ゴシック"/>
              </a:rPr>
              <a:t>まず体が動く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86000" y="917999"/>
            <a:ext cx="1764000" cy="10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00" b="1">
                <a:solidFill>
                  <a:srgbClr val="1F3A5F"/>
                </a:solidFill>
                <a:latin typeface="游ゴシック"/>
              </a:rPr>
              <a:t>思考型：納得するまで集めてから動く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86000" y="1044000"/>
            <a:ext cx="1764000" cy="12599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00" b="1">
                <a:solidFill>
                  <a:srgbClr val="777777"/>
                </a:solidFill>
                <a:latin typeface="游ゴシック"/>
              </a:rPr>
              <a:t>伝わり方（シンキングパターン 91）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386000" y="1195200"/>
            <a:ext cx="1764000" cy="50400"/>
          </a:xfrm>
          <a:prstGeom prst="roundRect">
            <a:avLst/>
          </a:prstGeom>
          <a:solidFill>
            <a:srgbClr val="EE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1386000" y="1195200"/>
            <a:ext cx="1603636" cy="50400"/>
          </a:xfrm>
          <a:prstGeom prst="roundRect">
            <a:avLst/>
          </a:prstGeom>
          <a:solidFill>
            <a:srgbClr val="D945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2935636" y="1166400"/>
            <a:ext cx="108000" cy="108000"/>
          </a:xfrm>
          <a:prstGeom prst="ellipse">
            <a:avLst/>
          </a:prstGeom>
          <a:solidFill>
            <a:srgbClr val="9E241C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386000" y="1267200"/>
            <a:ext cx="882000" cy="10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50" b="0">
                <a:solidFill>
                  <a:srgbClr val="777777"/>
                </a:solidFill>
                <a:latin typeface="游ゴシック"/>
              </a:rPr>
              <a:t>気持ち・感動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268000" y="1267200"/>
            <a:ext cx="882000" cy="10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550" b="0">
                <a:solidFill>
                  <a:srgbClr val="777777"/>
                </a:solidFill>
                <a:latin typeface="游ゴシック"/>
              </a:rPr>
              <a:t>理屈・データ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386000" y="1368000"/>
            <a:ext cx="1764000" cy="10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00" b="1">
                <a:solidFill>
                  <a:srgbClr val="1F3A5F"/>
                </a:solidFill>
                <a:latin typeface="游ゴシック"/>
              </a:rPr>
              <a:t>ロジカル：理屈・データで受け取る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25999" y="1512000"/>
            <a:ext cx="3024000" cy="342000"/>
          </a:xfrm>
          <a:prstGeom prst="round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98000" y="1530000"/>
            <a:ext cx="576000" cy="30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50" b="1">
                <a:solidFill>
                  <a:srgbClr val="9E241C"/>
                </a:solidFill>
                <a:latin typeface="游ゴシック"/>
              </a:rPr>
              <a:t>わたしへの</a:t>
            </a:r>
          </a:p>
          <a:p>
            <a:pPr algn="l"/>
            <a:r>
              <a:rPr sz="550" b="1">
                <a:solidFill>
                  <a:srgbClr val="9E241C"/>
                </a:solidFill>
                <a:latin typeface="游ゴシック"/>
              </a:rPr>
              <a:t>ひとこと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20000" y="1530000"/>
            <a:ext cx="2015999" cy="30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00" b="1">
                <a:solidFill>
                  <a:srgbClr val="1F3A5F"/>
                </a:solidFill>
                <a:latin typeface="游ゴシック"/>
              </a:rPr>
              <a:t>データと理由で話してもらえると早いです。</a:t>
            </a:r>
          </a:p>
          <a:p>
            <a:pPr algn="l"/>
            <a:r>
              <a:rPr sz="700" b="1">
                <a:solidFill>
                  <a:srgbClr val="1F3A5F"/>
                </a:solidFill>
                <a:latin typeface="游ゴシック"/>
              </a:rPr>
              <a:t>決めたことはぶれずにやり切ります！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700000" y="1548000"/>
            <a:ext cx="413999" cy="27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50" b="1">
                <a:solidFill>
                  <a:srgbClr val="9E241C"/>
                </a:solidFill>
                <a:latin typeface="游ゴシック"/>
              </a:rPr>
              <a:t>Lucky</a:t>
            </a:r>
          </a:p>
          <a:p>
            <a:pPr algn="ctr"/>
            <a:r>
              <a:rPr sz="650" b="1">
                <a:solidFill>
                  <a:srgbClr val="9E241C"/>
                </a:solidFill>
                <a:latin typeface="游ゴシック"/>
              </a:rPr>
              <a:t>3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76000" cy="19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76000" cy="558000"/>
          </a:xfrm>
          <a:prstGeom prst="rect">
            <a:avLst/>
          </a:prstGeom>
          <a:solidFill>
            <a:srgbClr val="2E4A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5999" y="43200"/>
            <a:ext cx="1980000" cy="10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50" b="0">
                <a:solidFill>
                  <a:srgbClr val="FFFFFF"/>
                </a:solidFill>
                <a:latin typeface="游ゴシック"/>
              </a:rPr>
              <a:t>企業のオンライン保健室　はたらくトリセツ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5999" y="151200"/>
            <a:ext cx="2268000" cy="27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游ゴシック"/>
              </a:rPr>
              <a:t>王 宝梁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5999" y="406799"/>
            <a:ext cx="2268000" cy="10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50" b="0">
                <a:solidFill>
                  <a:srgbClr val="FFFFFF"/>
                </a:solidFill>
                <a:latin typeface="游ゴシック"/>
              </a:rPr>
              <a:t>パワーカラー 藍：センスの良さ・器用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502000" y="79200"/>
            <a:ext cx="648000" cy="3960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502000" y="90000"/>
            <a:ext cx="648000" cy="10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777777"/>
                </a:solidFill>
                <a:latin typeface="游ゴシック"/>
              </a:rPr>
              <a:t>心のエンジン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02000" y="180000"/>
            <a:ext cx="648000" cy="19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>
                <a:solidFill>
                  <a:srgbClr val="1C2E5A"/>
                </a:solidFill>
                <a:latin typeface="游ゴシック"/>
              </a:rPr>
              <a:t>陽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02000" y="367200"/>
            <a:ext cx="648000" cy="9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450" b="0">
                <a:solidFill>
                  <a:srgbClr val="777777"/>
                </a:solidFill>
                <a:latin typeface="游ゴシック"/>
              </a:rPr>
              <a:t>まじめ・誠実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5999" y="594000"/>
            <a:ext cx="1188000" cy="10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00" b="1">
                <a:solidFill>
                  <a:srgbClr val="777777"/>
                </a:solidFill>
                <a:latin typeface="游ゴシック"/>
              </a:rPr>
              <a:t>利き脳タイプ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25999" y="702000"/>
            <a:ext cx="558000" cy="342000"/>
          </a:xfrm>
          <a:prstGeom prst="roundRect">
            <a:avLst/>
          </a:prstGeom>
          <a:solidFill>
            <a:srgbClr val="EE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5999" y="730799"/>
            <a:ext cx="558000" cy="18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50" b="0">
                <a:solidFill>
                  <a:srgbClr val="777777"/>
                </a:solidFill>
                <a:latin typeface="游ゴシック"/>
              </a:rPr>
              <a:t>切りひらく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5999" y="900000"/>
            <a:ext cx="558000" cy="10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50" b="0">
                <a:solidFill>
                  <a:srgbClr val="777777"/>
                </a:solidFill>
                <a:latin typeface="游ゴシック"/>
              </a:rPr>
              <a:t>の人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12800" y="702000"/>
            <a:ext cx="558000" cy="342000"/>
          </a:xfrm>
          <a:prstGeom prst="roundRect">
            <a:avLst/>
          </a:prstGeom>
          <a:solidFill>
            <a:srgbClr val="3A7C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2800" y="730799"/>
            <a:ext cx="558000" cy="18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  <a:latin typeface="游ゴシック"/>
              </a:rPr>
              <a:t>組み立てる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2800" y="900000"/>
            <a:ext cx="558000" cy="10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50" b="1">
                <a:solidFill>
                  <a:srgbClr val="FFFFFF"/>
                </a:solidFill>
                <a:latin typeface="游ゴシック"/>
              </a:rPr>
              <a:t>の人 ★あなた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25999" y="1072800"/>
            <a:ext cx="558000" cy="342000"/>
          </a:xfrm>
          <a:prstGeom prst="roundRect">
            <a:avLst/>
          </a:prstGeom>
          <a:solidFill>
            <a:srgbClr val="EE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25999" y="1101600"/>
            <a:ext cx="558000" cy="18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50" b="0">
                <a:solidFill>
                  <a:srgbClr val="777777"/>
                </a:solidFill>
                <a:latin typeface="游ゴシック"/>
              </a:rPr>
              <a:t>支える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5999" y="1270800"/>
            <a:ext cx="558000" cy="10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50" b="0">
                <a:solidFill>
                  <a:srgbClr val="777777"/>
                </a:solidFill>
                <a:latin typeface="游ゴシック"/>
              </a:rPr>
              <a:t>の人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12800" y="1072800"/>
            <a:ext cx="558000" cy="342000"/>
          </a:xfrm>
          <a:prstGeom prst="roundRect">
            <a:avLst/>
          </a:prstGeom>
          <a:solidFill>
            <a:srgbClr val="EE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2800" y="1101600"/>
            <a:ext cx="558000" cy="18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50" b="0">
                <a:solidFill>
                  <a:srgbClr val="777777"/>
                </a:solidFill>
                <a:latin typeface="游ゴシック"/>
              </a:rPr>
              <a:t>つなぐ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2800" y="1270800"/>
            <a:ext cx="558000" cy="10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50" b="0">
                <a:solidFill>
                  <a:srgbClr val="777777"/>
                </a:solidFill>
                <a:latin typeface="游ゴシック"/>
              </a:rPr>
              <a:t>の人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86000" y="594000"/>
            <a:ext cx="1764000" cy="12599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00" b="1">
                <a:solidFill>
                  <a:srgbClr val="777777"/>
                </a:solidFill>
                <a:latin typeface="游ゴシック"/>
              </a:rPr>
              <a:t>動き出し方（アクティビティレベル）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386000" y="745200"/>
            <a:ext cx="1764000" cy="50400"/>
          </a:xfrm>
          <a:prstGeom prst="roundRect">
            <a:avLst/>
          </a:prstGeom>
          <a:solidFill>
            <a:srgbClr val="EE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1386000" y="745200"/>
            <a:ext cx="98845" cy="50400"/>
          </a:xfrm>
          <a:prstGeom prst="roundRect">
            <a:avLst/>
          </a:prstGeom>
          <a:solidFill>
            <a:srgbClr val="2E4A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430845" y="716399"/>
            <a:ext cx="108000" cy="108000"/>
          </a:xfrm>
          <a:prstGeom prst="ellipse">
            <a:avLst/>
          </a:prstGeom>
          <a:solidFill>
            <a:srgbClr val="1C2E5A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386000" y="817200"/>
            <a:ext cx="882000" cy="10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50" b="0">
                <a:solidFill>
                  <a:srgbClr val="777777"/>
                </a:solidFill>
                <a:latin typeface="游ゴシック"/>
              </a:rPr>
              <a:t>じっくり考えて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268000" y="817200"/>
            <a:ext cx="882000" cy="10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550" b="0">
                <a:solidFill>
                  <a:srgbClr val="777777"/>
                </a:solidFill>
                <a:latin typeface="游ゴシック"/>
              </a:rPr>
              <a:t>まず体が動く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86000" y="917999"/>
            <a:ext cx="1764000" cy="10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00" b="1">
                <a:solidFill>
                  <a:srgbClr val="1F3A5F"/>
                </a:solidFill>
                <a:latin typeface="游ゴシック"/>
              </a:rPr>
              <a:t>思考型：納得するまで集めてから動く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86000" y="1044000"/>
            <a:ext cx="1764000" cy="12599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00" b="1">
                <a:solidFill>
                  <a:srgbClr val="777777"/>
                </a:solidFill>
                <a:latin typeface="游ゴシック"/>
              </a:rPr>
              <a:t>伝わり方（シンキングパターン 42）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386000" y="1195200"/>
            <a:ext cx="1764000" cy="50400"/>
          </a:xfrm>
          <a:prstGeom prst="roundRect">
            <a:avLst/>
          </a:prstGeom>
          <a:solidFill>
            <a:srgbClr val="EE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1386000" y="1195200"/>
            <a:ext cx="621409" cy="50400"/>
          </a:xfrm>
          <a:prstGeom prst="roundRect">
            <a:avLst/>
          </a:prstGeom>
          <a:solidFill>
            <a:srgbClr val="2E4A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1953409" y="1166400"/>
            <a:ext cx="108000" cy="108000"/>
          </a:xfrm>
          <a:prstGeom prst="ellipse">
            <a:avLst/>
          </a:prstGeom>
          <a:solidFill>
            <a:srgbClr val="1C2E5A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386000" y="1267200"/>
            <a:ext cx="882000" cy="10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50" b="0">
                <a:solidFill>
                  <a:srgbClr val="777777"/>
                </a:solidFill>
                <a:latin typeface="游ゴシック"/>
              </a:rPr>
              <a:t>気持ち・感動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268000" y="1267200"/>
            <a:ext cx="882000" cy="10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550" b="0">
                <a:solidFill>
                  <a:srgbClr val="777777"/>
                </a:solidFill>
                <a:latin typeface="游ゴシック"/>
              </a:rPr>
              <a:t>理屈・データ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386000" y="1368000"/>
            <a:ext cx="1764000" cy="10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00" b="1">
                <a:solidFill>
                  <a:srgbClr val="1F3A5F"/>
                </a:solidFill>
                <a:latin typeface="游ゴシック"/>
              </a:rPr>
              <a:t>両方：気持ちも理屈も使える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25999" y="1512000"/>
            <a:ext cx="3024000" cy="342000"/>
          </a:xfrm>
          <a:prstGeom prst="round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98000" y="1530000"/>
            <a:ext cx="576000" cy="30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50" b="1">
                <a:solidFill>
                  <a:srgbClr val="1C2E5A"/>
                </a:solidFill>
                <a:latin typeface="游ゴシック"/>
              </a:rPr>
              <a:t>わたしへの</a:t>
            </a:r>
          </a:p>
          <a:p>
            <a:pPr algn="l"/>
            <a:r>
              <a:rPr sz="550" b="1">
                <a:solidFill>
                  <a:srgbClr val="1C2E5A"/>
                </a:solidFill>
                <a:latin typeface="游ゴシック"/>
              </a:rPr>
              <a:t>ひとこと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20000" y="1530000"/>
            <a:ext cx="2015999" cy="30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00" b="1">
                <a:solidFill>
                  <a:srgbClr val="1F3A5F"/>
                </a:solidFill>
                <a:latin typeface="游ゴシック"/>
              </a:rPr>
              <a:t>しっかり準備して臨みたいタイプです。</a:t>
            </a:r>
          </a:p>
          <a:p>
            <a:pPr algn="l"/>
            <a:r>
              <a:rPr sz="700" b="1">
                <a:solidFill>
                  <a:srgbClr val="1F3A5F"/>
                </a:solidFill>
                <a:latin typeface="游ゴシック"/>
              </a:rPr>
              <a:t>目的と計画が見えると力が出ます！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700000" y="1548000"/>
            <a:ext cx="413999" cy="27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50" b="1">
                <a:solidFill>
                  <a:srgbClr val="1C2E5A"/>
                </a:solidFill>
                <a:latin typeface="游ゴシック"/>
              </a:rPr>
              <a:t>Lucky</a:t>
            </a:r>
          </a:p>
          <a:p>
            <a:pPr algn="ctr"/>
            <a:r>
              <a:rPr sz="650" b="1">
                <a:solidFill>
                  <a:srgbClr val="1C2E5A"/>
                </a:solidFill>
                <a:latin typeface="游ゴシック"/>
              </a:rPr>
              <a:t>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76000" cy="19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76000" cy="558000"/>
          </a:xfrm>
          <a:prstGeom prst="rect">
            <a:avLst/>
          </a:prstGeom>
          <a:solidFill>
            <a:srgbClr val="3A86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5999" y="43200"/>
            <a:ext cx="1980000" cy="10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50" b="0">
                <a:solidFill>
                  <a:srgbClr val="FFFFFF"/>
                </a:solidFill>
                <a:latin typeface="游ゴシック"/>
              </a:rPr>
              <a:t>企業のオンライン保健室　はたらくトリセツ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5999" y="151200"/>
            <a:ext cx="2268000" cy="27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游ゴシック"/>
              </a:rPr>
              <a:t>石渡 美紀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5999" y="406799"/>
            <a:ext cx="2268000" cy="10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50" b="0">
                <a:solidFill>
                  <a:srgbClr val="FFFFFF"/>
                </a:solidFill>
                <a:latin typeface="游ゴシック"/>
              </a:rPr>
              <a:t>パワーカラー 青：動じない雰囲気・クールに見える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502000" y="79200"/>
            <a:ext cx="648000" cy="3960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502000" y="90000"/>
            <a:ext cx="648000" cy="10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777777"/>
                </a:solidFill>
                <a:latin typeface="游ゴシック"/>
              </a:rPr>
              <a:t>心のエンジン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02000" y="180000"/>
            <a:ext cx="648000" cy="19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>
                <a:solidFill>
                  <a:srgbClr val="1F5A8F"/>
                </a:solidFill>
                <a:latin typeface="游ゴシック"/>
              </a:rPr>
              <a:t>海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02000" y="367200"/>
            <a:ext cx="648000" cy="9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450" b="0">
                <a:solidFill>
                  <a:srgbClr val="777777"/>
                </a:solidFill>
                <a:latin typeface="游ゴシック"/>
              </a:rPr>
              <a:t>しなやか・柔軟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5999" y="594000"/>
            <a:ext cx="1188000" cy="10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00" b="1">
                <a:solidFill>
                  <a:srgbClr val="777777"/>
                </a:solidFill>
                <a:latin typeface="游ゴシック"/>
              </a:rPr>
              <a:t>利き脳タイプ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25999" y="702000"/>
            <a:ext cx="558000" cy="342000"/>
          </a:xfrm>
          <a:prstGeom prst="roundRect">
            <a:avLst/>
          </a:prstGeom>
          <a:solidFill>
            <a:srgbClr val="E86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5999" y="730799"/>
            <a:ext cx="558000" cy="18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  <a:latin typeface="游ゴシック"/>
              </a:rPr>
              <a:t>切りひらく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5999" y="900000"/>
            <a:ext cx="558000" cy="10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50" b="1">
                <a:solidFill>
                  <a:srgbClr val="FFFFFF"/>
                </a:solidFill>
                <a:latin typeface="游ゴシック"/>
              </a:rPr>
              <a:t>の人 ★あなた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12800" y="702000"/>
            <a:ext cx="558000" cy="342000"/>
          </a:xfrm>
          <a:prstGeom prst="roundRect">
            <a:avLst/>
          </a:prstGeom>
          <a:solidFill>
            <a:srgbClr val="EE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2800" y="730799"/>
            <a:ext cx="558000" cy="18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50" b="0">
                <a:solidFill>
                  <a:srgbClr val="777777"/>
                </a:solidFill>
                <a:latin typeface="游ゴシック"/>
              </a:rPr>
              <a:t>組み立てる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2800" y="900000"/>
            <a:ext cx="558000" cy="10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50" b="0">
                <a:solidFill>
                  <a:srgbClr val="777777"/>
                </a:solidFill>
                <a:latin typeface="游ゴシック"/>
              </a:rPr>
              <a:t>の人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25999" y="1072800"/>
            <a:ext cx="558000" cy="342000"/>
          </a:xfrm>
          <a:prstGeom prst="roundRect">
            <a:avLst/>
          </a:prstGeom>
          <a:solidFill>
            <a:srgbClr val="EE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25999" y="1101600"/>
            <a:ext cx="558000" cy="18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50" b="0">
                <a:solidFill>
                  <a:srgbClr val="777777"/>
                </a:solidFill>
                <a:latin typeface="游ゴシック"/>
              </a:rPr>
              <a:t>支える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5999" y="1270800"/>
            <a:ext cx="558000" cy="10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50" b="0">
                <a:solidFill>
                  <a:srgbClr val="777777"/>
                </a:solidFill>
                <a:latin typeface="游ゴシック"/>
              </a:rPr>
              <a:t>の人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12800" y="1072800"/>
            <a:ext cx="558000" cy="342000"/>
          </a:xfrm>
          <a:prstGeom prst="roundRect">
            <a:avLst/>
          </a:prstGeom>
          <a:solidFill>
            <a:srgbClr val="EE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2800" y="1101600"/>
            <a:ext cx="558000" cy="18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50" b="0">
                <a:solidFill>
                  <a:srgbClr val="777777"/>
                </a:solidFill>
                <a:latin typeface="游ゴシック"/>
              </a:rPr>
              <a:t>つなぐ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2800" y="1270800"/>
            <a:ext cx="558000" cy="10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50" b="0">
                <a:solidFill>
                  <a:srgbClr val="777777"/>
                </a:solidFill>
                <a:latin typeface="游ゴシック"/>
              </a:rPr>
              <a:t>の人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86000" y="594000"/>
            <a:ext cx="1764000" cy="12599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00" b="1">
                <a:solidFill>
                  <a:srgbClr val="777777"/>
                </a:solidFill>
                <a:latin typeface="游ゴシック"/>
              </a:rPr>
              <a:t>動き出し方（アクティビティレベル）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386000" y="745200"/>
            <a:ext cx="1764000" cy="50400"/>
          </a:xfrm>
          <a:prstGeom prst="roundRect">
            <a:avLst/>
          </a:prstGeom>
          <a:solidFill>
            <a:srgbClr val="EE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1386000" y="745200"/>
            <a:ext cx="1244704" cy="50400"/>
          </a:xfrm>
          <a:prstGeom prst="roundRect">
            <a:avLst/>
          </a:prstGeom>
          <a:solidFill>
            <a:srgbClr val="3A86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2576704" y="716399"/>
            <a:ext cx="108000" cy="108000"/>
          </a:xfrm>
          <a:prstGeom prst="ellipse">
            <a:avLst/>
          </a:prstGeom>
          <a:solidFill>
            <a:srgbClr val="1F5A8F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386000" y="817200"/>
            <a:ext cx="882000" cy="10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50" b="0">
                <a:solidFill>
                  <a:srgbClr val="777777"/>
                </a:solidFill>
                <a:latin typeface="游ゴシック"/>
              </a:rPr>
              <a:t>じっくり考えて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268000" y="817200"/>
            <a:ext cx="882000" cy="10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550" b="0">
                <a:solidFill>
                  <a:srgbClr val="777777"/>
                </a:solidFill>
                <a:latin typeface="游ゴシック"/>
              </a:rPr>
              <a:t>まず体が動く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86000" y="917999"/>
            <a:ext cx="1764000" cy="10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00" b="1">
                <a:solidFill>
                  <a:srgbClr val="1F3A5F"/>
                </a:solidFill>
                <a:latin typeface="游ゴシック"/>
              </a:rPr>
              <a:t>直感＋体験型：考えより体が先に動く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86000" y="1044000"/>
            <a:ext cx="1764000" cy="12599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00" b="1">
                <a:solidFill>
                  <a:srgbClr val="777777"/>
                </a:solidFill>
                <a:latin typeface="游ゴシック"/>
              </a:rPr>
              <a:t>伝わり方（シンキングパターン 59）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386000" y="1195200"/>
            <a:ext cx="1764000" cy="50400"/>
          </a:xfrm>
          <a:prstGeom prst="roundRect">
            <a:avLst/>
          </a:prstGeom>
          <a:solidFill>
            <a:srgbClr val="EE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1386000" y="1195200"/>
            <a:ext cx="962181" cy="50400"/>
          </a:xfrm>
          <a:prstGeom prst="roundRect">
            <a:avLst/>
          </a:prstGeom>
          <a:solidFill>
            <a:srgbClr val="3A86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2294181" y="1166400"/>
            <a:ext cx="108000" cy="108000"/>
          </a:xfrm>
          <a:prstGeom prst="ellipse">
            <a:avLst/>
          </a:prstGeom>
          <a:solidFill>
            <a:srgbClr val="1F5A8F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386000" y="1267200"/>
            <a:ext cx="882000" cy="10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50" b="0">
                <a:solidFill>
                  <a:srgbClr val="777777"/>
                </a:solidFill>
                <a:latin typeface="游ゴシック"/>
              </a:rPr>
              <a:t>気持ち・感動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268000" y="1267200"/>
            <a:ext cx="882000" cy="10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550" b="0">
                <a:solidFill>
                  <a:srgbClr val="777777"/>
                </a:solidFill>
                <a:latin typeface="游ゴシック"/>
              </a:rPr>
              <a:t>理屈・データ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386000" y="1368000"/>
            <a:ext cx="1764000" cy="10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00" b="1">
                <a:solidFill>
                  <a:srgbClr val="1F3A5F"/>
                </a:solidFill>
                <a:latin typeface="游ゴシック"/>
              </a:rPr>
              <a:t>両方：気持ちも理屈も使える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25999" y="1512000"/>
            <a:ext cx="3024000" cy="342000"/>
          </a:xfrm>
          <a:prstGeom prst="round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98000" y="1530000"/>
            <a:ext cx="576000" cy="30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50" b="1">
                <a:solidFill>
                  <a:srgbClr val="1F5A8F"/>
                </a:solidFill>
                <a:latin typeface="游ゴシック"/>
              </a:rPr>
              <a:t>わたしへの</a:t>
            </a:r>
          </a:p>
          <a:p>
            <a:pPr algn="l"/>
            <a:r>
              <a:rPr sz="550" b="1">
                <a:solidFill>
                  <a:srgbClr val="1F5A8F"/>
                </a:solidFill>
                <a:latin typeface="游ゴシック"/>
              </a:rPr>
              <a:t>ひとこと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20000" y="1530000"/>
            <a:ext cx="2015999" cy="30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00" b="1">
                <a:solidFill>
                  <a:srgbClr val="1F3A5F"/>
                </a:solidFill>
                <a:latin typeface="游ゴシック"/>
              </a:rPr>
              <a:t>乗ってきたら止まりません！</a:t>
            </a:r>
          </a:p>
          <a:p>
            <a:pPr algn="l"/>
            <a:r>
              <a:rPr sz="700" b="1">
                <a:solidFill>
                  <a:srgbClr val="1F3A5F"/>
                </a:solidFill>
                <a:latin typeface="游ゴシック"/>
              </a:rPr>
              <a:t>家族や仲間のためと思うと力が出ます。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700000" y="1548000"/>
            <a:ext cx="413999" cy="27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50" b="1">
                <a:solidFill>
                  <a:srgbClr val="1F5A8F"/>
                </a:solidFill>
                <a:latin typeface="游ゴシック"/>
              </a:rPr>
              <a:t>Lucky</a:t>
            </a:r>
          </a:p>
          <a:p>
            <a:pPr algn="ctr"/>
            <a:r>
              <a:rPr sz="650" b="1">
                <a:solidFill>
                  <a:srgbClr val="1F5A8F"/>
                </a:solidFill>
                <a:latin typeface="游ゴシック"/>
              </a:rPr>
              <a:t>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76000" cy="19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76000" cy="216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5999" y="18000"/>
            <a:ext cx="3024000" cy="18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游ゴシック"/>
              </a:rPr>
              <a:t>トリセツ名札の見方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5999" y="251999"/>
            <a:ext cx="3024000" cy="12599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50" b="0">
                <a:solidFill>
                  <a:srgbClr val="777777"/>
                </a:solidFill>
                <a:latin typeface="游ゴシック"/>
              </a:rPr>
              <a:t>利き脳タイプ：指を組んで下になる親指＝受け取り方／腕を組んで下になる腕＝出し方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25999" y="396000"/>
            <a:ext cx="612000" cy="162000"/>
          </a:xfrm>
          <a:prstGeom prst="roundRect">
            <a:avLst/>
          </a:prstGeom>
          <a:solidFill>
            <a:srgbClr val="E86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5999" y="396000"/>
            <a:ext cx="612000" cy="16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50" b="1">
                <a:solidFill>
                  <a:srgbClr val="FFFFFF"/>
                </a:solidFill>
                <a:latin typeface="游ゴシック"/>
              </a:rPr>
              <a:t>切りひらく人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2000" y="396000"/>
            <a:ext cx="2376000" cy="16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00" b="0">
                <a:solidFill>
                  <a:srgbClr val="1F3A5F"/>
                </a:solidFill>
                <a:latin typeface="游ゴシック"/>
              </a:rPr>
              <a:t>親指 左・腕 右｜新しいことの最初の一歩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25999" y="594000"/>
            <a:ext cx="612000" cy="162000"/>
          </a:xfrm>
          <a:prstGeom prst="roundRect">
            <a:avLst/>
          </a:prstGeom>
          <a:solidFill>
            <a:srgbClr val="3A7C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5999" y="594000"/>
            <a:ext cx="612000" cy="16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50" b="1">
                <a:solidFill>
                  <a:srgbClr val="FFFFFF"/>
                </a:solidFill>
                <a:latin typeface="游ゴシック"/>
              </a:rPr>
              <a:t>組み立てる人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2000" y="594000"/>
            <a:ext cx="2376000" cy="16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00" b="0">
                <a:solidFill>
                  <a:srgbClr val="1F3A5F"/>
                </a:solidFill>
                <a:latin typeface="游ゴシック"/>
              </a:rPr>
              <a:t>親指 左・腕 左｜見通しと段取りで形にする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25999" y="792000"/>
            <a:ext cx="612000" cy="162000"/>
          </a:xfrm>
          <a:prstGeom prst="roundRect">
            <a:avLst/>
          </a:prstGeom>
          <a:solidFill>
            <a:srgbClr val="4E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5999" y="792000"/>
            <a:ext cx="612000" cy="16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50" b="1">
                <a:solidFill>
                  <a:srgbClr val="FFFFFF"/>
                </a:solidFill>
                <a:latin typeface="游ゴシック"/>
              </a:rPr>
              <a:t>支える人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2000" y="792000"/>
            <a:ext cx="2376000" cy="16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00" b="0">
                <a:solidFill>
                  <a:srgbClr val="1F3A5F"/>
                </a:solidFill>
                <a:latin typeface="游ゴシック"/>
              </a:rPr>
              <a:t>親指 右・腕 右｜役割が決まると力を尽くす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25999" y="990000"/>
            <a:ext cx="612000" cy="162000"/>
          </a:xfrm>
          <a:prstGeom prst="roundRect">
            <a:avLst/>
          </a:prstGeom>
          <a:solidFill>
            <a:srgbClr val="C25B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5999" y="990000"/>
            <a:ext cx="612000" cy="16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50" b="1">
                <a:solidFill>
                  <a:srgbClr val="FFFFFF"/>
                </a:solidFill>
                <a:latin typeface="游ゴシック"/>
              </a:rPr>
              <a:t>つなぐ人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2000" y="990000"/>
            <a:ext cx="2376000" cy="16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00" b="0">
                <a:solidFill>
                  <a:srgbClr val="1F3A5F"/>
                </a:solidFill>
                <a:latin typeface="游ゴシック"/>
              </a:rPr>
              <a:t>親指 右・腕 左｜みんなで動くと場が明るい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5999" y="1206000"/>
            <a:ext cx="3024000" cy="12599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50" b="0">
                <a:solidFill>
                  <a:srgbClr val="777777"/>
                </a:solidFill>
                <a:latin typeface="游ゴシック"/>
              </a:rPr>
              <a:t>上の帯の色＝パワーカラー（外から見える印象）／心のエンジン＝潜在意識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5999" y="1332000"/>
            <a:ext cx="3024000" cy="12599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50" b="0">
                <a:solidFill>
                  <a:srgbClr val="777777"/>
                </a:solidFill>
                <a:latin typeface="游ゴシック"/>
              </a:rPr>
              <a:t>メーター＝動き出し方・伝わり方。真ん中が正解ではなく、どの位置もその人の持ち味です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25999" y="1512000"/>
            <a:ext cx="3024000" cy="342000"/>
          </a:xfrm>
          <a:prstGeom prst="roundRect">
            <a:avLst/>
          </a:prstGeom>
          <a:solidFill>
            <a:srgbClr val="EAF2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98000" y="1530000"/>
            <a:ext cx="2880000" cy="30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50" b="1">
                <a:solidFill>
                  <a:srgbClr val="1F3A5F"/>
                </a:solidFill>
                <a:latin typeface="游ゴシック"/>
              </a:rPr>
              <a:t>これは評価ではありません。関わり方のヒントです。</a:t>
            </a:r>
          </a:p>
          <a:p>
            <a:pPr algn="l"/>
            <a:r>
              <a:rPr sz="650" b="1">
                <a:solidFill>
                  <a:srgbClr val="1F3A5F"/>
                </a:solidFill>
                <a:latin typeface="游ゴシック"/>
              </a:rPr>
              <a:t>「この人にはどう伝えるといいかな？」と思った時に見てください。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
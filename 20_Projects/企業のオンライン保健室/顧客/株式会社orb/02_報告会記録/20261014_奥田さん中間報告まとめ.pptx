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B2350"/>
                </a:solidFill>
                <a:latin typeface="Meiryo UI"/>
              </a:rPr>
              <a:t>奥田さん 個別支援 中間報告のまとめ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666666"/>
                </a:solidFill>
                <a:latin typeface="Meiryo UI"/>
              </a:rPr>
              <a:t>2026年10月14日　株式会社orb 黒野様 ／ 企業のオンライン保健室 髙橋由香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4343400"/>
          </a:xfrm>
          <a:prstGeom prst="roundRect">
            <a:avLst/>
          </a:prstGeom>
          <a:solidFill>
            <a:srgbClr val="F4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291840" cy="54864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</a:rPr>
              <a:t>本日確認したこと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350"/>
                </a:solidFill>
                <a:latin typeface="Meiryo UI"/>
              </a:rPr>
              <a:t>ゴールは「戻ってきてくれること」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9631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復帰まで保健室が伴走します
（面談2回 → 結果をご報告）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39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350"/>
                </a:solidFill>
                <a:latin typeface="Meiryo UI"/>
              </a:rPr>
              <a:t>会社としての決め事の窓口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64991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黒野様にご相談します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350"/>
                </a:solidFill>
                <a:latin typeface="Meiryo UI"/>
              </a:rPr>
              <a:t>困りごと・ハラスメント等の相談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3367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黒野様が受けてくださる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0060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B2350"/>
                </a:solidFill>
                <a:latin typeface="Meiryo UI"/>
              </a:rPr>
              <a:t>本人の面談：10月15日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0235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終わり次第、髙橋から一報します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371600"/>
            <a:ext cx="3657600" cy="4343400"/>
          </a:xfrm>
          <a:prstGeom prst="roundRect">
            <a:avLst/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53128" y="1508760"/>
            <a:ext cx="3291840" cy="548640"/>
          </a:xfrm>
          <a:prstGeom prst="roundRect">
            <a:avLst/>
          </a:prstGeom>
          <a:solidFill>
            <a:srgbClr val="C99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</a:rPr>
              <a:t>現在の状況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19456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973A"/>
                </a:solidFill>
                <a:latin typeface="Meiryo UI"/>
              </a:rPr>
              <a:t>休職中（復帰日は未定）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49631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傷病手当は9月末締めで申請中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3063239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973A"/>
                </a:solidFill>
                <a:latin typeface="Meiryo UI"/>
              </a:rPr>
              <a:t>現場は皆でカバー中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3364991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ただしシフトは限界に近い
（目安：あと1か月ほど）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39319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973A"/>
                </a:solidFill>
                <a:latin typeface="Meiryo UI"/>
              </a:rPr>
              <a:t>店長候補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23367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今回の昇格は見送り・来年は可能性あり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80060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9973A"/>
                </a:solidFill>
                <a:latin typeface="Meiryo UI"/>
              </a:rPr>
              <a:t>過去の例から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510235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急いで戻すと再休職・退職になりやすい
→ 焦らず進める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74152" y="1371600"/>
            <a:ext cx="3657600" cy="4343400"/>
          </a:xfrm>
          <a:prstGeom prst="roundRect">
            <a:avLst/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57031" y="1508760"/>
            <a:ext cx="3291840" cy="548640"/>
          </a:xfrm>
          <a:prstGeom prst="roundRect">
            <a:avLst/>
          </a:prstGeom>
          <a:solidFill>
            <a:srgbClr val="D9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</a:rPr>
              <a:t>今後に向けたご提案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7031" y="219456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443B"/>
                </a:solidFill>
                <a:latin typeface="Meiryo UI"/>
              </a:rPr>
              <a:t>連絡の頻度を決める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7031" y="249631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休職中は月1回（電話で5〜10分）
復帰の目処が立ったら週1回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57031" y="3063239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443B"/>
                </a:solidFill>
                <a:latin typeface="Meiryo UI"/>
              </a:rPr>
              <a:t>ひと区切りの時期と取り決め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7031" y="3364991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診断書の提出頻度・区切りの時期を
会社として決めておく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393192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443B"/>
                </a:solidFill>
                <a:latin typeface="Meiryo UI"/>
              </a:rPr>
              <a:t>復帰の形を選択肢として持つ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423367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正社員／アルバイト／店舗異動
（傷病手当との関係も本人と確認）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1" y="4800600"/>
            <a:ext cx="32918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D9443B"/>
                </a:solidFill>
                <a:latin typeface="Meiryo UI"/>
              </a:rPr>
              <a:t>復帰後の相談役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102352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A2A2A"/>
                </a:solidFill>
                <a:latin typeface="Meiryo UI"/>
              </a:rPr>
              <a:t>誰なら話しやすいか、本人に聞きます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897880"/>
            <a:ext cx="11274552" cy="777240"/>
          </a:xfrm>
          <a:prstGeom prst="roundRect">
            <a:avLst/>
          </a:prstGeom>
          <a:solidFill>
            <a:srgbClr val="2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800" b="1">
                <a:solidFill>
                  <a:srgbClr val="FFFFFF"/>
                </a:solidFill>
                <a:latin typeface="Meiryo UI"/>
              </a:rPr>
              <a:t>奥田さんの復帰に向けて、焦らず、会社と保健室で一緒に支えていきます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
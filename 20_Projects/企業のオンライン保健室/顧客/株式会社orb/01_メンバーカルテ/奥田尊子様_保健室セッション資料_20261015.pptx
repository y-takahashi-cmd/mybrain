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60" r:id="rId10"/>
    <p:sldId id="306" r:id="rId41"/>
    <p:sldId id="264" r:id="rId14"/>
    <p:sldId id="307" r:id="rId43"/>
    <p:sldId id="308" r:id="rId44"/>
    <p:sldId id="309" r:id="rId45"/>
    <p:sldId id="304" r:id="rId60"/>
    <p:sldId id="305" r:id="rId61"/>
    <p:sldId id="310" r:id="rId46"/>
    <p:sldId id="272" r:id="rId22"/>
    <p:sldId id="273" r:id="rId23"/>
    <p:sldId id="274" r:id="rId24"/>
    <p:sldId id="275" r:id="rId25"/>
    <p:sldId id="277" r:id="rId27"/>
    <p:sldId id="261" r:id="rId11"/>
    <p:sldId id="262" r:id="rId12"/>
    <p:sldId id="271" r:id="rId21"/>
    <p:sldId id="278" r:id="rId28"/>
    <p:sldId id="279" r:id="rId29"/>
    <p:sldId id="280" r:id="rId30"/>
    <p:sldId id="281" r:id="rId31"/>
    <p:sldId id="282" r:id="rId32"/>
    <p:sldId id="283" r:id="rId33"/>
    <p:sldId id="284" r:id="rId34"/>
    <p:sldId id="285" r:id="rId35"/>
    <p:sldId id="287" r:id="rId37"/>
    <p:sldId id="289" r:id="rId39"/>
    <p:sldId id="292" r:id="rId42"/>
  </p:sldIdLst>
  <p:sldSz cx="18288000" cy="10287000"/>
  <p:notesSz cx="6858000" cy="9144000"/>
  <p:embeddedFontLst>
    <p:embeddedFont>
      <p:font typeface="M Plus Rounded Black" charset="1" panose="020B0702020203020207"/>
      <p:regular r:id="rId54"/>
    </p:embeddedFont>
    <p:embeddedFont>
      <p:font typeface="モード明朝" charset="1" panose="02000800000000000000"/>
      <p:regular r:id="rId55"/>
    </p:embeddedFont>
    <p:embeddedFont>
      <p:font typeface="M Plus Rounded Black Bold" charset="1" panose="020B0902020203020207"/>
      <p:regular r:id="rId56"/>
    </p:embeddedFont>
    <p:embeddedFont>
      <p:font typeface="Noto Sans JP Medium" charset="1" panose="020B0600000000000000"/>
      <p:regular r:id="rId57"/>
    </p:embeddedFont>
    <p:embeddedFont>
      <p:font typeface="M+ Bold" charset="1" panose="020B0703020203020204"/>
      <p:regular r:id="rId58"/>
    </p:embeddedFont>
    <p:embeddedFont>
      <p:font typeface="Ipaex Mincho" charset="1" panose="02020400000000000000"/>
      <p:regular r:id="rId5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4" Type="http://schemas.openxmlformats.org/officeDocument/2006/relationships/slide" Target="slides/slide8.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5.xml"/><Relationship Id="rId35" Type="http://schemas.openxmlformats.org/officeDocument/2006/relationships/slide" Target="slides/slide26.xml"/><Relationship Id="rId37" Type="http://schemas.openxmlformats.org/officeDocument/2006/relationships/slide" Target="slides/slide27.xml"/><Relationship Id="rId39" Type="http://schemas.openxmlformats.org/officeDocument/2006/relationships/slide" Target="slides/slide28.xml"/><Relationship Id="rId41" Type="http://schemas.openxmlformats.org/officeDocument/2006/relationships/slide" Target="slides/slide31.xml"/><Relationship Id="rId42" Type="http://schemas.openxmlformats.org/officeDocument/2006/relationships/slide" Target="slides/slide29.xml"/><Relationship Id="rId43" Type="http://schemas.openxmlformats.org/officeDocument/2006/relationships/slide" Target="slides/slide32.xml"/><Relationship Id="rId44" Type="http://schemas.openxmlformats.org/officeDocument/2006/relationships/slide" Target="slides/slide33.xml"/><Relationship Id="rId45" Type="http://schemas.openxmlformats.org/officeDocument/2006/relationships/slide" Target="slides/slide34.xml"/><Relationship Id="rId46" Type="http://schemas.openxmlformats.org/officeDocument/2006/relationships/slide" Target="slides/slide35.xml"/><Relationship Id="rId54" Type="http://schemas.openxmlformats.org/officeDocument/2006/relationships/font" Target="fonts/font54.fntdata"/><Relationship Id="rId55" Type="http://schemas.openxmlformats.org/officeDocument/2006/relationships/font" Target="fonts/font55.fntdata"/><Relationship Id="rId56" Type="http://schemas.openxmlformats.org/officeDocument/2006/relationships/font" Target="fonts/font56.fntdata"/><Relationship Id="rId57" Type="http://schemas.openxmlformats.org/officeDocument/2006/relationships/font" Target="fonts/font57.fntdata"/><Relationship Id="rId58" Type="http://schemas.openxmlformats.org/officeDocument/2006/relationships/font" Target="fonts/font58.fntdata"/><Relationship Id="rId59" Type="http://schemas.openxmlformats.org/officeDocument/2006/relationships/font" Target="fonts/font59.fntdata"/><Relationship Id="rId60" Type="http://schemas.openxmlformats.org/officeDocument/2006/relationships/slide" Target="slides/slide24.xml"/><Relationship Id="rId61" Type="http://schemas.openxmlformats.org/officeDocument/2006/relationships/slide" Target="slides/slide3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2026/10/5</c:v>
                </c:pt>
              </c:strCache>
            </c:strRef>
          </c:tx>
          <c:spPr>
            <a:solidFill>
              <a:srgbClr val="D9966B"/>
            </a:solidFill>
          </c:spPr>
          <c:dPt>
            <c:idx val="8"/>
            <c:spPr>
              <a:solidFill>
                <a:srgbClr val="7FB08A"/>
              </a:solidFill>
            </c:spPr>
          </c:dPt>
          <c:cat>
            <c:strRef>
              <c:f>Sheet1!$A$2:$A$10</c:f>
              <c:strCache>
                <c:ptCount val="9"/>
                <c:pt idx="0">
                  <c:v>栄養不足</c:v>
                </c:pt>
                <c:pt idx="1">
                  <c:v>代謝指標</c:v>
                </c:pt>
                <c:pt idx="2">
                  <c:v>胃腸</c:v>
                </c:pt>
                <c:pt idx="3">
                  <c:v>ホルモン（副腎）</c:v>
                </c:pt>
                <c:pt idx="4">
                  <c:v>甲状腺</c:v>
                </c:pt>
                <c:pt idx="5">
                  <c:v>月経期</c:v>
                </c:pt>
                <c:pt idx="6">
                  <c:v>毒素</c:v>
                </c:pt>
                <c:pt idx="7">
                  <c:v>感染症・生体毒素</c:v>
                </c:pt>
                <c:pt idx="8">
                  <c:v>心理状態</c:v>
                </c:pt>
              </c:strCache>
            </c:strRef>
          </c:cat>
          <c:val>
            <c:numRef>
              <c:f>Sheet1!$B$2:$B$10</c:f>
              <c:numCache>
                <c:formatCode>General</c:formatCode>
                <c:ptCount val="9"/>
                <c:pt idx="0">
                  <c:v>0.4</c:v>
                </c:pt>
                <c:pt idx="1">
                  <c:v>0.48</c:v>
                </c:pt>
                <c:pt idx="2">
                  <c:v>0.25</c:v>
                </c:pt>
                <c:pt idx="3">
                  <c:v>0.59</c:v>
                </c:pt>
                <c:pt idx="4">
                  <c:v>0.73</c:v>
                </c:pt>
                <c:pt idx="5">
                  <c:v>0.2</c:v>
                </c:pt>
                <c:pt idx="6">
                  <c:v>0.28</c:v>
                </c:pt>
                <c:pt idx="7">
                  <c:v>0.21</c:v>
                </c:pt>
                <c:pt idx="8">
                  <c:v>0.27</c:v>
                </c:pt>
              </c:numCache>
            </c:numRef>
          </c:val>
        </c:ser>
        <c:dLbls>
          <c:numFmt formatCode="0%" sourceLinked="0"/>
          <c:txPr>
            <a:bodyPr/>
            <a:lstStyle/>
            <a:p>
              <a:pPr>
                <a:defRPr sz="18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800"/>
            </a:pPr>
          </a:p>
        </c:txPr>
        <c:crossAx val="-2113994440"/>
        <c:crosses val="autoZero"/>
        <c:auto val="1"/>
        <c:lblAlgn val="ctr"/>
        <c:lblOffset val="100"/>
        <c:noMultiLvlLbl val="0"/>
      </c:catAx>
      <c:valAx>
        <c:axId val="-2113994440"/>
        <c:scaling>
          <c:max val="1.0"/>
          <c:min val="0.0"/>
        </c:scaling>
        <c:delete val="0"/>
        <c:axPos val="l"/>
        <c:majorGridlines/>
        <c:numFmt formatCode="0%" sourceLinked="0"/>
        <c:majorTickMark val="out"/>
        <c:minorTickMark val="none"/>
        <c:tickLblPos val="nextTo"/>
        <c:txPr>
          <a:bodyPr/>
          <a:lstStyle/>
          <a:p>
            <a:pPr>
              <a:defRPr sz="1600"/>
            </a:pPr>
          </a:p>
        </c:txPr>
        <c:crossAx val="-2068027336"/>
        <c:crosses val="autoZero"/>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2.jpe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chart" Target="../charts/char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2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eg"/><Relationship Id="rId3" Type="http://schemas.openxmlformats.org/officeDocument/2006/relationships/image" Target="../media/image25.png"/><Relationship Id="rId4" Type="http://schemas.openxmlformats.org/officeDocument/2006/relationships/image" Target="../media/image2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3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3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7AD">
                <a:alpha val="100000"/>
              </a:srgbClr>
            </a:gs>
            <a:gs pos="100000">
              <a:srgbClr val="FFA9F9">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3392860" y="6750739"/>
            <a:ext cx="4895140" cy="3536261"/>
          </a:xfrm>
          <a:custGeom>
            <a:avLst/>
            <a:gdLst/>
            <a:ahLst/>
            <a:cxnLst/>
            <a:rect r="r" b="b" t="t" l="l"/>
            <a:pathLst>
              <a:path h="3536261" w="4895140">
                <a:moveTo>
                  <a:pt x="0" y="0"/>
                </a:moveTo>
                <a:lnTo>
                  <a:pt x="4895140" y="0"/>
                </a:lnTo>
                <a:lnTo>
                  <a:pt x="4895140" y="3536261"/>
                </a:lnTo>
                <a:lnTo>
                  <a:pt x="0" y="3536261"/>
                </a:lnTo>
                <a:lnTo>
                  <a:pt x="0" y="0"/>
                </a:lnTo>
                <a:close/>
              </a:path>
            </a:pathLst>
          </a:custGeom>
          <a:blipFill>
            <a:blip r:embed="rId2"/>
            <a:stretch>
              <a:fillRect l="-561" t="0" r="-561" b="0"/>
            </a:stretch>
          </a:blipFill>
        </p:spPr>
        <p:txBody>
          <a:bodyPr/>
          <a:p/>
        </p:txBody>
      </p:sp>
      <p:sp>
        <p:nvSpPr>
          <p:cNvPr name="Freeform 3" id="3"/>
          <p:cNvSpPr/>
          <p:nvPr/>
        </p:nvSpPr>
        <p:spPr>
          <a:xfrm flipH="false" flipV="false" rot="0">
            <a:off x="13392860" y="4012978"/>
            <a:ext cx="4895140" cy="2737761"/>
          </a:xfrm>
          <a:custGeom>
            <a:avLst/>
            <a:gdLst/>
            <a:ahLst/>
            <a:cxnLst/>
            <a:rect r="r" b="b" t="t" l="l"/>
            <a:pathLst>
              <a:path h="2737761" w="4895140">
                <a:moveTo>
                  <a:pt x="0" y="0"/>
                </a:moveTo>
                <a:lnTo>
                  <a:pt x="4895140" y="0"/>
                </a:lnTo>
                <a:lnTo>
                  <a:pt x="4895140" y="2737761"/>
                </a:lnTo>
                <a:lnTo>
                  <a:pt x="0" y="2737761"/>
                </a:lnTo>
                <a:lnTo>
                  <a:pt x="0" y="0"/>
                </a:lnTo>
                <a:close/>
              </a:path>
            </a:pathLst>
          </a:custGeom>
          <a:blipFill>
            <a:blip r:embed="rId3"/>
            <a:stretch>
              <a:fillRect l="0" t="-1405" r="0" b="-1405"/>
            </a:stretch>
          </a:blipFill>
        </p:spPr>
        <p:txBody>
          <a:bodyPr/>
          <a:p/>
        </p:txBody>
      </p:sp>
      <p:sp>
        <p:nvSpPr>
          <p:cNvPr name="Freeform 4" id="4"/>
          <p:cNvSpPr/>
          <p:nvPr/>
        </p:nvSpPr>
        <p:spPr>
          <a:xfrm flipH="false" flipV="false" rot="0">
            <a:off x="13392860" y="0"/>
            <a:ext cx="4895140" cy="4012978"/>
          </a:xfrm>
          <a:custGeom>
            <a:avLst/>
            <a:gdLst/>
            <a:ahLst/>
            <a:cxnLst/>
            <a:rect r="r" b="b" t="t" l="l"/>
            <a:pathLst>
              <a:path h="4012978" w="4895140">
                <a:moveTo>
                  <a:pt x="0" y="0"/>
                </a:moveTo>
                <a:lnTo>
                  <a:pt x="4895140" y="0"/>
                </a:lnTo>
                <a:lnTo>
                  <a:pt x="4895140" y="4012978"/>
                </a:lnTo>
                <a:lnTo>
                  <a:pt x="0" y="4012978"/>
                </a:lnTo>
                <a:lnTo>
                  <a:pt x="0" y="0"/>
                </a:lnTo>
                <a:close/>
              </a:path>
            </a:pathLst>
          </a:custGeom>
          <a:blipFill>
            <a:blip r:embed="rId4"/>
            <a:stretch>
              <a:fillRect l="-25708" t="0" r="-25708" b="-3895"/>
            </a:stretch>
          </a:blipFill>
        </p:spPr>
        <p:txBody>
          <a:bodyPr/>
          <a:p/>
        </p:txBody>
      </p:sp>
      <p:grpSp>
        <p:nvGrpSpPr>
          <p:cNvPr name="Group 5" id="5"/>
          <p:cNvGrpSpPr/>
          <p:nvPr/>
        </p:nvGrpSpPr>
        <p:grpSpPr>
          <a:xfrm rot="0">
            <a:off x="541020" y="7358900"/>
            <a:ext cx="6962051" cy="2309819"/>
            <a:chOff x="0" y="0"/>
            <a:chExt cx="9282735" cy="3079759"/>
          </a:xfrm>
        </p:grpSpPr>
        <p:sp>
          <p:nvSpPr>
            <p:cNvPr name="TextBox 6" id="6"/>
            <p:cNvSpPr txBox="true"/>
            <p:nvPr/>
          </p:nvSpPr>
          <p:spPr>
            <a:xfrm rot="0">
              <a:off x="0" y="95250"/>
              <a:ext cx="9282735" cy="788088"/>
            </a:xfrm>
            <a:prstGeom prst="rect">
              <a:avLst/>
            </a:prstGeom>
          </p:spPr>
          <p:txBody>
            <a:bodyPr anchor="t" rtlCol="false" tIns="0" lIns="0" bIns="0" rIns="0">
              <a:spAutoFit/>
            </a:bodyPr>
            <a:lstStyle/>
            <a:p>
              <a:pPr algn="l">
                <a:lnSpc>
                  <a:spcPts val="3949"/>
                </a:lnSpc>
              </a:pPr>
              <a:r>
                <a:rPr lang="en-US" sz="4388">
                  <a:solidFill>
                    <a:srgbClr val="3C6CA8"/>
                  </a:solidFill>
                  <a:latin typeface="M Plus Rounded Black"/>
                  <a:ea typeface="M Plus Rounded Black"/>
                  <a:cs typeface="M Plus Rounded Black"/>
                  <a:sym typeface="M Plus Rounded Black"/>
                </a:rPr>
                <a:t>企業のオンライン保健室</a:t>
              </a:r>
            </a:p>
          </p:txBody>
        </p:sp>
        <p:sp>
          <p:nvSpPr>
            <p:cNvPr name="TextBox 7" id="7"/>
            <p:cNvSpPr txBox="true"/>
            <p:nvPr/>
          </p:nvSpPr>
          <p:spPr>
            <a:xfrm rot="0">
              <a:off x="0" y="1656542"/>
              <a:ext cx="8010966" cy="1423217"/>
            </a:xfrm>
            <a:prstGeom prst="rect">
              <a:avLst/>
            </a:prstGeom>
          </p:spPr>
          <p:txBody>
            <a:bodyPr anchor="t" rtlCol="false" tIns="0" lIns="0" bIns="0" rIns="0">
              <a:spAutoFit/>
            </a:bodyPr>
            <a:lstStyle/>
            <a:p>
              <a:pPr algn="l">
                <a:lnSpc>
                  <a:spcPts val="8628"/>
                </a:lnSpc>
                <a:spcBef>
                  <a:spcPct val="0"/>
                </a:spcBef>
              </a:pPr>
              <a:r>
                <a:rPr lang="en-US" sz="6163">
                  <a:solidFill>
                    <a:srgbClr val="3C6CA8"/>
                  </a:solidFill>
                  <a:latin typeface="M Plus Rounded Black"/>
                  <a:ea typeface="M Plus Rounded Black"/>
                  <a:cs typeface="M Plus Rounded Black"/>
                  <a:sym typeface="M Plus Rounded Black"/>
                </a:rPr>
                <a:t>高橋　由香</a:t>
              </a:r>
            </a:p>
          </p:txBody>
        </p:sp>
      </p:grpSp>
      <p:sp>
        <p:nvSpPr>
          <p:cNvPr name="TextBox 8" id="8"/>
          <p:cNvSpPr txBox="true"/>
          <p:nvPr/>
        </p:nvSpPr>
        <p:spPr>
          <a:xfrm rot="0">
            <a:off x="541020" y="1191453"/>
            <a:ext cx="8602980" cy="1586316"/>
          </a:xfrm>
          <a:prstGeom prst="rect">
            <a:avLst/>
          </a:prstGeom>
        </p:spPr>
        <p:txBody>
          <a:bodyPr anchor="t" rtlCol="false" tIns="0" lIns="0" bIns="0" rIns="0">
            <a:spAutoFit/>
          </a:bodyPr>
          <a:lstStyle/>
          <a:p>
            <a:pPr algn="ctr">
              <a:lnSpc>
                <a:spcPts val="12315"/>
              </a:lnSpc>
            </a:pPr>
            <a:r>
              <a:rPr lang="en-US" sz="8796">
                <a:solidFill>
                  <a:srgbClr val="3C6CA8"/>
                </a:solidFill>
                <a:latin typeface="M Plus Rounded Black"/>
                <a:ea typeface="M Plus Rounded Black"/>
                <a:cs typeface="M Plus Rounded Black"/>
                <a:sym typeface="M Plus Rounded Black"/>
              </a:rPr>
              <a:t>奥田 尊子様</a:t>
            </a:r>
          </a:p>
        </p:txBody>
      </p:sp>
      <p:sp>
        <p:nvSpPr>
          <p:cNvPr name="TextBox 9" id="9"/>
          <p:cNvSpPr txBox="true"/>
          <p:nvPr/>
        </p:nvSpPr>
        <p:spPr>
          <a:xfrm rot="0">
            <a:off x="808456" y="3889153"/>
            <a:ext cx="8598566" cy="2545556"/>
          </a:xfrm>
          <a:prstGeom prst="rect">
            <a:avLst/>
          </a:prstGeom>
        </p:spPr>
        <p:txBody>
          <a:bodyPr anchor="t" rtlCol="false" tIns="0" lIns="0" bIns="0" rIns="0">
            <a:spAutoFit/>
          </a:bodyPr>
          <a:lstStyle/>
          <a:p>
            <a:pPr algn="ctr">
              <a:lnSpc>
                <a:spcPts val="6693"/>
              </a:lnSpc>
            </a:pPr>
            <a:r>
              <a:rPr lang="en-US" sz="4781">
                <a:solidFill>
                  <a:srgbClr val="3C6CA8"/>
                </a:solidFill>
                <a:latin typeface="M Plus Rounded Black"/>
                <a:ea typeface="M Plus Rounded Black"/>
                <a:cs typeface="M Plus Rounded Black"/>
                <a:sym typeface="M Plus Rounded Black"/>
              </a:rPr>
              <a:t>２０２６．１０．１５（水）</a:t>
            </a:r>
          </a:p>
          <a:p>
            <a:pPr algn="ctr">
              <a:lnSpc>
                <a:spcPts val="6693"/>
              </a:lnSpc>
            </a:pPr>
            <a:r>
              <a:rPr lang="en-US" sz="4781">
                <a:solidFill>
                  <a:srgbClr val="3C6CA8"/>
                </a:solidFill>
                <a:latin typeface="M Plus Rounded Black"/>
                <a:ea typeface="M Plus Rounded Black"/>
                <a:cs typeface="M Plus Rounded Black"/>
                <a:sym typeface="M Plus Rounded Black"/>
              </a:rPr>
              <a:t>１６：００～</a:t>
            </a:r>
          </a:p>
          <a:p>
            <a:pPr algn="ctr">
              <a:lnSpc>
                <a:spcPts val="6693"/>
              </a:lnSpc>
            </a:pPr>
            <a:r>
              <a:rPr lang="en-US" sz="4781">
                <a:solidFill>
                  <a:srgbClr val="3C6CA8"/>
                </a:solidFill>
                <a:latin typeface="M Plus Rounded Black"/>
                <a:ea typeface="M Plus Rounded Black"/>
                <a:cs typeface="M Plus Rounded Black"/>
                <a:sym typeface="M Plus Rounded Black"/>
              </a:rPr>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8F2ED"/>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843210" y="2332402"/>
            <a:ext cx="5718915" cy="4293381"/>
            <a:chOff x="0" y="0"/>
            <a:chExt cx="8916670" cy="6694043"/>
          </a:xfrm>
        </p:grpSpPr>
        <p:sp>
          <p:nvSpPr>
            <p:cNvPr name="Freeform 3" id="3"/>
            <p:cNvSpPr/>
            <p:nvPr/>
          </p:nvSpPr>
          <p:spPr>
            <a:xfrm flipH="false" flipV="false" rot="0">
              <a:off x="155575" y="155575"/>
              <a:ext cx="8605520" cy="6382893"/>
            </a:xfrm>
            <a:custGeom>
              <a:avLst/>
              <a:gdLst/>
              <a:ahLst/>
              <a:cxnLst/>
              <a:rect r="r" b="b" t="t" l="l"/>
              <a:pathLst>
                <a:path h="6382893" w="8605520">
                  <a:moveTo>
                    <a:pt x="0" y="0"/>
                  </a:moveTo>
                  <a:lnTo>
                    <a:pt x="8605520" y="0"/>
                  </a:lnTo>
                  <a:lnTo>
                    <a:pt x="8605520" y="6382893"/>
                  </a:lnTo>
                  <a:lnTo>
                    <a:pt x="0" y="6382893"/>
                  </a:lnTo>
                  <a:close/>
                </a:path>
              </a:pathLst>
            </a:custGeom>
            <a:blipFill>
              <a:blip r:embed="rId2"/>
              <a:stretch>
                <a:fillRect l="0" t="-14942" r="0" b="-87416"/>
              </a:stretch>
            </a:blipFill>
          </p:spPr>
        </p:sp>
        <p:sp>
          <p:nvSpPr>
            <p:cNvPr name="Freeform 4" id="4"/>
            <p:cNvSpPr/>
            <p:nvPr/>
          </p:nvSpPr>
          <p:spPr>
            <a:xfrm flipH="false" flipV="false" rot="0">
              <a:off x="6350" y="6350"/>
              <a:ext cx="8903970" cy="6681343"/>
            </a:xfrm>
            <a:custGeom>
              <a:avLst/>
              <a:gdLst/>
              <a:ahLst/>
              <a:cxnLst/>
              <a:rect r="r" b="b" t="t" l="l"/>
              <a:pathLst>
                <a:path h="6681343" w="8903970">
                  <a:moveTo>
                    <a:pt x="8903970" y="6681343"/>
                  </a:moveTo>
                  <a:lnTo>
                    <a:pt x="0" y="6681343"/>
                  </a:lnTo>
                  <a:lnTo>
                    <a:pt x="0" y="0"/>
                  </a:lnTo>
                  <a:lnTo>
                    <a:pt x="8903970" y="0"/>
                  </a:lnTo>
                  <a:lnTo>
                    <a:pt x="8903970" y="6681343"/>
                  </a:lnTo>
                  <a:close/>
                  <a:moveTo>
                    <a:pt x="19050" y="6662293"/>
                  </a:moveTo>
                  <a:lnTo>
                    <a:pt x="8884920" y="6662293"/>
                  </a:lnTo>
                  <a:lnTo>
                    <a:pt x="8884920" y="19050"/>
                  </a:lnTo>
                  <a:lnTo>
                    <a:pt x="19050" y="19050"/>
                  </a:lnTo>
                  <a:lnTo>
                    <a:pt x="19050" y="6662293"/>
                  </a:lnTo>
                  <a:close/>
                  <a:moveTo>
                    <a:pt x="8764270" y="6541643"/>
                  </a:moveTo>
                  <a:lnTo>
                    <a:pt x="139700" y="6541643"/>
                  </a:lnTo>
                  <a:lnTo>
                    <a:pt x="139700" y="139700"/>
                  </a:lnTo>
                  <a:lnTo>
                    <a:pt x="8764270" y="139700"/>
                  </a:lnTo>
                  <a:lnTo>
                    <a:pt x="8764270" y="6541643"/>
                  </a:lnTo>
                  <a:close/>
                  <a:moveTo>
                    <a:pt x="158750" y="6522593"/>
                  </a:moveTo>
                  <a:lnTo>
                    <a:pt x="8745220" y="6522593"/>
                  </a:lnTo>
                  <a:lnTo>
                    <a:pt x="8745220" y="158750"/>
                  </a:lnTo>
                  <a:lnTo>
                    <a:pt x="158750" y="158750"/>
                  </a:lnTo>
                  <a:lnTo>
                    <a:pt x="158750" y="6522593"/>
                  </a:lnTo>
                  <a:close/>
                </a:path>
              </a:pathLst>
            </a:custGeom>
            <a:solidFill>
              <a:srgbClr val="A28B5A"/>
            </a:solidFill>
          </p:spPr>
        </p:sp>
      </p:grpSp>
      <p:sp>
        <p:nvSpPr>
          <p:cNvPr name="TextBox 5" id="5"/>
          <p:cNvSpPr txBox="true"/>
          <p:nvPr/>
        </p:nvSpPr>
        <p:spPr>
          <a:xfrm rot="0">
            <a:off x="843210" y="6482908"/>
            <a:ext cx="5718915" cy="934720"/>
          </a:xfrm>
          <a:prstGeom prst="rect">
            <a:avLst/>
          </a:prstGeom>
        </p:spPr>
        <p:txBody>
          <a:bodyPr anchor="t" rtlCol="false" tIns="0" lIns="0" bIns="0" rIns="0">
            <a:spAutoFit/>
          </a:bodyPr>
          <a:lstStyle/>
          <a:p>
            <a:pPr algn="ctr">
              <a:lnSpc>
                <a:spcPts val="7279"/>
              </a:lnSpc>
              <a:spcBef>
                <a:spcPct val="0"/>
              </a:spcBef>
            </a:pPr>
            <a:r>
              <a:rPr lang="en-US" b="true" sz="5199">
                <a:solidFill>
                  <a:srgbClr val="622512"/>
                </a:solidFill>
                <a:latin typeface="M Plus Rounded Black"/>
                <a:ea typeface="M Plus Rounded Black"/>
                <a:cs typeface="M Plus Rounded Black"/>
                <a:sym typeface="M Plus Rounded Black"/>
              </a:rPr>
              <a:t>髙橋 由香</a:t>
            </a:r>
          </a:p>
        </p:txBody>
      </p:sp>
      <p:sp>
        <p:nvSpPr>
          <p:cNvPr name="TextBox 6" id="6"/>
          <p:cNvSpPr txBox="true"/>
          <p:nvPr/>
        </p:nvSpPr>
        <p:spPr>
          <a:xfrm rot="0">
            <a:off x="7913614" y="1665652"/>
            <a:ext cx="9589939" cy="476250"/>
          </a:xfrm>
          <a:prstGeom prst="rect">
            <a:avLst/>
          </a:prstGeom>
        </p:spPr>
        <p:txBody>
          <a:bodyPr anchor="t" rtlCol="false" tIns="0" lIns="0" bIns="0" rIns="0">
            <a:spAutoFit/>
          </a:bodyPr>
          <a:lstStyle/>
          <a:p>
            <a:pPr algn="l">
              <a:lnSpc>
                <a:spcPts val="3600"/>
              </a:lnSpc>
            </a:pPr>
            <a:r>
              <a:rPr lang="en-US" sz="3000">
                <a:solidFill>
                  <a:srgbClr val="622512"/>
                </a:solidFill>
                <a:latin typeface="モード明朝"/>
                <a:ea typeface="モード明朝"/>
                <a:cs typeface="モード明朝"/>
                <a:sym typeface="モード明朝"/>
              </a:rPr>
              <a:t>Skills/Hobbies</a:t>
            </a:r>
          </a:p>
        </p:txBody>
      </p:sp>
      <p:sp>
        <p:nvSpPr>
          <p:cNvPr name="TextBox 7" id="7"/>
          <p:cNvSpPr txBox="true"/>
          <p:nvPr/>
        </p:nvSpPr>
        <p:spPr>
          <a:xfrm rot="0">
            <a:off x="7913614" y="2256202"/>
            <a:ext cx="7301805" cy="4832350"/>
          </a:xfrm>
          <a:prstGeom prst="rect">
            <a:avLst/>
          </a:prstGeom>
        </p:spPr>
        <p:txBody>
          <a:bodyPr anchor="t" rtlCol="false" tIns="0" lIns="0" bIns="0" rIns="0">
            <a:spAutoFit/>
          </a:bodyPr>
          <a:lstStyle/>
          <a:p>
            <a:pPr algn="l">
              <a:lnSpc>
                <a:spcPts val="3499"/>
              </a:lnSpc>
              <a:spcBef>
                <a:spcPct val="0"/>
              </a:spcBef>
            </a:pPr>
            <a:r>
              <a:rPr lang="en-US" b="true" sz="2499">
                <a:solidFill>
                  <a:srgbClr val="622512"/>
                </a:solidFill>
                <a:latin typeface="M Plus Rounded Black"/>
                <a:ea typeface="M Plus Rounded Black"/>
                <a:cs typeface="M Plus Rounded Black"/>
                <a:sym typeface="M Plus Rounded Black"/>
              </a:rPr>
              <a:t>看護師（学会発表 座長）</a:t>
            </a:r>
          </a:p>
          <a:p>
            <a:pPr algn="l">
              <a:lnSpc>
                <a:spcPts val="3499"/>
              </a:lnSpc>
              <a:spcBef>
                <a:spcPct val="0"/>
              </a:spcBef>
            </a:pPr>
            <a:r>
              <a:rPr lang="en-US" b="true" sz="2499">
                <a:solidFill>
                  <a:srgbClr val="622512"/>
                </a:solidFill>
                <a:latin typeface="M Plus Rounded Black"/>
                <a:ea typeface="M Plus Rounded Black"/>
                <a:cs typeface="M Plus Rounded Black"/>
                <a:sym typeface="M Plus Rounded Black"/>
              </a:rPr>
              <a:t>北大医療技術短期大学看護科非常勤講師</a:t>
            </a:r>
          </a:p>
          <a:p>
            <a:pPr algn="l">
              <a:lnSpc>
                <a:spcPts val="3499"/>
              </a:lnSpc>
              <a:spcBef>
                <a:spcPct val="0"/>
              </a:spcBef>
            </a:pPr>
            <a:r>
              <a:rPr lang="en-US" b="true" sz="2499">
                <a:solidFill>
                  <a:srgbClr val="622512"/>
                </a:solidFill>
                <a:latin typeface="M Plus Rounded Black"/>
                <a:ea typeface="M Plus Rounded Black"/>
                <a:cs typeface="M Plus Rounded Black"/>
                <a:sym typeface="M Plus Rounded Black"/>
              </a:rPr>
              <a:t>ヘルスコーチ</a:t>
            </a:r>
          </a:p>
          <a:p>
            <a:pPr algn="l">
              <a:lnSpc>
                <a:spcPts val="3499"/>
              </a:lnSpc>
              <a:spcBef>
                <a:spcPct val="0"/>
              </a:spcBef>
            </a:pPr>
            <a:r>
              <a:rPr lang="en-US" b="true" sz="2499">
                <a:solidFill>
                  <a:srgbClr val="622512"/>
                </a:solidFill>
                <a:latin typeface="M Plus Rounded Black"/>
                <a:ea typeface="M Plus Rounded Black"/>
                <a:cs typeface="M Plus Rounded Black"/>
                <a:sym typeface="M Plus Rounded Black"/>
              </a:rPr>
              <a:t>NLP心理学</a:t>
            </a:r>
          </a:p>
          <a:p>
            <a:pPr algn="l">
              <a:lnSpc>
                <a:spcPts val="3499"/>
              </a:lnSpc>
              <a:spcBef>
                <a:spcPct val="0"/>
              </a:spcBef>
            </a:pPr>
            <a:r>
              <a:rPr lang="en-US" b="true" sz="2499">
                <a:solidFill>
                  <a:srgbClr val="622512"/>
                </a:solidFill>
                <a:latin typeface="M Plus Rounded Black"/>
                <a:ea typeface="M Plus Rounded Black"/>
                <a:cs typeface="M Plus Rounded Black"/>
                <a:sym typeface="M Plus Rounded Black"/>
              </a:rPr>
              <a:t>量子力学</a:t>
            </a:r>
          </a:p>
          <a:p>
            <a:pPr algn="l">
              <a:lnSpc>
                <a:spcPts val="3499"/>
              </a:lnSpc>
              <a:spcBef>
                <a:spcPct val="0"/>
              </a:spcBef>
            </a:pPr>
            <a:r>
              <a:rPr lang="en-US" b="true" sz="2499">
                <a:solidFill>
                  <a:srgbClr val="622512"/>
                </a:solidFill>
                <a:latin typeface="M Plus Rounded Black"/>
                <a:ea typeface="M Plus Rounded Black"/>
                <a:cs typeface="M Plus Rounded Black"/>
                <a:sym typeface="M Plus Rounded Black"/>
              </a:rPr>
              <a:t>ゴッドカウンセリング</a:t>
            </a:r>
          </a:p>
          <a:p>
            <a:pPr algn="l">
              <a:lnSpc>
                <a:spcPts val="3499"/>
              </a:lnSpc>
              <a:spcBef>
                <a:spcPct val="0"/>
              </a:spcBef>
            </a:pPr>
            <a:r>
              <a:rPr lang="en-US" b="true" sz="2499">
                <a:solidFill>
                  <a:srgbClr val="622512"/>
                </a:solidFill>
                <a:latin typeface="M Plus Rounded Black"/>
                <a:ea typeface="M Plus Rounded Black"/>
                <a:cs typeface="M Plus Rounded Black"/>
                <a:sym typeface="M Plus Rounded Black"/>
              </a:rPr>
              <a:t>タマラ（アドバンスト）</a:t>
            </a:r>
          </a:p>
          <a:p>
            <a:pPr algn="l">
              <a:lnSpc>
                <a:spcPts val="3499"/>
              </a:lnSpc>
              <a:spcBef>
                <a:spcPct val="0"/>
              </a:spcBef>
            </a:pPr>
          </a:p>
          <a:p>
            <a:pPr algn="l">
              <a:lnSpc>
                <a:spcPts val="3499"/>
              </a:lnSpc>
              <a:spcBef>
                <a:spcPct val="0"/>
              </a:spcBef>
            </a:pPr>
            <a:r>
              <a:rPr lang="en-US" b="true" sz="2499">
                <a:solidFill>
                  <a:srgbClr val="622512"/>
                </a:solidFill>
                <a:latin typeface="M Plus Rounded Black"/>
                <a:ea typeface="M Plus Rounded Black"/>
                <a:cs typeface="M Plus Rounded Black"/>
                <a:sym typeface="M Plus Rounded Black"/>
              </a:rPr>
              <a:t>会社員時代</a:t>
            </a:r>
          </a:p>
          <a:p>
            <a:pPr algn="l">
              <a:lnSpc>
                <a:spcPts val="3499"/>
              </a:lnSpc>
              <a:spcBef>
                <a:spcPct val="0"/>
              </a:spcBef>
            </a:pPr>
            <a:r>
              <a:rPr lang="en-US" b="true" sz="2499">
                <a:solidFill>
                  <a:srgbClr val="622512"/>
                </a:solidFill>
                <a:latin typeface="M Plus Rounded Black"/>
                <a:ea typeface="M Plus Rounded Black"/>
                <a:cs typeface="M Plus Rounded Black"/>
                <a:sym typeface="M Plus Rounded Black"/>
              </a:rPr>
              <a:t>言いたいことが言えず、メニエール病</a:t>
            </a:r>
          </a:p>
          <a:p>
            <a:pPr algn="l">
              <a:lnSpc>
                <a:spcPts val="3499"/>
              </a:lnSpc>
              <a:spcBef>
                <a:spcPct val="0"/>
              </a:spcBef>
            </a:pPr>
            <a:r>
              <a:rPr lang="en-US" b="true" sz="2499">
                <a:solidFill>
                  <a:srgbClr val="622512"/>
                </a:solidFill>
                <a:latin typeface="M Plus Rounded Black"/>
                <a:ea typeface="M Plus Rounded Black"/>
                <a:cs typeface="M Plus Rounded Black"/>
                <a:sym typeface="M Plus Rounded Black"/>
              </a:rPr>
              <a:t>ストレスためすぎて、がんで余命１年と告知受ける</a:t>
            </a:r>
          </a:p>
        </p:txBody>
      </p:sp>
      <p:sp>
        <p:nvSpPr>
          <p:cNvPr name="TextBox 8" id="8"/>
          <p:cNvSpPr txBox="true"/>
          <p:nvPr/>
        </p:nvSpPr>
        <p:spPr>
          <a:xfrm rot="0">
            <a:off x="7913614" y="7732420"/>
            <a:ext cx="9589939" cy="476250"/>
          </a:xfrm>
          <a:prstGeom prst="rect">
            <a:avLst/>
          </a:prstGeom>
        </p:spPr>
        <p:txBody>
          <a:bodyPr anchor="t" rtlCol="false" tIns="0" lIns="0" bIns="0" rIns="0">
            <a:spAutoFit/>
          </a:bodyPr>
          <a:lstStyle/>
          <a:p>
            <a:pPr algn="l" marL="0" indent="0" lvl="0">
              <a:lnSpc>
                <a:spcPts val="3600"/>
              </a:lnSpc>
              <a:spcBef>
                <a:spcPct val="0"/>
              </a:spcBef>
            </a:pPr>
            <a:r>
              <a:rPr lang="en-US" sz="3000">
                <a:solidFill>
                  <a:srgbClr val="622512"/>
                </a:solidFill>
                <a:latin typeface="モード明朝"/>
                <a:ea typeface="モード明朝"/>
                <a:cs typeface="モード明朝"/>
                <a:sym typeface="モード明朝"/>
              </a:rPr>
              <a:t>Goal</a:t>
            </a:r>
          </a:p>
        </p:txBody>
      </p:sp>
      <p:sp>
        <p:nvSpPr>
          <p:cNvPr name="TextBox 9" id="9"/>
          <p:cNvSpPr txBox="true"/>
          <p:nvPr/>
        </p:nvSpPr>
        <p:spPr>
          <a:xfrm rot="0">
            <a:off x="7957504" y="8322921"/>
            <a:ext cx="11976228" cy="1327150"/>
          </a:xfrm>
          <a:prstGeom prst="rect">
            <a:avLst/>
          </a:prstGeom>
        </p:spPr>
        <p:txBody>
          <a:bodyPr anchor="t" rtlCol="false" tIns="0" lIns="0" bIns="0" rIns="0">
            <a:spAutoFit/>
          </a:bodyPr>
          <a:lstStyle/>
          <a:p>
            <a:pPr algn="l">
              <a:lnSpc>
                <a:spcPts val="3499"/>
              </a:lnSpc>
              <a:spcBef>
                <a:spcPct val="0"/>
              </a:spcBef>
            </a:pPr>
            <a:r>
              <a:rPr lang="en-US" b="true" sz="2499">
                <a:solidFill>
                  <a:srgbClr val="622512"/>
                </a:solidFill>
                <a:latin typeface="M Plus Rounded Black"/>
                <a:ea typeface="M Plus Rounded Black"/>
                <a:cs typeface="M Plus Rounded Black"/>
                <a:sym typeface="M Plus Rounded Black"/>
              </a:rPr>
              <a:t>周囲の方のエネルギー・運気を上げること、使い方をお伝えする事で、</a:t>
            </a:r>
          </a:p>
          <a:p>
            <a:pPr algn="l">
              <a:lnSpc>
                <a:spcPts val="3499"/>
              </a:lnSpc>
              <a:spcBef>
                <a:spcPct val="0"/>
              </a:spcBef>
            </a:pPr>
            <a:r>
              <a:rPr lang="en-US" b="true" sz="2499">
                <a:solidFill>
                  <a:srgbClr val="622512"/>
                </a:solidFill>
                <a:latin typeface="M Plus Rounded Black"/>
                <a:ea typeface="M Plus Rounded Black"/>
                <a:cs typeface="M Plus Rounded Black"/>
                <a:sym typeface="M Plus Rounded Black"/>
              </a:rPr>
              <a:t>周囲の方の人生がよくなる人を増やしたい。</a:t>
            </a:r>
          </a:p>
          <a:p>
            <a:pPr algn="l">
              <a:lnSpc>
                <a:spcPts val="3499"/>
              </a:lnSpc>
              <a:spcBef>
                <a:spcPct val="0"/>
              </a:spcBef>
            </a:pPr>
            <a:r>
              <a:rPr lang="en-US" b="true" sz="2499">
                <a:solidFill>
                  <a:srgbClr val="622512"/>
                </a:solidFill>
                <a:latin typeface="M Plus Rounded Black"/>
                <a:ea typeface="M Plus Rounded Black"/>
                <a:cs typeface="M Plus Rounded Black"/>
                <a:sym typeface="M Plus Rounded Black"/>
              </a:rPr>
              <a:t>みんなの幸せのために自身の人間力を上げる</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F8F2ED"/>
        </a:solidFill>
      </p:bgPr>
    </p:bg>
    <p:spTree>
      <p:nvGrpSpPr>
        <p:cNvPr id="1" name=""/>
        <p:cNvGrpSpPr/>
        <p:nvPr/>
      </p:nvGrpSpPr>
      <p:grpSpPr>
        <a:xfrm>
          <a:off x="0" y="0"/>
          <a:ext cx="0" cy="0"/>
          <a:chOff x="0" y="0"/>
          <a:chExt cx="0" cy="0"/>
        </a:xfrm>
      </p:grpSpPr>
      <p:sp>
        <p:nvSpPr>
          <p:cNvPr name="TextBox 2" id="2"/>
          <p:cNvSpPr txBox="true"/>
          <p:nvPr/>
        </p:nvSpPr>
        <p:spPr>
          <a:xfrm rot="0">
            <a:off x="0" y="-123825"/>
            <a:ext cx="18288000" cy="10143269"/>
          </a:xfrm>
          <a:prstGeom prst="rect">
            <a:avLst/>
          </a:prstGeom>
        </p:spPr>
        <p:txBody>
          <a:bodyPr anchor="t" rtlCol="false" tIns="0" lIns="0" bIns="0" rIns="0">
            <a:spAutoFit/>
          </a:bodyPr>
          <a:lstStyle/>
          <a:p>
            <a:pPr algn="l">
              <a:lnSpc>
                <a:spcPts val="6347"/>
              </a:lnSpc>
            </a:pPr>
            <a:r>
              <a:t/>
            </a:r>
          </a:p>
          <a:p>
            <a:pPr algn="ctr">
              <a:lnSpc>
                <a:spcPts val="6347"/>
              </a:lnSpc>
            </a:pPr>
            <a:r>
              <a:rPr lang="en-US" sz="4533">
                <a:solidFill>
                  <a:srgbClr val="622512"/>
                </a:solidFill>
                <a:latin typeface="M Plus Rounded Black"/>
                <a:ea typeface="M Plus Rounded Black"/>
                <a:cs typeface="M Plus Rounded Black"/>
                <a:sym typeface="M Plus Rounded Black"/>
              </a:rPr>
              <a:t>なぜ、保健室でお話しするのでしょうか？</a:t>
            </a:r>
          </a:p>
          <a:p>
            <a:pPr algn="l">
              <a:lnSpc>
                <a:spcPts val="6347"/>
              </a:lnSpc>
            </a:pPr>
            <a:r>
              <a:t/>
            </a:r>
          </a:p>
          <a:p>
            <a:pPr algn="l">
              <a:lnSpc>
                <a:spcPts val="4200"/>
              </a:lnSpc>
            </a:pPr>
            <a:r>
              <a:rPr lang="en-US" sz="3000">
                <a:solidFill>
                  <a:srgbClr val="622512"/>
                </a:solidFill>
                <a:latin typeface="M Plus Rounded Black"/>
                <a:ea typeface="M Plus Rounded Black"/>
                <a:cs typeface="M Plus Rounded Black"/>
                <a:sym typeface="M Plus Rounded Black"/>
              </a:rPr>
              <a:t>　　　　　　　　１．会社は、奥田さんに元気で戻ってきてほしいと思っています。</a:t>
            </a:r>
          </a:p>
          <a:p>
            <a:pPr algn="l">
              <a:lnSpc>
                <a:spcPts val="4200"/>
              </a:lnSpc>
            </a:pPr>
            <a:r>
              <a:rPr lang="en-US" sz="3000">
                <a:solidFill>
                  <a:srgbClr val="622512"/>
                </a:solidFill>
                <a:latin typeface="M Plus Rounded Black"/>
                <a:ea typeface="M Plus Rounded Black"/>
                <a:cs typeface="M Plus Rounded Black"/>
                <a:sym typeface="M Plus Rounded Black"/>
              </a:rPr>
              <a:t>　　　　　　　　２．でも、急がなくて大丈夫です。今は体と心を整える時間です。</a:t>
            </a:r>
          </a:p>
          <a:p>
            <a:pPr algn="l">
              <a:lnSpc>
                <a:spcPts val="4200"/>
              </a:lnSpc>
            </a:pPr>
            <a:r>
              <a:rPr lang="en-US" sz="3000">
                <a:solidFill>
                  <a:srgbClr val="622512"/>
                </a:solidFill>
                <a:latin typeface="M Plus Rounded Black"/>
                <a:ea typeface="M Plus Rounded Black"/>
                <a:cs typeface="M Plus Rounded Black"/>
                <a:sym typeface="M Plus Rounded Black"/>
              </a:rPr>
              <a:t>　　　　　　　　３．ここは、会社でも病院でもない「保健室」です。</a:t>
            </a:r>
          </a:p>
          <a:p>
            <a:pPr algn="l">
              <a:lnSpc>
                <a:spcPts val="6347"/>
              </a:lnSpc>
            </a:pPr>
            <a:r>
              <a:t/>
            </a:r>
          </a:p>
          <a:p>
            <a:pPr algn="l">
              <a:lnSpc>
                <a:spcPts val="6347"/>
              </a:lnSpc>
            </a:pPr>
            <a:r>
              <a:t/>
            </a:r>
          </a:p>
          <a:p>
            <a:pPr algn="l">
              <a:lnSpc>
                <a:spcPts val="6347"/>
              </a:lnSpc>
            </a:pPr>
            <a:r>
              <a:t>　　　　　　　　　　企業のオンライン保健室と聞いて、どのように思われましたか？</a:t>
            </a:r>
          </a:p>
        </p:txBody>
      </p:sp>
      <p:sp>
        <p:nvSpPr>
          <p:cNvPr name="TextBox 3" id="3"/>
          <p:cNvSpPr txBox="true"/>
          <p:nvPr/>
        </p:nvSpPr>
        <p:spPr>
          <a:xfrm rot="0">
            <a:off x="12989800" y="9368511"/>
            <a:ext cx="5298200" cy="608965"/>
          </a:xfrm>
          <a:prstGeom prst="rect">
            <a:avLst/>
          </a:prstGeom>
        </p:spPr>
        <p:txBody>
          <a:bodyPr anchor="t" rtlCol="false" tIns="0" lIns="0" bIns="0" rIns="0">
            <a:spAutoFit/>
          </a:bodyPr>
          <a:lstStyle/>
          <a:p>
            <a:pPr algn="ctr">
              <a:lnSpc>
                <a:spcPts val="4759"/>
              </a:lnSpc>
            </a:pPr>
            <a:r>
              <a:rPr lang="en-US" sz="3399">
                <a:solidFill>
                  <a:srgbClr val="66461F"/>
                </a:solidFill>
                <a:latin typeface="M Plus Rounded Black"/>
                <a:ea typeface="M Plus Rounded Black"/>
                <a:cs typeface="M Plus Rounded Black"/>
                <a:sym typeface="M Plus Rounded Black"/>
              </a:rPr>
              <a:t>@海音～心体の調律～</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F8F2ED"/>
        </a:solidFill>
      </p:bgPr>
    </p:bg>
    <p:spTree>
      <p:nvGrpSpPr>
        <p:cNvPr id="1" name=""/>
        <p:cNvGrpSpPr/>
        <p:nvPr/>
      </p:nvGrpSpPr>
      <p:grpSpPr>
        <a:xfrm>
          <a:off x="0" y="0"/>
          <a:ext cx="0" cy="0"/>
          <a:chOff x="0" y="0"/>
          <a:chExt cx="0" cy="0"/>
        </a:xfrm>
      </p:grpSpPr>
      <p:sp>
        <p:nvSpPr>
          <p:cNvPr name="TextBox 2" id="2"/>
          <p:cNvSpPr txBox="true"/>
          <p:nvPr/>
        </p:nvSpPr>
        <p:spPr>
          <a:xfrm rot="0">
            <a:off x="0" y="-123825"/>
            <a:ext cx="18288000" cy="10676669"/>
          </a:xfrm>
          <a:prstGeom prst="rect">
            <a:avLst/>
          </a:prstGeom>
        </p:spPr>
        <p:txBody>
          <a:bodyPr anchor="t" rtlCol="false" tIns="0" lIns="0" bIns="0" rIns="0">
            <a:spAutoFit/>
          </a:bodyPr>
          <a:lstStyle/>
          <a:p>
            <a:pPr algn="l">
              <a:lnSpc>
                <a:spcPts val="6347"/>
              </a:lnSpc>
            </a:pPr>
            <a:r>
              <a:t/>
            </a:r>
          </a:p>
          <a:p>
            <a:pPr algn="ctr">
              <a:lnSpc>
                <a:spcPts val="6347"/>
              </a:lnSpc>
            </a:pPr>
            <a:r>
              <a:rPr lang="en-US" sz="4533">
                <a:solidFill>
                  <a:srgbClr val="622512"/>
                </a:solidFill>
                <a:latin typeface="M Plus Rounded Black"/>
                <a:ea typeface="M Plus Rounded Black"/>
                <a:cs typeface="M Plus Rounded Black"/>
                <a:sym typeface="M Plus Rounded Black"/>
              </a:rPr>
              <a:t>高橋由香の立ち位置</a:t>
            </a:r>
          </a:p>
          <a:p>
            <a:pPr algn="l">
              <a:lnSpc>
                <a:spcPts val="6347"/>
              </a:lnSpc>
            </a:pPr>
            <a:r>
              <a:t/>
            </a:r>
          </a:p>
          <a:p>
            <a:pPr algn="l">
              <a:lnSpc>
                <a:spcPts val="4200"/>
              </a:lnSpc>
            </a:pPr>
            <a:r>
              <a:rPr lang="en-US" sz="3000">
                <a:solidFill>
                  <a:srgbClr val="622512"/>
                </a:solidFill>
                <a:latin typeface="M Plus Rounded Black"/>
                <a:ea typeface="M Plus Rounded Black"/>
                <a:cs typeface="M Plus Rounded Black"/>
                <a:sym typeface="M Plus Rounded Black"/>
              </a:rPr>
              <a:t>　　　　　　　　１．医師ではないため、病気の治療・診断はできません。</a:t>
            </a:r>
          </a:p>
          <a:p>
            <a:pPr algn="l">
              <a:lnSpc>
                <a:spcPts val="4200"/>
              </a:lnSpc>
            </a:pPr>
            <a:r>
              <a:rPr lang="en-US" sz="3000">
                <a:solidFill>
                  <a:srgbClr val="622512"/>
                </a:solidFill>
                <a:latin typeface="M Plus Rounded Black"/>
                <a:ea typeface="M Plus Rounded Black"/>
                <a:cs typeface="M Plus Rounded Black"/>
                <a:sym typeface="M Plus Rounded Black"/>
              </a:rPr>
              <a:t>　　　　　　　　２．看護師として、健康面のご相談にのることができます。</a:t>
            </a:r>
          </a:p>
          <a:p>
            <a:pPr algn="l">
              <a:lnSpc>
                <a:spcPts val="4200"/>
              </a:lnSpc>
            </a:pPr>
            <a:r>
              <a:rPr lang="en-US" sz="3000">
                <a:solidFill>
                  <a:srgbClr val="622512"/>
                </a:solidFill>
                <a:latin typeface="M Plus Rounded Black"/>
                <a:ea typeface="M Plus Rounded Black"/>
                <a:cs typeface="M Plus Rounded Black"/>
                <a:sym typeface="M Plus Rounded Black"/>
              </a:rPr>
              <a:t>　　　　　　　　３．主治医の先生と一緒に進めます。私からのアドバイスと</a:t>
            </a:r>
          </a:p>
          <a:p>
            <a:pPr algn="l">
              <a:lnSpc>
                <a:spcPts val="4200"/>
              </a:lnSpc>
            </a:pPr>
            <a:r>
              <a:rPr lang="en-US" sz="3000">
                <a:solidFill>
                  <a:srgbClr val="622512"/>
                </a:solidFill>
                <a:latin typeface="M Plus Rounded Black"/>
                <a:ea typeface="M Plus Rounded Black"/>
                <a:cs typeface="M Plus Rounded Black"/>
                <a:sym typeface="M Plus Rounded Black"/>
              </a:rPr>
              <a:t>　　　　　　　　　　主治医の意見が異なる場合は、主治医の意見を優先してください。</a:t>
            </a:r>
          </a:p>
          <a:p>
            <a:pPr algn="l">
              <a:lnSpc>
                <a:spcPts val="4200"/>
              </a:lnSpc>
            </a:pPr>
            <a:r>
              <a:rPr lang="en-US" sz="3000">
                <a:solidFill>
                  <a:srgbClr val="622512"/>
                </a:solidFill>
                <a:latin typeface="M Plus Rounded Black"/>
                <a:ea typeface="M Plus Rounded Black"/>
                <a:cs typeface="M Plus Rounded Black"/>
                <a:sym typeface="M Plus Rounded Black"/>
              </a:rPr>
              <a:t>　　　　　　　　４．お薬・サプリのことは、必ず主治医・薬剤師に確認してください。</a:t>
            </a:r>
          </a:p>
          <a:p>
            <a:pPr algn="l">
              <a:lnSpc>
                <a:spcPts val="4200"/>
              </a:lnSpc>
            </a:pPr>
            <a:r>
              <a:rPr lang="en-US" sz="3000">
                <a:solidFill>
                  <a:srgbClr val="622512"/>
                </a:solidFill>
                <a:latin typeface="M Plus Rounded Black"/>
                <a:ea typeface="M Plus Rounded Black"/>
                <a:cs typeface="M Plus Rounded Black"/>
                <a:sym typeface="M Plus Rounded Black"/>
              </a:rPr>
              <a:t>　　　　　　　　５．やるかどうかは、奥田さんが決めて大丈夫です。</a:t>
            </a:r>
          </a:p>
          <a:p>
            <a:pPr algn="l">
              <a:lnSpc>
                <a:spcPts val="4200"/>
              </a:lnSpc>
            </a:pPr>
            <a:r>
              <a:rPr lang="en-US" sz="3000">
                <a:solidFill>
                  <a:srgbClr val="622512"/>
                </a:solidFill>
                <a:latin typeface="M Plus Rounded Black"/>
                <a:ea typeface="M Plus Rounded Black"/>
                <a:cs typeface="M Plus Rounded Black"/>
                <a:sym typeface="M Plus Rounded Black"/>
              </a:rPr>
              <a:t>　　　　　　　　６．ここで話したことは、奥田さんの許可なく会社に伝えません。</a:t>
            </a:r>
          </a:p>
          <a:p>
            <a:pPr algn="l">
              <a:lnSpc>
                <a:spcPts val="4200"/>
              </a:lnSpc>
            </a:pPr>
            <a:r>
              <a:rPr lang="en-US" sz="3000">
                <a:solidFill>
                  <a:srgbClr val="622512"/>
                </a:solidFill>
                <a:latin typeface="M Plus Rounded Black"/>
                <a:ea typeface="M Plus Rounded Black"/>
                <a:cs typeface="M Plus Rounded Black"/>
                <a:sym typeface="M Plus Rounded Black"/>
              </a:rPr>
              <a:t>　　　　　　　　　　会社に伝えるのは「面談をしたかどうか」だけです。</a:t>
            </a:r>
          </a:p>
          <a:p>
            <a:pPr algn="l">
              <a:lnSpc>
                <a:spcPts val="4200"/>
              </a:lnSpc>
            </a:pPr>
            <a:r>
              <a:rPr lang="en-US" sz="3000">
                <a:solidFill>
                  <a:srgbClr val="622512"/>
                </a:solidFill>
                <a:latin typeface="M Plus Rounded Black"/>
                <a:ea typeface="M Plus Rounded Black"/>
                <a:cs typeface="M Plus Rounded Black"/>
                <a:sym typeface="M Plus Rounded Black"/>
              </a:rPr>
              <a:t>　　　　　　　　７．ただし、命に関わると判断したときだけは、奥田さんを守るために</a:t>
            </a:r>
          </a:p>
          <a:p>
            <a:pPr algn="l">
              <a:lnSpc>
                <a:spcPts val="4200"/>
              </a:lnSpc>
            </a:pPr>
            <a:r>
              <a:rPr lang="en-US" sz="3000">
                <a:solidFill>
                  <a:srgbClr val="622512"/>
                </a:solidFill>
                <a:latin typeface="M Plus Rounded Black"/>
                <a:ea typeface="M Plus Rounded Black"/>
                <a:cs typeface="M Plus Rounded Black"/>
                <a:sym typeface="M Plus Rounded Black"/>
              </a:rPr>
              <a:t>　　　　　　　　　　主治医・ご家族・会社の担当者に連絡することがあります。</a:t>
            </a:r>
          </a:p>
        </p:txBody>
      </p:sp>
      <p:sp>
        <p:nvSpPr>
          <p:cNvPr name="TextBox 3" id="3"/>
          <p:cNvSpPr txBox="true"/>
          <p:nvPr/>
        </p:nvSpPr>
        <p:spPr>
          <a:xfrm rot="0">
            <a:off x="12989800" y="9368511"/>
            <a:ext cx="5298200" cy="608965"/>
          </a:xfrm>
          <a:prstGeom prst="rect">
            <a:avLst/>
          </a:prstGeom>
        </p:spPr>
        <p:txBody>
          <a:bodyPr anchor="t" rtlCol="false" tIns="0" lIns="0" bIns="0" rIns="0">
            <a:spAutoFit/>
          </a:bodyPr>
          <a:lstStyle/>
          <a:p>
            <a:pPr algn="ctr">
              <a:lnSpc>
                <a:spcPts val="4759"/>
              </a:lnSpc>
            </a:pPr>
            <a:r>
              <a:rPr lang="en-US" sz="3399">
                <a:solidFill>
                  <a:srgbClr val="66461F"/>
                </a:solidFill>
                <a:latin typeface="M Plus Rounded Black"/>
                <a:ea typeface="M Plus Rounded Black"/>
                <a:cs typeface="M Plus Rounded Black"/>
                <a:sym typeface="M Plus Rounded Black"/>
              </a:rPr>
              <a:t>@海音～心体の調律～</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F8F2ED"/>
        </a:solidFill>
      </p:bgPr>
    </p:bg>
    <p:spTree>
      <p:nvGrpSpPr>
        <p:cNvPr id="1" name=""/>
        <p:cNvGrpSpPr/>
        <p:nvPr/>
      </p:nvGrpSpPr>
      <p:grpSpPr>
        <a:xfrm>
          <a:off x="0" y="0"/>
          <a:ext cx="0" cy="0"/>
          <a:chOff x="0" y="0"/>
          <a:chExt cx="0" cy="0"/>
        </a:xfrm>
      </p:grpSpPr>
      <p:sp>
        <p:nvSpPr>
          <p:cNvPr name="TextBox 2" id="2"/>
          <p:cNvSpPr txBox="true"/>
          <p:nvPr/>
        </p:nvSpPr>
        <p:spPr>
          <a:xfrm rot="0">
            <a:off x="0" y="-123825"/>
            <a:ext cx="18288000" cy="10676669"/>
          </a:xfrm>
          <a:prstGeom prst="rect">
            <a:avLst/>
          </a:prstGeom>
        </p:spPr>
        <p:txBody>
          <a:bodyPr anchor="t" rtlCol="false" tIns="0" lIns="0" bIns="0" rIns="0">
            <a:spAutoFit/>
          </a:bodyPr>
          <a:lstStyle/>
          <a:p>
            <a:pPr algn="just">
              <a:lnSpc>
                <a:spcPts val="6347"/>
              </a:lnSpc>
            </a:pPr>
            <a:r>
              <a:t/>
            </a:r>
          </a:p>
          <a:p>
            <a:pPr algn="just">
              <a:lnSpc>
                <a:spcPts val="6347"/>
              </a:lnSpc>
            </a:pPr>
            <a:r>
              <a:rPr lang="en-US" sz="4533">
                <a:solidFill>
                  <a:srgbClr val="622512"/>
                </a:solidFill>
                <a:latin typeface="M Plus Rounded Black"/>
                <a:ea typeface="M Plus Rounded Black"/>
                <a:cs typeface="M Plus Rounded Black"/>
                <a:sym typeface="M Plus Rounded Black"/>
              </a:rPr>
              <a:t>　　　　　　　　　　　　　　　　　高橋由香の考え方</a:t>
            </a:r>
          </a:p>
          <a:p>
            <a:pPr algn="just">
              <a:lnSpc>
                <a:spcPts val="6347"/>
              </a:lnSpc>
            </a:pPr>
            <a:r>
              <a:t/>
            </a:r>
          </a:p>
          <a:p>
            <a:pPr algn="just">
              <a:lnSpc>
                <a:spcPts val="4200"/>
              </a:lnSpc>
            </a:pPr>
            <a:r>
              <a:rPr lang="en-US" sz="3000">
                <a:solidFill>
                  <a:srgbClr val="622512"/>
                </a:solidFill>
                <a:latin typeface="M Plus Rounded Black"/>
                <a:ea typeface="M Plus Rounded Black"/>
                <a:cs typeface="M Plus Rounded Black"/>
                <a:sym typeface="M Plus Rounded Black"/>
              </a:rPr>
              <a:t>　　　　　　　　１．できそうなことを１つだけ、試してみてください。</a:t>
            </a:r>
          </a:p>
          <a:p>
            <a:pPr algn="just">
              <a:lnSpc>
                <a:spcPts val="4200"/>
              </a:lnSpc>
            </a:pPr>
            <a:r>
              <a:rPr lang="en-US" sz="3000">
                <a:solidFill>
                  <a:srgbClr val="622512"/>
                </a:solidFill>
                <a:latin typeface="M Plus Rounded Black"/>
                <a:ea typeface="M Plus Rounded Black"/>
                <a:cs typeface="M Plus Rounded Black"/>
                <a:sym typeface="M Plus Rounded Black"/>
              </a:rPr>
              <a:t>　　　　　　　　　　やらなくても大丈夫です。</a:t>
            </a:r>
          </a:p>
          <a:p>
            <a:pPr algn="just">
              <a:lnSpc>
                <a:spcPts val="4200"/>
              </a:lnSpc>
            </a:pPr>
            <a:r>
              <a:rPr lang="en-US" sz="3000">
                <a:solidFill>
                  <a:srgbClr val="622512"/>
                </a:solidFill>
                <a:latin typeface="M Plus Rounded Black"/>
                <a:ea typeface="M Plus Rounded Black"/>
                <a:cs typeface="M Plus Rounded Black"/>
                <a:sym typeface="M Plus Rounded Black"/>
              </a:rPr>
              <a:t>　　　　　　　　２．話を聞いて「やってみたいな」と思ったところからで大丈夫です。</a:t>
            </a:r>
          </a:p>
          <a:p>
            <a:pPr algn="just">
              <a:lnSpc>
                <a:spcPts val="4200"/>
              </a:lnSpc>
            </a:pPr>
            <a:r>
              <a:rPr lang="en-US" sz="3000">
                <a:solidFill>
                  <a:srgbClr val="622512"/>
                </a:solidFill>
                <a:latin typeface="M Plus Rounded Black"/>
                <a:ea typeface="M Plus Rounded Black"/>
                <a:cs typeface="M Plus Rounded Black"/>
                <a:sym typeface="M Plus Rounded Black"/>
              </a:rPr>
              <a:t>　　　　　　　　３．合う・合わないがわかるまで、２～３週間くらいかかります。</a:t>
            </a:r>
          </a:p>
          <a:p>
            <a:pPr algn="just">
              <a:lnSpc>
                <a:spcPts val="4200"/>
              </a:lnSpc>
            </a:pPr>
            <a:r>
              <a:rPr lang="en-US" sz="3000">
                <a:solidFill>
                  <a:srgbClr val="622512"/>
                </a:solidFill>
                <a:latin typeface="M Plus Rounded Black"/>
                <a:ea typeface="M Plus Rounded Black"/>
                <a:cs typeface="M Plus Rounded Black"/>
                <a:sym typeface="M Plus Rounded Black"/>
              </a:rPr>
              <a:t>　　　　　　　　４．始める前と後で、眠り・食事・気分などを比べてみると</a:t>
            </a:r>
          </a:p>
          <a:p>
            <a:pPr algn="just">
              <a:lnSpc>
                <a:spcPts val="4200"/>
              </a:lnSpc>
            </a:pPr>
            <a:r>
              <a:rPr lang="en-US" sz="3000">
                <a:solidFill>
                  <a:srgbClr val="622512"/>
                </a:solidFill>
                <a:latin typeface="M Plus Rounded Black"/>
                <a:ea typeface="M Plus Rounded Black"/>
                <a:cs typeface="M Plus Rounded Black"/>
                <a:sym typeface="M Plus Rounded Black"/>
              </a:rPr>
              <a:t>　　　　　　　　　　わかりやすくなります。</a:t>
            </a:r>
          </a:p>
          <a:p>
            <a:pPr algn="just">
              <a:lnSpc>
                <a:spcPts val="4200"/>
              </a:lnSpc>
            </a:pPr>
            <a:r>
              <a:rPr lang="en-US" sz="3000">
                <a:solidFill>
                  <a:srgbClr val="622512"/>
                </a:solidFill>
                <a:latin typeface="M Plus Rounded Black"/>
                <a:ea typeface="M Plus Rounded Black"/>
                <a:cs typeface="M Plus Rounded Black"/>
                <a:sym typeface="M Plus Rounded Black"/>
              </a:rPr>
              <a:t>　　　　　　　　５．合わない・嫌だと思ったことは、すぐにやめて教えてください。</a:t>
            </a:r>
          </a:p>
          <a:p>
            <a:pPr algn="just">
              <a:lnSpc>
                <a:spcPts val="4200"/>
              </a:lnSpc>
            </a:pPr>
            <a:r>
              <a:rPr lang="en-US" sz="3000">
                <a:solidFill>
                  <a:srgbClr val="622512"/>
                </a:solidFill>
                <a:latin typeface="M Plus Rounded Black"/>
                <a:ea typeface="M Plus Rounded Black"/>
                <a:cs typeface="M Plus Rounded Black"/>
                <a:sym typeface="M Plus Rounded Black"/>
              </a:rPr>
              <a:t>　　　　　　　　６．やりたい、楽しいと思ったことは、どんどんやりましょう。</a:t>
            </a:r>
          </a:p>
        </p:txBody>
      </p:sp>
      <p:sp>
        <p:nvSpPr>
          <p:cNvPr name="TextBox 3" id="3"/>
          <p:cNvSpPr txBox="true"/>
          <p:nvPr/>
        </p:nvSpPr>
        <p:spPr>
          <a:xfrm rot="0">
            <a:off x="12989800" y="9454236"/>
            <a:ext cx="5298200" cy="608965"/>
          </a:xfrm>
          <a:prstGeom prst="rect">
            <a:avLst/>
          </a:prstGeom>
        </p:spPr>
        <p:txBody>
          <a:bodyPr anchor="t" rtlCol="false" tIns="0" lIns="0" bIns="0" rIns="0">
            <a:spAutoFit/>
          </a:bodyPr>
          <a:lstStyle/>
          <a:p>
            <a:pPr algn="ctr">
              <a:lnSpc>
                <a:spcPts val="4759"/>
              </a:lnSpc>
            </a:pPr>
            <a:r>
              <a:rPr lang="en-US" sz="3399">
                <a:solidFill>
                  <a:srgbClr val="66461F"/>
                </a:solidFill>
                <a:latin typeface="M Plus Rounded Black"/>
                <a:ea typeface="M Plus Rounded Black"/>
                <a:cs typeface="M Plus Rounded Black"/>
                <a:sym typeface="M Plus Rounded Black"/>
              </a:rPr>
              <a:t>@海音～心体の調律～</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8F2ED"/>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1462779"/>
          </a:xfrm>
          <a:custGeom>
            <a:avLst/>
            <a:gdLst/>
            <a:ahLst/>
            <a:cxnLst/>
            <a:rect r="r" b="b" t="t" l="l"/>
            <a:pathLst>
              <a:path h="11462779" w="18288000">
                <a:moveTo>
                  <a:pt x="0" y="0"/>
                </a:moveTo>
                <a:lnTo>
                  <a:pt x="18288000" y="0"/>
                </a:lnTo>
                <a:lnTo>
                  <a:pt x="18288000" y="11462779"/>
                </a:lnTo>
                <a:lnTo>
                  <a:pt x="0" y="11462779"/>
                </a:lnTo>
                <a:lnTo>
                  <a:pt x="0" y="0"/>
                </a:lnTo>
                <a:close/>
              </a:path>
            </a:pathLst>
          </a:custGeom>
          <a:blipFill>
            <a:blip r:embed="rId2"/>
            <a:stretch>
              <a:fillRect l="0" t="-9828" r="0" b="-9828"/>
            </a:stretch>
          </a:blipFill>
        </p:spPr>
      </p:sp>
      <p:sp>
        <p:nvSpPr>
          <p:cNvPr name="TextBox 3" id="3"/>
          <p:cNvSpPr txBox="true"/>
          <p:nvPr/>
        </p:nvSpPr>
        <p:spPr>
          <a:xfrm rot="0">
            <a:off x="12989800" y="9368511"/>
            <a:ext cx="5298200" cy="608965"/>
          </a:xfrm>
          <a:prstGeom prst="rect">
            <a:avLst/>
          </a:prstGeom>
        </p:spPr>
        <p:txBody>
          <a:bodyPr anchor="t" rtlCol="false" tIns="0" lIns="0" bIns="0" rIns="0">
            <a:spAutoFit/>
          </a:bodyPr>
          <a:lstStyle/>
          <a:p>
            <a:pPr algn="ctr">
              <a:lnSpc>
                <a:spcPts val="4759"/>
              </a:lnSpc>
            </a:pPr>
            <a:r>
              <a:rPr lang="en-US" sz="3399">
                <a:solidFill>
                  <a:srgbClr val="66461F"/>
                </a:solidFill>
                <a:latin typeface="M Plus Rounded Black"/>
                <a:ea typeface="M Plus Rounded Black"/>
                <a:cs typeface="M Plus Rounded Black"/>
                <a:sym typeface="M Plus Rounded Black"/>
              </a:rPr>
              <a:t>@海音～心体の調律～</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8F2ED"/>
        </a:solidFill>
      </p:bgPr>
    </p:bg>
    <p:spTree>
      <p:nvGrpSpPr>
        <p:cNvPr id="1" name=""/>
        <p:cNvGrpSpPr/>
        <p:nvPr/>
      </p:nvGrpSpPr>
      <p:grpSpPr>
        <a:xfrm>
          <a:off x="0" y="0"/>
          <a:ext cx="0" cy="0"/>
          <a:chOff x="0" y="0"/>
          <a:chExt cx="0" cy="0"/>
        </a:xfrm>
      </p:grpSpPr>
      <p:sp>
        <p:nvSpPr>
          <p:cNvPr name="Freeform 2" id="2"/>
          <p:cNvSpPr/>
          <p:nvPr/>
        </p:nvSpPr>
        <p:spPr>
          <a:xfrm flipH="false" flipV="false" rot="0">
            <a:off x="321120" y="3899835"/>
            <a:ext cx="9131653" cy="5136555"/>
          </a:xfrm>
          <a:custGeom>
            <a:avLst/>
            <a:gdLst/>
            <a:ahLst/>
            <a:cxnLst/>
            <a:rect r="r" b="b" t="t" l="l"/>
            <a:pathLst>
              <a:path h="5136555" w="9131653">
                <a:moveTo>
                  <a:pt x="0" y="0"/>
                </a:moveTo>
                <a:lnTo>
                  <a:pt x="9131653" y="0"/>
                </a:lnTo>
                <a:lnTo>
                  <a:pt x="9131653" y="5136555"/>
                </a:lnTo>
                <a:lnTo>
                  <a:pt x="0" y="5136555"/>
                </a:lnTo>
                <a:lnTo>
                  <a:pt x="0" y="0"/>
                </a:lnTo>
                <a:close/>
              </a:path>
            </a:pathLst>
          </a:custGeom>
          <a:blipFill>
            <a:blip r:embed="rId2"/>
            <a:stretch>
              <a:fillRect l="0" t="0" r="0" b="0"/>
            </a:stretch>
          </a:blipFill>
        </p:spPr>
      </p:sp>
      <p:sp>
        <p:nvSpPr>
          <p:cNvPr name="TextBox 3" id="3"/>
          <p:cNvSpPr txBox="true"/>
          <p:nvPr/>
        </p:nvSpPr>
        <p:spPr>
          <a:xfrm rot="0">
            <a:off x="4712679" y="885825"/>
            <a:ext cx="7924106" cy="934720"/>
          </a:xfrm>
          <a:prstGeom prst="rect">
            <a:avLst/>
          </a:prstGeom>
        </p:spPr>
        <p:txBody>
          <a:bodyPr anchor="t" rtlCol="false" tIns="0" lIns="0" bIns="0" rIns="0">
            <a:spAutoFit/>
          </a:bodyPr>
          <a:lstStyle/>
          <a:p>
            <a:pPr algn="ctr">
              <a:lnSpc>
                <a:spcPts val="7279"/>
              </a:lnSpc>
            </a:pPr>
            <a:r>
              <a:rPr lang="en-US" sz="5199">
                <a:solidFill>
                  <a:srgbClr val="622512"/>
                </a:solidFill>
                <a:latin typeface="M Plus Rounded Black"/>
                <a:ea typeface="M Plus Rounded Black"/>
                <a:cs typeface="M Plus Rounded Black"/>
                <a:sym typeface="M Plus Rounded Black"/>
              </a:rPr>
              <a:t>今の状態を教えてください</a:t>
            </a:r>
          </a:p>
        </p:txBody>
      </p:sp>
      <p:sp>
        <p:nvSpPr>
          <p:cNvPr name="TextBox 4" id="4"/>
          <p:cNvSpPr txBox="true"/>
          <p:nvPr/>
        </p:nvSpPr>
        <p:spPr>
          <a:xfrm rot="0">
            <a:off x="-1463481" y="1677670"/>
            <a:ext cx="20276425" cy="1858645"/>
          </a:xfrm>
          <a:prstGeom prst="rect">
            <a:avLst/>
          </a:prstGeom>
        </p:spPr>
        <p:txBody>
          <a:bodyPr anchor="t" rtlCol="false" tIns="0" lIns="0" bIns="0" rIns="0">
            <a:spAutoFit/>
          </a:bodyPr>
          <a:lstStyle/>
          <a:p>
            <a:pPr algn="ctr">
              <a:lnSpc>
                <a:spcPts val="7279"/>
              </a:lnSpc>
            </a:pPr>
            <a:r>
              <a:rPr lang="en-US" sz="5199">
                <a:solidFill>
                  <a:srgbClr val="622512"/>
                </a:solidFill>
                <a:latin typeface="M Plus Rounded Black"/>
                <a:ea typeface="M Plus Rounded Black"/>
                <a:cs typeface="M Plus Rounded Black"/>
                <a:sym typeface="M Plus Rounded Black"/>
              </a:rPr>
              <a:t>今の体調は何％くらいですか？</a:t>
            </a:r>
          </a:p>
          <a:p>
            <a:pPr algn="ctr">
              <a:lnSpc>
                <a:spcPts val="7279"/>
              </a:lnSpc>
            </a:pPr>
            <a:r>
              <a:rPr lang="en-US" sz="5199">
                <a:solidFill>
                  <a:srgbClr val="622512"/>
                </a:solidFill>
                <a:latin typeface="M Plus Rounded Black"/>
                <a:ea typeface="M Plus Rounded Black"/>
                <a:cs typeface="M Plus Rounded Black"/>
                <a:sym typeface="M Plus Rounded Black"/>
              </a:rPr>
              <a:t>どうなっていたらうれしいですか？</a:t>
            </a:r>
          </a:p>
        </p:txBody>
      </p:sp>
      <p:sp>
        <p:nvSpPr>
          <p:cNvPr name="TextBox 5" id="5"/>
          <p:cNvSpPr txBox="true"/>
          <p:nvPr/>
        </p:nvSpPr>
        <p:spPr>
          <a:xfrm rot="0">
            <a:off x="12989800" y="9368511"/>
            <a:ext cx="5298200" cy="608965"/>
          </a:xfrm>
          <a:prstGeom prst="rect">
            <a:avLst/>
          </a:prstGeom>
        </p:spPr>
        <p:txBody>
          <a:bodyPr anchor="t" rtlCol="false" tIns="0" lIns="0" bIns="0" rIns="0">
            <a:spAutoFit/>
          </a:bodyPr>
          <a:lstStyle/>
          <a:p>
            <a:pPr algn="ctr">
              <a:lnSpc>
                <a:spcPts val="4759"/>
              </a:lnSpc>
            </a:pPr>
            <a:r>
              <a:rPr lang="en-US" sz="3399">
                <a:solidFill>
                  <a:srgbClr val="66461F"/>
                </a:solidFill>
                <a:latin typeface="M Plus Rounded Black"/>
                <a:ea typeface="M Plus Rounded Black"/>
                <a:cs typeface="M Plus Rounded Black"/>
                <a:sym typeface="M Plus Rounded Black"/>
              </a:rPr>
              <a:t>@海音～心体の調律～</a:t>
            </a:r>
          </a:p>
        </p:txBody>
      </p:sp>
      <p:sp>
        <p:nvSpPr>
          <p:cNvPr name="TextBox 6" id="6"/>
          <p:cNvSpPr txBox="true"/>
          <p:nvPr/>
        </p:nvSpPr>
        <p:spPr>
          <a:xfrm rot="0">
            <a:off x="3487416" y="3422015"/>
            <a:ext cx="20276425" cy="4241800"/>
          </a:xfrm>
          <a:prstGeom prst="rect">
            <a:avLst/>
          </a:prstGeom>
        </p:spPr>
        <p:txBody>
          <a:bodyPr anchor="t" rtlCol="false" tIns="0" lIns="0" bIns="0" rIns="0">
            <a:spAutoFit/>
          </a:bodyPr>
          <a:lstStyle/>
          <a:p>
            <a:pPr algn="ctr">
              <a:lnSpc>
                <a:spcPts val="5599"/>
              </a:lnSpc>
            </a:pPr>
            <a:r>
              <a:rPr lang="en-US" sz="3999">
                <a:solidFill>
                  <a:srgbClr val="622512"/>
                </a:solidFill>
                <a:latin typeface="M Plus Rounded Black"/>
                <a:ea typeface="M Plus Rounded Black"/>
                <a:cs typeface="M Plus Rounded Black"/>
                <a:sym typeface="M Plus Rounded Black"/>
              </a:rPr>
              <a:t/>
            </a:r>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F8F2ED"/>
        </a:solidFill>
      </p:bgPr>
    </p:bg>
    <p:spTree>
      <p:nvGrpSpPr>
        <p:cNvPr id="1" name=""/>
        <p:cNvGrpSpPr/>
        <p:nvPr/>
      </p:nvGrpSpPr>
      <p:grpSpPr>
        <a:xfrm>
          <a:off x="0" y="0"/>
          <a:ext cx="0" cy="0"/>
          <a:chOff x="0" y="0"/>
          <a:chExt cx="0" cy="0"/>
        </a:xfrm>
      </p:grpSpPr>
      <p:sp>
        <p:nvSpPr>
          <p:cNvPr name="TextBox 2" id="2"/>
          <p:cNvSpPr txBox="true"/>
          <p:nvPr/>
        </p:nvSpPr>
        <p:spPr>
          <a:xfrm rot="0">
            <a:off x="6073801" y="27940"/>
            <a:ext cx="4622602" cy="1858645"/>
          </a:xfrm>
          <a:prstGeom prst="rect">
            <a:avLst/>
          </a:prstGeom>
        </p:spPr>
        <p:txBody>
          <a:bodyPr anchor="t" rtlCol="false" tIns="0" lIns="0" bIns="0" rIns="0">
            <a:spAutoFit/>
          </a:bodyPr>
          <a:lstStyle/>
          <a:p>
            <a:pPr algn="ctr">
              <a:lnSpc>
                <a:spcPts val="7279"/>
              </a:lnSpc>
            </a:pPr>
            <a:r>
              <a:rPr lang="en-US" sz="5199" b="true">
                <a:solidFill>
                  <a:srgbClr val="622512"/>
                </a:solidFill>
                <a:latin typeface="M Plus Rounded Black Bold"/>
                <a:ea typeface="M Plus Rounded Black Bold"/>
                <a:cs typeface="M Plus Rounded Black Bold"/>
                <a:sym typeface="M Plus Rounded Black Bold"/>
              </a:rPr>
              <a:t>奥田さんへ質問</a:t>
            </a:r>
          </a:p>
          <a:p>
            <a:pPr algn="ctr">
              <a:lnSpc>
                <a:spcPts val="7279"/>
              </a:lnSpc>
            </a:pPr>
            <a:r>
              <a:rPr lang="en-US" sz="5199" b="true">
                <a:solidFill>
                  <a:srgbClr val="622512"/>
                </a:solidFill>
                <a:latin typeface="M Plus Rounded Black Bold"/>
                <a:ea typeface="M Plus Rounded Black Bold"/>
                <a:cs typeface="M Plus Rounded Black Bold"/>
                <a:sym typeface="M Plus Rounded Black Bold"/>
              </a:rPr>
              <a:t/>
            </a:r>
          </a:p>
        </p:txBody>
      </p:sp>
      <p:sp>
        <p:nvSpPr>
          <p:cNvPr name="TextBox 3" id="3"/>
          <p:cNvSpPr txBox="true"/>
          <p:nvPr/>
        </p:nvSpPr>
        <p:spPr>
          <a:xfrm rot="0">
            <a:off x="162292" y="1217320"/>
            <a:ext cx="17963415" cy="8543925"/>
          </a:xfrm>
          <a:prstGeom prst="rect">
            <a:avLst/>
          </a:prstGeom>
        </p:spPr>
        <p:txBody>
          <a:bodyPr anchor="t" rtlCol="false" tIns="0" lIns="0" bIns="0" rIns="0">
            <a:spAutoFit/>
          </a:bodyPr>
          <a:lstStyle/>
          <a:p>
            <a:pPr algn="l">
              <a:lnSpc>
                <a:spcPts val="4200"/>
              </a:lnSpc>
            </a:pPr>
            <a:r>
              <a:t/>
            </a:r>
          </a:p>
          <a:p>
            <a:pPr algn="l">
              <a:lnSpc>
                <a:spcPts val="4200"/>
              </a:lnSpc>
            </a:pPr>
            <a:r>
              <a:rPr lang="en-US" sz="3000" b="true">
                <a:solidFill>
                  <a:srgbClr val="622512"/>
                </a:solidFill>
                <a:latin typeface="M Plus Rounded Black Bold"/>
                <a:ea typeface="M Plus Rounded Black Bold"/>
                <a:cs typeface="M Plus Rounded Black Bold"/>
                <a:sym typeface="M Plus Rounded Black Bold"/>
              </a:rPr>
              <a:t>①人からよく言われる、奥田さんのいいところは？➡</a:t>
            </a:r>
          </a:p>
          <a:p>
            <a:pPr algn="l">
              <a:lnSpc>
                <a:spcPts val="4200"/>
              </a:lnSpc>
            </a:pPr>
            <a:r>
              <a:rPr lang="en-US" sz="3000" b="true">
                <a:solidFill>
                  <a:srgbClr val="622512"/>
                </a:solidFill>
                <a:latin typeface="M Plus Rounded Black Bold"/>
                <a:ea typeface="M Plus Rounded Black Bold"/>
                <a:cs typeface="M Plus Rounded Black Bold"/>
                <a:sym typeface="M Plus Rounded Black Bold"/>
              </a:rPr>
              <a:t>②１日の中で、いつ・何を食べていますか？➡</a:t>
            </a:r>
          </a:p>
          <a:p>
            <a:pPr algn="l">
              <a:lnSpc>
                <a:spcPts val="4200"/>
              </a:lnSpc>
            </a:pPr>
            <a:r>
              <a:rPr lang="en-US" sz="3000" b="true">
                <a:solidFill>
                  <a:srgbClr val="622512"/>
                </a:solidFill>
                <a:latin typeface="M Plus Rounded Black Bold"/>
                <a:ea typeface="M Plus Rounded Black Bold"/>
                <a:cs typeface="M Plus Rounded Black Bold"/>
                <a:sym typeface="M Plus Rounded Black Bold"/>
              </a:rPr>
              <a:t>③夜遅くに食べるのは、どんなときですか？➡</a:t>
            </a:r>
          </a:p>
          <a:p>
            <a:pPr algn="l">
              <a:lnSpc>
                <a:spcPts val="4200"/>
              </a:lnSpc>
            </a:pPr>
            <a:r>
              <a:rPr lang="en-US" sz="3000" b="true">
                <a:solidFill>
                  <a:srgbClr val="622512"/>
                </a:solidFill>
                <a:latin typeface="M Plus Rounded Black Bold"/>
                <a:ea typeface="M Plus Rounded Black Bold"/>
                <a:cs typeface="M Plus Rounded Black Bold"/>
                <a:sym typeface="M Plus Rounded Black Bold"/>
              </a:rPr>
              <a:t>④何時ごろ寝て、何時ごろ起きていますか？寝る前のお薬は毎日同じ時間ですか？➡</a:t>
            </a:r>
          </a:p>
          <a:p>
            <a:pPr algn="l">
              <a:lnSpc>
                <a:spcPts val="4200"/>
              </a:lnSpc>
            </a:pPr>
            <a:r>
              <a:rPr lang="en-US" sz="3000" b="true">
                <a:solidFill>
                  <a:srgbClr val="622512"/>
                </a:solidFill>
                <a:latin typeface="M Plus Rounded Black Bold"/>
                <a:ea typeface="M Plus Rounded Black Bold"/>
                <a:cs typeface="M Plus Rounded Black Bold"/>
                <a:sym typeface="M Plus Rounded Black Bold"/>
              </a:rPr>
              <a:t>⑤午後の頭痛は、どんなときに出ますか？➡</a:t>
            </a:r>
          </a:p>
          <a:p>
            <a:pPr algn="l">
              <a:lnSpc>
                <a:spcPts val="4200"/>
              </a:lnSpc>
            </a:pPr>
            <a:r>
              <a:rPr lang="en-US" sz="3000" b="true">
                <a:solidFill>
                  <a:srgbClr val="622512"/>
                </a:solidFill>
                <a:latin typeface="M Plus Rounded Black Bold"/>
                <a:ea typeface="M Plus Rounded Black Bold"/>
                <a:cs typeface="M Plus Rounded Black Bold"/>
                <a:sym typeface="M Plus Rounded Black Bold"/>
              </a:rPr>
              <a:t>⑥おなかがゆるくなるのは、どんなときが多いですか？➡</a:t>
            </a:r>
          </a:p>
          <a:p>
            <a:pPr algn="l">
              <a:lnSpc>
                <a:spcPts val="4200"/>
              </a:lnSpc>
            </a:pPr>
            <a:r>
              <a:rPr lang="en-US" sz="3000" b="true">
                <a:solidFill>
                  <a:srgbClr val="622512"/>
                </a:solidFill>
                <a:latin typeface="M Plus Rounded Black Bold"/>
                <a:ea typeface="M Plus Rounded Black Bold"/>
                <a:cs typeface="M Plus Rounded Black Bold"/>
                <a:sym typeface="M Plus Rounded Black Bold"/>
              </a:rPr>
              <a:t>⑦夜の歯ぎしりは、いつごろから言われていますか？➡</a:t>
            </a:r>
          </a:p>
          <a:p>
            <a:pPr algn="l">
              <a:lnSpc>
                <a:spcPts val="4200"/>
              </a:lnSpc>
            </a:pPr>
            <a:r>
              <a:rPr lang="en-US" sz="3000" b="true">
                <a:solidFill>
                  <a:srgbClr val="622512"/>
                </a:solidFill>
                <a:latin typeface="M Plus Rounded Black Bold"/>
                <a:ea typeface="M Plus Rounded Black Bold"/>
                <a:cs typeface="M Plus Rounded Black Bold"/>
                <a:sym typeface="M Plus Rounded Black Bold"/>
              </a:rPr>
              <a:t>⑧落ち込んだり不安になったりするのは、どんなときが多いですか？➡</a:t>
            </a:r>
          </a:p>
          <a:p>
            <a:pPr algn="l">
              <a:lnSpc>
                <a:spcPts val="4200"/>
              </a:lnSpc>
            </a:pPr>
            <a:r>
              <a:rPr lang="en-US" sz="3000" b="true">
                <a:solidFill>
                  <a:srgbClr val="622512"/>
                </a:solidFill>
                <a:latin typeface="M Plus Rounded Black Bold"/>
                <a:ea typeface="M Plus Rounded Black Bold"/>
                <a:cs typeface="M Plus Rounded Black Bold"/>
                <a:sym typeface="M Plus Rounded Black Bold"/>
              </a:rPr>
              <a:t>⑨主治医の先生で、甲状腺の血液検査をしたことはありますか？➡</a:t>
            </a:r>
          </a:p>
          <a:p>
            <a:pPr algn="l">
              <a:lnSpc>
                <a:spcPts val="4200"/>
              </a:lnSpc>
            </a:pPr>
            <a:r>
              <a:rPr lang="en-US" sz="3000" b="true">
                <a:solidFill>
                  <a:srgbClr val="622512"/>
                </a:solidFill>
                <a:latin typeface="M Plus Rounded Black Bold"/>
                <a:ea typeface="M Plus Rounded Black Bold"/>
                <a:cs typeface="M Plus Rounded Black Bold"/>
                <a:sym typeface="M Plus Rounded Black Bold"/>
              </a:rPr>
              <a:t>⑩１日15分、楽しいことをするとしたら何をしますか？➡</a:t>
            </a:r>
          </a:p>
          <a:p>
            <a:pPr algn="l">
              <a:lnSpc>
                <a:spcPts val="4200"/>
              </a:lnSpc>
            </a:pPr>
            <a:r>
              <a:rPr lang="en-US" sz="3000" b="true">
                <a:solidFill>
                  <a:srgbClr val="622512"/>
                </a:solidFill>
                <a:latin typeface="M Plus Rounded Black Bold"/>
                <a:ea typeface="M Plus Rounded Black Bold"/>
                <a:cs typeface="M Plus Rounded Black Bold"/>
                <a:sym typeface="M Plus Rounded Black Bold"/>
              </a:rPr>
              <a:t>⑪人に助けを求めるのは得意なほうですか？➡</a:t>
            </a:r>
          </a:p>
          <a:p>
            <a:pPr algn="l">
              <a:lnSpc>
                <a:spcPts val="4200"/>
              </a:lnSpc>
            </a:pPr>
            <a:r>
              <a:rPr lang="en-US" sz="3000" b="true">
                <a:solidFill>
                  <a:srgbClr val="622512"/>
                </a:solidFill>
                <a:latin typeface="M Plus Rounded Black Bold"/>
                <a:ea typeface="M Plus Rounded Black Bold"/>
                <a:cs typeface="M Plus Rounded Black Bold"/>
                <a:sym typeface="M Plus Rounded Black Bold"/>
              </a:rPr>
              <a:t>⑫コーヒー・エナジードリンク・お酒は、どのくらい飲みますか？➡</a:t>
            </a:r>
          </a:p>
          <a:p>
            <a:pPr algn="l">
              <a:lnSpc>
                <a:spcPts val="4200"/>
              </a:lnSpc>
            </a:pPr>
            <a:r>
              <a:t/>
            </a:r>
          </a:p>
          <a:p>
            <a:pPr algn="ctr">
              <a:lnSpc>
                <a:spcPts val="4200"/>
              </a:lnSpc>
            </a:pPr>
            <a:r>
              <a:rPr lang="en-US" sz="3000" b="true">
                <a:solidFill>
                  <a:srgbClr val="622512"/>
                </a:solidFill>
                <a:latin typeface="M Plus Rounded Black Bold"/>
                <a:ea typeface="M Plus Rounded Black Bold"/>
                <a:cs typeface="M Plus Rounded Black Bold"/>
                <a:sym typeface="M Plus Rounded Black Bold"/>
              </a:rPr>
              <a:t>ご本人の上記のご回答によってもオススメは変わる可能性がございます。</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8F2ED"/>
        </a:solidFill>
      </p:bgPr>
    </p:bg>
    <p:spTree>
      <p:nvGrpSpPr>
        <p:cNvPr id="1" name=""/>
        <p:cNvGrpSpPr/>
        <p:nvPr/>
      </p:nvGrpSpPr>
      <p:grpSpPr>
        <a:xfrm>
          <a:off x="0" y="0"/>
          <a:ext cx="0" cy="0"/>
          <a:chOff x="0" y="0"/>
          <a:chExt cx="0" cy="0"/>
        </a:xfrm>
      </p:grpSpPr>
      <p:sp>
        <p:nvSpPr>
          <p:cNvPr name="Freeform 2" id="2"/>
          <p:cNvSpPr/>
          <p:nvPr/>
        </p:nvSpPr>
        <p:spPr>
          <a:xfrm flipH="false" flipV="false" rot="0">
            <a:off x="3372139" y="1902817"/>
            <a:ext cx="10331651" cy="6896377"/>
          </a:xfrm>
          <a:custGeom>
            <a:avLst/>
            <a:gdLst/>
            <a:ahLst/>
            <a:cxnLst/>
            <a:rect r="r" b="b" t="t" l="l"/>
            <a:pathLst>
              <a:path h="6896377" w="10331651">
                <a:moveTo>
                  <a:pt x="0" y="0"/>
                </a:moveTo>
                <a:lnTo>
                  <a:pt x="10331651" y="0"/>
                </a:lnTo>
                <a:lnTo>
                  <a:pt x="10331651" y="6896377"/>
                </a:lnTo>
                <a:lnTo>
                  <a:pt x="0" y="6896377"/>
                </a:lnTo>
                <a:lnTo>
                  <a:pt x="0" y="0"/>
                </a:lnTo>
                <a:close/>
              </a:path>
            </a:pathLst>
          </a:custGeom>
          <a:blipFill>
            <a:blip r:embed="rId2"/>
            <a:stretch>
              <a:fillRect l="0" t="0" r="0" b="0"/>
            </a:stretch>
          </a:blipFill>
        </p:spPr>
      </p:sp>
      <p:sp>
        <p:nvSpPr>
          <p:cNvPr name="TextBox 3" id="3"/>
          <p:cNvSpPr txBox="true"/>
          <p:nvPr/>
        </p:nvSpPr>
        <p:spPr>
          <a:xfrm rot="0">
            <a:off x="6887114" y="93980"/>
            <a:ext cx="3301703" cy="934720"/>
          </a:xfrm>
          <a:prstGeom prst="rect">
            <a:avLst/>
          </a:prstGeom>
        </p:spPr>
        <p:txBody>
          <a:bodyPr anchor="t" rtlCol="false" tIns="0" lIns="0" bIns="0" rIns="0">
            <a:spAutoFit/>
          </a:bodyPr>
          <a:lstStyle/>
          <a:p>
            <a:pPr algn="ctr">
              <a:lnSpc>
                <a:spcPts val="7279"/>
              </a:lnSpc>
            </a:pPr>
            <a:r>
              <a:rPr lang="en-US" sz="5199">
                <a:solidFill>
                  <a:srgbClr val="622512"/>
                </a:solidFill>
                <a:latin typeface="M Plus Rounded Black"/>
                <a:ea typeface="M Plus Rounded Black"/>
                <a:cs typeface="M Plus Rounded Black"/>
                <a:sym typeface="M Plus Rounded Black"/>
              </a:rPr>
              <a:t>問診票結果</a:t>
            </a:r>
          </a:p>
        </p:txBody>
      </p:sp>
      <p:sp>
        <p:nvSpPr>
          <p:cNvPr name="TextBox 4" id="4"/>
          <p:cNvSpPr txBox="true"/>
          <p:nvPr/>
        </p:nvSpPr>
        <p:spPr>
          <a:xfrm rot="0">
            <a:off x="12989800" y="9578061"/>
            <a:ext cx="5298200" cy="608965"/>
          </a:xfrm>
          <a:prstGeom prst="rect">
            <a:avLst/>
          </a:prstGeom>
        </p:spPr>
        <p:txBody>
          <a:bodyPr anchor="t" rtlCol="false" tIns="0" lIns="0" bIns="0" rIns="0">
            <a:spAutoFit/>
          </a:bodyPr>
          <a:lstStyle/>
          <a:p>
            <a:pPr algn="ctr">
              <a:lnSpc>
                <a:spcPts val="4759"/>
              </a:lnSpc>
            </a:pPr>
            <a:r>
              <a:rPr lang="en-US" sz="3399">
                <a:solidFill>
                  <a:srgbClr val="66461F"/>
                </a:solidFill>
                <a:latin typeface="M Plus Rounded Black"/>
                <a:ea typeface="M Plus Rounded Black"/>
                <a:cs typeface="M Plus Rounded Black"/>
                <a:sym typeface="M Plus Rounded Black"/>
              </a:rPr>
              <a:t>@海音～心体の調律～</a:t>
            </a:r>
          </a:p>
        </p:txBody>
      </p:sp>
    </p:spTree>
  </p:cSld>
  <p:clrMapOvr>
    <a:masterClrMapping/>
  </p:clrMapOvr>
</p:sld>
</file>

<file path=ppt/slides/slide14.xml><?xml version="1.0" encoding="utf-8"?>
<p:sld xmlns:p="http://schemas.openxmlformats.org/presentationml/2006/main" xmlns:a="http://schemas.openxmlformats.org/drawingml/2006/main">
  <p:cSld>
    <p:bg>
      <p:bgPr>
        <a:solidFill>
          <a:srgbClr val="F8F2ED"/>
        </a:solidFill>
      </p:bgPr>
    </p:bg>
    <p:spTree>
      <p:nvGrpSpPr>
        <p:cNvPr id="1" name=""/>
        <p:cNvGrpSpPr/>
        <p:nvPr/>
      </p:nvGrpSpPr>
      <p:grpSpPr>
        <a:xfrm>
          <a:off x="0" y="0"/>
          <a:ext cx="0" cy="0"/>
          <a:chOff x="0" y="0"/>
          <a:chExt cx="0" cy="0"/>
        </a:xfrm>
      </p:grpSpPr>
      <p:sp>
        <p:nvSpPr>
          <p:cNvPr name="TextBox 2" id="2"/>
          <p:cNvSpPr txBox="true"/>
          <p:nvPr/>
        </p:nvSpPr>
        <p:spPr>
          <a:xfrm rot="0">
            <a:off x="3842277" y="444941"/>
            <a:ext cx="10160167" cy="1419606"/>
          </a:xfrm>
          <a:prstGeom prst="rect">
            <a:avLst/>
          </a:prstGeom>
        </p:spPr>
        <p:txBody>
          <a:bodyPr anchor="t" rtlCol="false" tIns="0" lIns="0" bIns="0" rIns="0">
            <a:spAutoFit/>
          </a:bodyPr>
          <a:lstStyle/>
          <a:p>
            <a:pPr algn="l">
              <a:lnSpc>
                <a:spcPts val="5753"/>
              </a:lnSpc>
            </a:pPr>
            <a:r>
              <a:rPr lang="en-US" sz="4109" b="true">
                <a:solidFill>
                  <a:srgbClr val="622512"/>
                </a:solidFill>
                <a:latin typeface="Noto Sans JP Medium"/>
                <a:ea typeface="Noto Sans JP Medium"/>
                <a:cs typeface="Noto Sans JP Medium"/>
                <a:sym typeface="Noto Sans JP Medium"/>
              </a:rPr>
              <a:t>奥田さんの問診票の結果</a:t>
            </a:r>
          </a:p>
          <a:p>
            <a:pPr algn="l">
              <a:lnSpc>
                <a:spcPts val="5753"/>
              </a:lnSpc>
            </a:pPr>
            <a:r>
              <a:rPr lang="en-US" sz="4109" b="true">
                <a:solidFill>
                  <a:srgbClr val="622512"/>
                </a:solidFill>
                <a:latin typeface="Noto Sans JP Medium"/>
                <a:ea typeface="Noto Sans JP Medium"/>
                <a:cs typeface="Noto Sans JP Medium"/>
                <a:sym typeface="Noto Sans JP Medium"/>
              </a:rPr>
              <a:t/>
            </a:r>
          </a:p>
        </p:txBody>
      </p:sp>
      <p:sp>
        <p:nvSpPr>
          <p:cNvPr name="TextBox 3" id="3"/>
          <p:cNvSpPr txBox="true"/>
          <p:nvPr/>
        </p:nvSpPr>
        <p:spPr>
          <a:xfrm rot="0">
            <a:off x="0" y="1769297"/>
            <a:ext cx="17844720" cy="3193669"/>
          </a:xfrm>
          <a:prstGeom prst="rect">
            <a:avLst/>
          </a:prstGeom>
        </p:spPr>
        <p:txBody>
          <a:bodyPr anchor="t" rtlCol="false" tIns="0" lIns="0" bIns="0" rIns="0">
            <a:spAutoFit/>
          </a:bodyPr>
          <a:lstStyle/>
          <a:p>
            <a:pPr algn="just">
              <a:lnSpc>
                <a:spcPts val="5095"/>
              </a:lnSpc>
            </a:pPr>
            <a:r>
              <a:rPr lang="en-US" sz="3639">
                <a:solidFill>
                  <a:srgbClr val="622512"/>
                </a:solidFill>
                <a:latin typeface="M Plus Rounded Black"/>
                <a:ea typeface="M Plus Rounded Black"/>
                <a:cs typeface="M Plus Rounded Black"/>
                <a:sym typeface="M Plus Rounded Black"/>
              </a:rPr>
              <a:t>　１：甲状腺　　　　　73.0%　　　　　　　　　心理状態27％</a:t>
            </a:r>
          </a:p>
          <a:p>
            <a:pPr algn="just">
              <a:lnSpc>
                <a:spcPts val="5095"/>
              </a:lnSpc>
            </a:pPr>
            <a:r>
              <a:rPr lang="en-US" sz="3639">
                <a:solidFill>
                  <a:srgbClr val="622512"/>
                </a:solidFill>
                <a:latin typeface="M Plus Rounded Black"/>
                <a:ea typeface="M Plus Rounded Black"/>
                <a:cs typeface="M Plus Rounded Black"/>
                <a:sym typeface="M Plus Rounded Black"/>
              </a:rPr>
              <a:t>　２：ホルモン（副腎）59.0%　　　　　　　※１５％以上で要注意になります</a:t>
            </a:r>
          </a:p>
          <a:p>
            <a:pPr algn="just">
              <a:lnSpc>
                <a:spcPts val="5095"/>
              </a:lnSpc>
            </a:pPr>
            <a:r>
              <a:rPr lang="en-US" sz="3639">
                <a:solidFill>
                  <a:srgbClr val="622512"/>
                </a:solidFill>
                <a:latin typeface="M Plus Rounded Black"/>
                <a:ea typeface="M Plus Rounded Black"/>
                <a:cs typeface="M Plus Rounded Black"/>
                <a:sym typeface="M Plus Rounded Black"/>
              </a:rPr>
              <a:t>　３：代謝指標　　　　48.0%　　　　　　　（心理状態は高い％が良い結果です）</a:t>
            </a:r>
          </a:p>
          <a:p>
            <a:pPr algn="just">
              <a:lnSpc>
                <a:spcPts val="5095"/>
              </a:lnSpc>
            </a:pPr>
            <a:r>
              <a:rPr lang="en-US" sz="3639">
                <a:solidFill>
                  <a:srgbClr val="622512"/>
                </a:solidFill>
                <a:latin typeface="M Plus Rounded Black"/>
                <a:ea typeface="M Plus Rounded Black"/>
                <a:cs typeface="M Plus Rounded Black"/>
                <a:sym typeface="M Plus Rounded Black"/>
              </a:rPr>
              <a:t/>
            </a:r>
          </a:p>
          <a:p>
            <a:pPr algn="just">
              <a:lnSpc>
                <a:spcPts val="5095"/>
              </a:lnSpc>
            </a:pPr>
            <a:r>
              <a:t/>
            </a:r>
          </a:p>
        </p:txBody>
      </p:sp>
      <p:sp>
        <p:nvSpPr>
          <p:cNvPr name="TextBox 4" id="4"/>
          <p:cNvSpPr txBox="true"/>
          <p:nvPr/>
        </p:nvSpPr>
        <p:spPr>
          <a:xfrm rot="0">
            <a:off x="1078198" y="1250530"/>
            <a:ext cx="2923133" cy="580390"/>
          </a:xfrm>
          <a:prstGeom prst="rect">
            <a:avLst/>
          </a:prstGeom>
        </p:spPr>
        <p:txBody>
          <a:bodyPr anchor="t" rtlCol="false" tIns="0" lIns="0" bIns="0" rIns="0">
            <a:spAutoFit/>
          </a:bodyPr>
          <a:lstStyle/>
          <a:p>
            <a:pPr algn="ctr">
              <a:lnSpc>
                <a:spcPts val="4759"/>
              </a:lnSpc>
            </a:pPr>
            <a:r>
              <a:rPr lang="en-US" b="true" sz="3399">
                <a:solidFill>
                  <a:srgbClr val="622512"/>
                </a:solidFill>
                <a:latin typeface="Noto Sans JP Medium"/>
                <a:ea typeface="Noto Sans JP Medium"/>
                <a:cs typeface="Noto Sans JP Medium"/>
                <a:sym typeface="Noto Sans JP Medium"/>
              </a:rPr>
              <a:t>2026/10/5結果</a:t>
            </a:r>
          </a:p>
        </p:txBody>
      </p:sp>
      <p:sp>
        <p:nvSpPr>
          <p:cNvPr name="TextBox 5" id="5"/>
          <p:cNvSpPr txBox="true"/>
          <p:nvPr/>
        </p:nvSpPr>
        <p:spPr>
          <a:xfrm rot="0">
            <a:off x="221640" y="5067300"/>
            <a:ext cx="17844720" cy="2641600"/>
          </a:xfrm>
          <a:prstGeom prst="rect">
            <a:avLst/>
          </a:prstGeom>
        </p:spPr>
        <p:txBody>
          <a:bodyPr anchor="t" rtlCol="false" tIns="0" lIns="0" bIns="0" rIns="0">
            <a:spAutoFit/>
          </a:bodyPr>
          <a:lstStyle/>
          <a:p>
            <a:pPr algn="l">
              <a:lnSpc>
                <a:spcPts val="3499"/>
              </a:lnSpc>
            </a:pPr>
            <a:r>
              <a:rPr lang="en-US" sz="2499">
                <a:solidFill>
                  <a:srgbClr val="622512"/>
                </a:solidFill>
                <a:latin typeface="M Plus Rounded Black"/>
                <a:ea typeface="M Plus Rounded Black"/>
                <a:cs typeface="M Plus Rounded Black"/>
                <a:sym typeface="M Plus Rounded Black"/>
              </a:rPr>
              <a:t>　上記の結果となりました。</a:t>
            </a:r>
          </a:p>
          <a:p>
            <a:pPr algn="l">
              <a:lnSpc>
                <a:spcPts val="3499"/>
              </a:lnSpc>
            </a:pPr>
            <a:r>
              <a:rPr lang="en-US" sz="2499">
                <a:solidFill>
                  <a:srgbClr val="622512"/>
                </a:solidFill>
                <a:latin typeface="M Plus Rounded Black"/>
                <a:ea typeface="M Plus Rounded Black"/>
                <a:cs typeface="M Plus Rounded Black"/>
                <a:sym typeface="M Plus Rounded Black"/>
              </a:rPr>
              <a:t> 体が「エネルギーが足りないよ」「休ませてね」とサインを出してくれている状態と思われます。</a:t>
            </a:r>
          </a:p>
          <a:p>
            <a:pPr algn="l">
              <a:lnSpc>
                <a:spcPts val="3499"/>
              </a:lnSpc>
            </a:pPr>
            <a:r>
              <a:rPr lang="en-US" sz="2499">
                <a:solidFill>
                  <a:srgbClr val="622512"/>
                </a:solidFill>
                <a:latin typeface="M Plus Rounded Black"/>
                <a:ea typeface="M Plus Rounded Black"/>
                <a:cs typeface="M Plus Rounded Black"/>
                <a:sym typeface="M Plus Rounded Black"/>
              </a:rPr>
              <a:t> 眠りと食事のリズム、足りない栄養を少しずつ足していくことで、変化が出やすいところです。</a:t>
            </a:r>
          </a:p>
          <a:p>
            <a:pPr algn="l">
              <a:lnSpc>
                <a:spcPts val="3499"/>
              </a:lnSpc>
            </a:pPr>
            <a:r>
              <a:rPr lang="en-US" sz="2499">
                <a:solidFill>
                  <a:srgbClr val="622512"/>
                </a:solidFill>
                <a:latin typeface="M Plus Rounded Black"/>
                <a:ea typeface="M Plus Rounded Black"/>
                <a:cs typeface="M Plus Rounded Black"/>
                <a:sym typeface="M Plus Rounded Black"/>
              </a:rPr>
              <a:t> 心理状態は、自分に向ける項目が低めでした。人のために動ける優しさの裏返しかもしれません。</a:t>
            </a:r>
          </a:p>
          <a:p>
            <a:pPr algn="l">
              <a:lnSpc>
                <a:spcPts val="3499"/>
              </a:lnSpc>
            </a:pPr>
            <a:r>
              <a:rPr lang="en-US" sz="2499">
                <a:solidFill>
                  <a:srgbClr val="622512"/>
                </a:solidFill>
                <a:latin typeface="M Plus Rounded Black"/>
                <a:ea typeface="M Plus Rounded Black"/>
                <a:cs typeface="M Plus Rounded Black"/>
                <a:sym typeface="M Plus Rounded Black"/>
              </a:rPr>
              <a:t> 大切な人との関係を大事にする力は、しっかりお持ちです。</a:t>
            </a:r>
          </a:p>
        </p:txBody>
      </p:sp>
      <p:sp>
        <p:nvSpPr>
          <p:cNvPr name="TextBox 6" id="6"/>
          <p:cNvSpPr txBox="true"/>
          <p:nvPr/>
        </p:nvSpPr>
        <p:spPr>
          <a:xfrm rot="0">
            <a:off x="8058859" y="3715826"/>
            <a:ext cx="863501" cy="608965"/>
          </a:xfrm>
          <a:prstGeom prst="rect">
            <a:avLst/>
          </a:prstGeom>
        </p:spPr>
        <p:txBody>
          <a:bodyPr anchor="t" rtlCol="false" tIns="0" lIns="0" bIns="0" rIns="0">
            <a:spAutoFit/>
          </a:bodyPr>
          <a:lstStyle/>
          <a:p>
            <a:pPr algn="ctr">
              <a:lnSpc>
                <a:spcPts val="4759"/>
              </a:lnSpc>
            </a:pPr>
            <a:r>
              <a:rPr lang="en-US" sz="3399">
                <a:solidFill>
                  <a:srgbClr val="8D6433"/>
                </a:solidFill>
                <a:latin typeface="M Plus Rounded Black"/>
                <a:ea typeface="M Plus Rounded Black"/>
                <a:cs typeface="M Plus Rounded Black"/>
                <a:sym typeface="M Plus Rounded Black"/>
              </a:rPr>
              <a:t>結果</a:t>
            </a:r>
          </a:p>
        </p:txBody>
      </p:sp>
      <p:sp>
        <p:nvSpPr>
          <p:cNvPr name="TextBox 7" id="7"/>
          <p:cNvSpPr txBox="true"/>
          <p:nvPr/>
        </p:nvSpPr>
        <p:spPr>
          <a:xfrm rot="0">
            <a:off x="12989800" y="9368511"/>
            <a:ext cx="5298200" cy="608965"/>
          </a:xfrm>
          <a:prstGeom prst="rect">
            <a:avLst/>
          </a:prstGeom>
        </p:spPr>
        <p:txBody>
          <a:bodyPr anchor="t" rtlCol="false" tIns="0" lIns="0" bIns="0" rIns="0">
            <a:spAutoFit/>
          </a:bodyPr>
          <a:lstStyle/>
          <a:p>
            <a:pPr algn="ctr">
              <a:lnSpc>
                <a:spcPts val="4759"/>
              </a:lnSpc>
            </a:pPr>
            <a:r>
              <a:rPr lang="en-US" sz="3399">
                <a:solidFill>
                  <a:srgbClr val="66461F"/>
                </a:solidFill>
                <a:latin typeface="M Plus Rounded Black"/>
                <a:ea typeface="M Plus Rounded Black"/>
                <a:cs typeface="M Plus Rounded Black"/>
                <a:sym typeface="M Plus Rounded Black"/>
              </a:rPr>
              <a:t>@海音～心体の調律～</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8F2ED"/>
        </a:solidFill>
      </p:bgPr>
    </p:bg>
    <p:spTree>
      <p:nvGrpSpPr>
        <p:cNvPr id="1" name=""/>
        <p:cNvGrpSpPr/>
        <p:nvPr/>
      </p:nvGrpSpPr>
      <p:grpSpPr>
        <a:xfrm>
          <a:off x="0" y="0"/>
          <a:ext cx="0" cy="0"/>
          <a:chOff x="0" y="0"/>
          <a:chExt cx="0" cy="0"/>
        </a:xfrm>
      </p:grpSpPr>
      <p:sp>
        <p:nvSpPr>
          <p:cNvPr name="TextBox 6" id="6"/>
          <p:cNvSpPr txBox="true"/>
          <p:nvPr/>
        </p:nvSpPr>
        <p:spPr>
          <a:xfrm rot="0">
            <a:off x="1164007" y="577792"/>
            <a:ext cx="16598653" cy="1811020"/>
          </a:xfrm>
          <a:prstGeom prst="rect">
            <a:avLst/>
          </a:prstGeom>
        </p:spPr>
        <p:txBody>
          <a:bodyPr anchor="t" rtlCol="false" tIns="0" lIns="0" bIns="0" rIns="0">
            <a:spAutoFit/>
          </a:bodyPr>
          <a:lstStyle/>
          <a:p>
            <a:pPr algn="ctr">
              <a:lnSpc>
                <a:spcPts val="7279"/>
              </a:lnSpc>
            </a:pPr>
            <a:r>
              <a:rPr lang="en-US" sz="5199" b="true">
                <a:solidFill>
                  <a:srgbClr val="622512"/>
                </a:solidFill>
                <a:latin typeface="Noto Sans JP Medium"/>
                <a:ea typeface="Noto Sans JP Medium"/>
                <a:cs typeface="Noto Sans JP Medium"/>
                <a:sym typeface="Noto Sans JP Medium"/>
              </a:rPr>
              <a:t>奥田 尊子さんの健康地図</a:t>
            </a:r>
          </a:p>
          <a:p>
            <a:pPr algn="ctr">
              <a:lnSpc>
                <a:spcPts val="7279"/>
              </a:lnSpc>
            </a:pPr>
            <a:r>
              <a:rPr lang="en-US" sz="5199" b="true">
                <a:solidFill>
                  <a:srgbClr val="622512"/>
                </a:solidFill>
                <a:latin typeface="Noto Sans JP Medium"/>
                <a:ea typeface="Noto Sans JP Medium"/>
                <a:cs typeface="Noto Sans JP Medium"/>
                <a:sym typeface="Noto Sans JP Medium"/>
              </a:rPr>
              <a:t>（2026/10/5）</a:t>
            </a:r>
          </a:p>
        </p:txBody>
      </p:sp>
      <p:sp>
        <p:nvSpPr>
          <p:cNvPr name="TextBox 7" id="7"/>
          <p:cNvSpPr txBox="true"/>
          <p:nvPr/>
        </p:nvSpPr>
        <p:spPr>
          <a:xfrm rot="0">
            <a:off x="1540734" y="8475980"/>
            <a:ext cx="13174432" cy="1811020"/>
          </a:xfrm>
          <a:prstGeom prst="rect">
            <a:avLst/>
          </a:prstGeom>
        </p:spPr>
        <p:txBody>
          <a:bodyPr anchor="t" rtlCol="false" tIns="0" lIns="0" bIns="0" rIns="0">
            <a:spAutoFit/>
          </a:bodyPr>
          <a:lstStyle/>
          <a:p>
            <a:pPr algn="ctr">
              <a:lnSpc>
                <a:spcPts val="7279"/>
              </a:lnSpc>
            </a:pPr>
            <a:r>
              <a:rPr lang="en-US" sz="5199" b="true">
                <a:solidFill>
                  <a:srgbClr val="622512"/>
                </a:solidFill>
                <a:latin typeface="Noto Sans JP Medium"/>
                <a:ea typeface="Noto Sans JP Medium"/>
                <a:cs typeface="Noto Sans JP Medium"/>
                <a:sym typeface="Noto Sans JP Medium"/>
              </a:rPr>
              <a:t>※数字は、体のサインの大きさです。</a:t>
            </a:r>
          </a:p>
          <a:p>
            <a:pPr algn="ctr">
              <a:lnSpc>
                <a:spcPts val="7279"/>
              </a:lnSpc>
            </a:pPr>
            <a:r>
              <a:rPr lang="en-US" sz="5199" b="true">
                <a:solidFill>
                  <a:srgbClr val="622512"/>
                </a:solidFill>
                <a:latin typeface="Noto Sans JP Medium"/>
                <a:ea typeface="Noto Sans JP Medium"/>
                <a:cs typeface="Noto Sans JP Medium"/>
                <a:sym typeface="Noto Sans JP Medium"/>
              </a:rPr>
              <a:t>心理状態だけは、高いほど良い結果です</a:t>
            </a:r>
          </a:p>
        </p:txBody>
      </p:sp>
      <p:sp>
        <p:nvSpPr>
          <p:cNvPr name="TextBox 8" id="8"/>
          <p:cNvSpPr txBox="true"/>
          <p:nvPr/>
        </p:nvSpPr>
        <p:spPr>
          <a:xfrm rot="0">
            <a:off x="12989800" y="9463761"/>
            <a:ext cx="5298200" cy="608965"/>
          </a:xfrm>
          <a:prstGeom prst="rect">
            <a:avLst/>
          </a:prstGeom>
        </p:spPr>
        <p:txBody>
          <a:bodyPr anchor="t" rtlCol="false" tIns="0" lIns="0" bIns="0" rIns="0">
            <a:spAutoFit/>
          </a:bodyPr>
          <a:lstStyle/>
          <a:p>
            <a:pPr algn="ctr">
              <a:lnSpc>
                <a:spcPts val="4759"/>
              </a:lnSpc>
            </a:pPr>
            <a:r>
              <a:rPr lang="en-US" sz="3399">
                <a:solidFill>
                  <a:srgbClr val="66461F"/>
                </a:solidFill>
                <a:latin typeface="M Plus Rounded Black"/>
                <a:ea typeface="M Plus Rounded Black"/>
                <a:cs typeface="M Plus Rounded Black"/>
                <a:sym typeface="M Plus Rounded Black"/>
              </a:rPr>
              <a:t>@海音～心体の調律～</a:t>
            </a:r>
          </a:p>
        </p:txBody>
      </p:sp>
      <p:graphicFrame>
        <p:nvGraphicFramePr>
          <p:cNvPr id="9" name="Chart 8"/>
          <p:cNvGraphicFramePr>
            <a:graphicFrameLocks noGrp="1"/>
          </p:cNvGraphicFramePr>
          <p:nvPr/>
        </p:nvGraphicFramePr>
        <p:xfrm>
          <a:off x="1300000" y="2450000"/>
          <a:ext cx="15700000" cy="5900000"/>
        </p:xfrm>
        <a:graphic>
          <a:graphicData uri="http://schemas.openxmlformats.org/drawingml/2006/chart">
            <c:chart xmlns:c="http://schemas.openxmlformats.org/drawingml/2006/chart" r:id="rId5"/>
          </a:graphicData>
        </a:graphic>
      </p:graphicFrame>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8F2ED"/>
        </a:solidFill>
      </p:bgPr>
    </p:bg>
    <p:spTree>
      <p:nvGrpSpPr>
        <p:cNvPr id="1" name=""/>
        <p:cNvGrpSpPr/>
        <p:nvPr/>
      </p:nvGrpSpPr>
      <p:grpSpPr>
        <a:xfrm>
          <a:off x="0" y="0"/>
          <a:ext cx="0" cy="0"/>
          <a:chOff x="0" y="0"/>
          <a:chExt cx="0" cy="0"/>
        </a:xfrm>
      </p:grpSpPr>
      <p:sp>
        <p:nvSpPr>
          <p:cNvPr name="Freeform 2" id="2"/>
          <p:cNvSpPr/>
          <p:nvPr/>
        </p:nvSpPr>
        <p:spPr>
          <a:xfrm flipH="false" flipV="false" rot="0">
            <a:off x="2932981" y="1629201"/>
            <a:ext cx="12422038" cy="8229600"/>
          </a:xfrm>
          <a:custGeom>
            <a:avLst/>
            <a:gdLst/>
            <a:ahLst/>
            <a:cxnLst/>
            <a:rect r="r" b="b" t="t" l="l"/>
            <a:pathLst>
              <a:path h="8229600" w="12422038">
                <a:moveTo>
                  <a:pt x="0" y="0"/>
                </a:moveTo>
                <a:lnTo>
                  <a:pt x="12422038" y="0"/>
                </a:lnTo>
                <a:lnTo>
                  <a:pt x="12422038" y="8229600"/>
                </a:lnTo>
                <a:lnTo>
                  <a:pt x="0" y="8229600"/>
                </a:lnTo>
                <a:lnTo>
                  <a:pt x="0" y="0"/>
                </a:lnTo>
                <a:close/>
              </a:path>
            </a:pathLst>
          </a:custGeom>
          <a:blipFill>
            <a:blip r:embed="rId2"/>
            <a:stretch>
              <a:fillRect l="0" t="0" r="0" b="0"/>
            </a:stretch>
          </a:blipFill>
        </p:spPr>
      </p:sp>
      <p:sp>
        <p:nvSpPr>
          <p:cNvPr name="TextBox 3" id="3"/>
          <p:cNvSpPr txBox="true"/>
          <p:nvPr/>
        </p:nvSpPr>
        <p:spPr>
          <a:xfrm rot="0">
            <a:off x="3200945" y="537527"/>
            <a:ext cx="11886109" cy="887095"/>
          </a:xfrm>
          <a:prstGeom prst="rect">
            <a:avLst/>
          </a:prstGeom>
        </p:spPr>
        <p:txBody>
          <a:bodyPr anchor="t" rtlCol="false" tIns="0" lIns="0" bIns="0" rIns="0">
            <a:spAutoFit/>
          </a:bodyPr>
          <a:lstStyle/>
          <a:p>
            <a:pPr algn="ctr">
              <a:lnSpc>
                <a:spcPts val="7279"/>
              </a:lnSpc>
            </a:pPr>
            <a:r>
              <a:rPr lang="en-US" b="true" sz="5199">
                <a:solidFill>
                  <a:srgbClr val="622512"/>
                </a:solidFill>
                <a:latin typeface="Noto Sans JP Medium"/>
                <a:ea typeface="Noto Sans JP Medium"/>
                <a:cs typeface="Noto Sans JP Medium"/>
                <a:sym typeface="Noto Sans JP Medium"/>
              </a:rPr>
              <a:t>結果を聞いてどのように感じましたか？</a:t>
            </a:r>
          </a:p>
        </p:txBody>
      </p:sp>
      <p:sp>
        <p:nvSpPr>
          <p:cNvPr name="TextBox 4" id="4"/>
          <p:cNvSpPr txBox="true"/>
          <p:nvPr/>
        </p:nvSpPr>
        <p:spPr>
          <a:xfrm rot="0">
            <a:off x="12989800" y="9463761"/>
            <a:ext cx="5298200" cy="608965"/>
          </a:xfrm>
          <a:prstGeom prst="rect">
            <a:avLst/>
          </a:prstGeom>
        </p:spPr>
        <p:txBody>
          <a:bodyPr anchor="t" rtlCol="false" tIns="0" lIns="0" bIns="0" rIns="0">
            <a:spAutoFit/>
          </a:bodyPr>
          <a:lstStyle/>
          <a:p>
            <a:pPr algn="ctr">
              <a:lnSpc>
                <a:spcPts val="4759"/>
              </a:lnSpc>
            </a:pPr>
            <a:r>
              <a:rPr lang="en-US" sz="3399">
                <a:solidFill>
                  <a:srgbClr val="66461F"/>
                </a:solidFill>
                <a:latin typeface="M Plus Rounded Black"/>
                <a:ea typeface="M Plus Rounded Black"/>
                <a:cs typeface="M Plus Rounded Black"/>
                <a:sym typeface="M Plus Rounded Black"/>
              </a:rPr>
              <a:t>@海音～心体の調律～</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8F2ED"/>
        </a:solidFill>
      </p:bgPr>
    </p:bg>
    <p:spTree>
      <p:nvGrpSpPr>
        <p:cNvPr id="1" name=""/>
        <p:cNvGrpSpPr/>
        <p:nvPr/>
      </p:nvGrpSpPr>
      <p:grpSpPr>
        <a:xfrm>
          <a:off x="0" y="0"/>
          <a:ext cx="0" cy="0"/>
          <a:chOff x="0" y="0"/>
          <a:chExt cx="0" cy="0"/>
        </a:xfrm>
      </p:grpSpPr>
      <p:sp>
        <p:nvSpPr>
          <p:cNvPr name="TextBox 2" id="2"/>
          <p:cNvSpPr txBox="true"/>
          <p:nvPr/>
        </p:nvSpPr>
        <p:spPr>
          <a:xfrm rot="0">
            <a:off x="1028700" y="2284889"/>
            <a:ext cx="16576080" cy="7402195"/>
          </a:xfrm>
          <a:prstGeom prst="rect">
            <a:avLst/>
          </a:prstGeom>
        </p:spPr>
        <p:txBody>
          <a:bodyPr anchor="t" rtlCol="false" tIns="0" lIns="0" bIns="0" rIns="0">
            <a:spAutoFit/>
          </a:bodyPr>
          <a:lstStyle/>
          <a:p>
            <a:pPr algn="ctr">
              <a:lnSpc>
                <a:spcPts val="7279"/>
              </a:lnSpc>
            </a:pPr>
            <a:r>
              <a:rPr lang="en-US" sz="5199">
                <a:solidFill>
                  <a:srgbClr val="622512"/>
                </a:solidFill>
                <a:latin typeface="M Plus Rounded Black"/>
                <a:ea typeface="M Plus Rounded Black"/>
                <a:cs typeface="M Plus Rounded Black"/>
                <a:sym typeface="M Plus Rounded Black"/>
              </a:rPr>
              <a:t>気分のむらが激しい事を経験した方</a:t>
            </a:r>
          </a:p>
          <a:p>
            <a:pPr algn="ctr">
              <a:lnSpc>
                <a:spcPts val="7279"/>
              </a:lnSpc>
            </a:pPr>
            <a:r>
              <a:rPr lang="en-US" sz="5199">
                <a:solidFill>
                  <a:srgbClr val="622512"/>
                </a:solidFill>
                <a:latin typeface="M Plus Rounded Black"/>
                <a:ea typeface="M Plus Rounded Black"/>
                <a:cs typeface="M Plus Rounded Black"/>
                <a:sym typeface="M Plus Rounded Black"/>
              </a:rPr>
              <a:t>大きな問題に直面したことがある方</a:t>
            </a:r>
          </a:p>
          <a:p>
            <a:pPr algn="ctr">
              <a:lnSpc>
                <a:spcPts val="7279"/>
              </a:lnSpc>
            </a:pPr>
            <a:r>
              <a:rPr lang="en-US" sz="5199">
                <a:solidFill>
                  <a:srgbClr val="622512"/>
                </a:solidFill>
                <a:latin typeface="M Plus Rounded Black"/>
                <a:ea typeface="M Plus Rounded Black"/>
                <a:cs typeface="M Plus Rounded Black"/>
                <a:sym typeface="M Plus Rounded Black"/>
              </a:rPr>
              <a:t>大きな病気を経験したことがある方</a:t>
            </a:r>
          </a:p>
          <a:p>
            <a:pPr algn="ctr">
              <a:lnSpc>
                <a:spcPts val="7279"/>
              </a:lnSpc>
            </a:pPr>
          </a:p>
          <a:p>
            <a:pPr algn="ctr">
              <a:lnSpc>
                <a:spcPts val="7279"/>
              </a:lnSpc>
            </a:pPr>
            <a:r>
              <a:rPr lang="en-US" sz="5199">
                <a:solidFill>
                  <a:srgbClr val="622512"/>
                </a:solidFill>
                <a:latin typeface="M Plus Rounded Black"/>
                <a:ea typeface="M Plus Rounded Black"/>
                <a:cs typeface="M Plus Rounded Black"/>
                <a:sym typeface="M Plus Rounded Black"/>
              </a:rPr>
              <a:t>このような方は大きなポテンシャルをお持ちの方です。</a:t>
            </a:r>
          </a:p>
          <a:p>
            <a:pPr algn="l">
              <a:lnSpc>
                <a:spcPts val="7279"/>
              </a:lnSpc>
            </a:pPr>
            <a:r>
              <a:rPr lang="en-US" sz="5199">
                <a:solidFill>
                  <a:srgbClr val="622512"/>
                </a:solidFill>
                <a:latin typeface="M Plus Rounded Black"/>
                <a:ea typeface="M Plus Rounded Black"/>
                <a:cs typeface="M Plus Rounded Black"/>
                <a:sym typeface="M Plus Rounded Black"/>
              </a:rPr>
              <a:t>事前に問題を回避できるのが一番ですが、</a:t>
            </a:r>
            <a:r>
              <a:rPr lang="en-US" sz="5199">
                <a:solidFill>
                  <a:srgbClr val="622512"/>
                </a:solidFill>
                <a:latin typeface="M Plus Rounded Black"/>
                <a:ea typeface="M Plus Rounded Black"/>
                <a:cs typeface="M Plus Rounded Black"/>
                <a:sym typeface="M Plus Rounded Black"/>
              </a:rPr>
              <a:t>何かに直面した時には、「自分には才能があるから課題が与えられている」ととらえてください！！</a:t>
            </a:r>
          </a:p>
        </p:txBody>
      </p:sp>
      <p:sp>
        <p:nvSpPr>
          <p:cNvPr name="Freeform 3" id="3"/>
          <p:cNvSpPr/>
          <p:nvPr/>
        </p:nvSpPr>
        <p:spPr>
          <a:xfrm flipH="false" flipV="false" rot="0">
            <a:off x="-250821" y="-448374"/>
            <a:ext cx="18538821" cy="11656284"/>
          </a:xfrm>
          <a:custGeom>
            <a:avLst/>
            <a:gdLst/>
            <a:ahLst/>
            <a:cxnLst/>
            <a:rect r="r" b="b" t="t" l="l"/>
            <a:pathLst>
              <a:path h="11656284" w="18538821">
                <a:moveTo>
                  <a:pt x="0" y="0"/>
                </a:moveTo>
                <a:lnTo>
                  <a:pt x="18538821" y="0"/>
                </a:lnTo>
                <a:lnTo>
                  <a:pt x="18538821" y="11656284"/>
                </a:lnTo>
                <a:lnTo>
                  <a:pt x="0" y="11656284"/>
                </a:lnTo>
                <a:lnTo>
                  <a:pt x="0" y="0"/>
                </a:lnTo>
                <a:close/>
              </a:path>
            </a:pathLst>
          </a:custGeom>
          <a:blipFill>
            <a:blip r:embed="rId2">
              <a:alphaModFix amt="18000"/>
            </a:blip>
            <a:stretch>
              <a:fillRect l="0" t="0" r="0" b="0"/>
            </a:stretch>
          </a:blipFill>
        </p:spPr>
      </p:sp>
      <p:sp>
        <p:nvSpPr>
          <p:cNvPr name="TextBox 4" id="4"/>
          <p:cNvSpPr txBox="true"/>
          <p:nvPr/>
        </p:nvSpPr>
        <p:spPr>
          <a:xfrm rot="0">
            <a:off x="2450529" y="885825"/>
            <a:ext cx="11886754" cy="934720"/>
          </a:xfrm>
          <a:prstGeom prst="rect">
            <a:avLst/>
          </a:prstGeom>
        </p:spPr>
        <p:txBody>
          <a:bodyPr anchor="t" rtlCol="false" tIns="0" lIns="0" bIns="0" rIns="0">
            <a:spAutoFit/>
          </a:bodyPr>
          <a:lstStyle/>
          <a:p>
            <a:pPr algn="ctr">
              <a:lnSpc>
                <a:spcPts val="7279"/>
              </a:lnSpc>
            </a:pPr>
            <a:r>
              <a:rPr lang="en-US" sz="5199" b="true">
                <a:solidFill>
                  <a:srgbClr val="622512"/>
                </a:solidFill>
                <a:latin typeface="M Plus Rounded Black Bold"/>
                <a:ea typeface="M Plus Rounded Black Bold"/>
                <a:cs typeface="M Plus Rounded Black Bold"/>
                <a:sym typeface="M Plus Rounded Black Bold"/>
              </a:rPr>
              <a:t>奥田さんに知っておいていただきたい事</a:t>
            </a:r>
          </a:p>
        </p:txBody>
      </p:sp>
      <p:sp>
        <p:nvSpPr>
          <p:cNvPr name="TextBox 5" id="5"/>
          <p:cNvSpPr txBox="true"/>
          <p:nvPr/>
        </p:nvSpPr>
        <p:spPr>
          <a:xfrm rot="0">
            <a:off x="12989800" y="9463761"/>
            <a:ext cx="5298200" cy="608965"/>
          </a:xfrm>
          <a:prstGeom prst="rect">
            <a:avLst/>
          </a:prstGeom>
        </p:spPr>
        <p:txBody>
          <a:bodyPr anchor="t" rtlCol="false" tIns="0" lIns="0" bIns="0" rIns="0">
            <a:spAutoFit/>
          </a:bodyPr>
          <a:lstStyle/>
          <a:p>
            <a:pPr algn="ctr">
              <a:lnSpc>
                <a:spcPts val="4759"/>
              </a:lnSpc>
            </a:pPr>
            <a:r>
              <a:rPr lang="en-US" sz="3399">
                <a:solidFill>
                  <a:srgbClr val="66461F"/>
                </a:solidFill>
                <a:latin typeface="M Plus Rounded Black"/>
                <a:ea typeface="M Plus Rounded Black"/>
                <a:cs typeface="M Plus Rounded Black"/>
                <a:sym typeface="M Plus Rounded Black"/>
              </a:rPr>
              <a:t>@海音～心体の調律～</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8F2ED"/>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139313"/>
            <a:ext cx="6110478" cy="8229600"/>
          </a:xfrm>
          <a:custGeom>
            <a:avLst/>
            <a:gdLst/>
            <a:ahLst/>
            <a:cxnLst/>
            <a:rect r="r" b="b" t="t" l="l"/>
            <a:pathLst>
              <a:path h="8229600" w="6110478">
                <a:moveTo>
                  <a:pt x="0" y="0"/>
                </a:moveTo>
                <a:lnTo>
                  <a:pt x="6110478" y="0"/>
                </a:lnTo>
                <a:lnTo>
                  <a:pt x="6110478" y="8229600"/>
                </a:lnTo>
                <a:lnTo>
                  <a:pt x="0" y="8229600"/>
                </a:lnTo>
                <a:lnTo>
                  <a:pt x="0" y="0"/>
                </a:lnTo>
                <a:close/>
              </a:path>
            </a:pathLst>
          </a:custGeom>
          <a:blipFill>
            <a:blip r:embed="rId2"/>
            <a:stretch>
              <a:fillRect l="0" t="0" r="0" b="0"/>
            </a:stretch>
          </a:blipFill>
        </p:spPr>
      </p:sp>
      <p:sp>
        <p:nvSpPr>
          <p:cNvPr name="TextBox 3" id="3"/>
          <p:cNvSpPr txBox="true"/>
          <p:nvPr/>
        </p:nvSpPr>
        <p:spPr>
          <a:xfrm rot="0">
            <a:off x="7543800" y="1449594"/>
            <a:ext cx="8001000" cy="5198745"/>
          </a:xfrm>
          <a:prstGeom prst="rect">
            <a:avLst/>
          </a:prstGeom>
        </p:spPr>
        <p:txBody>
          <a:bodyPr anchor="t" rtlCol="false" tIns="0" lIns="0" bIns="0" rIns="0">
            <a:spAutoFit/>
          </a:bodyPr>
          <a:lstStyle/>
          <a:p>
            <a:pPr algn="ctr">
              <a:lnSpc>
                <a:spcPts val="5880"/>
              </a:lnSpc>
            </a:pPr>
            <a:r>
              <a:rPr lang="en-US" sz="4200" b="true">
                <a:solidFill>
                  <a:srgbClr val="622512"/>
                </a:solidFill>
                <a:latin typeface="M+ Bold"/>
                <a:ea typeface="M+ Bold"/>
                <a:cs typeface="M+ Bold"/>
                <a:sym typeface="M+ Bold"/>
              </a:rPr>
              <a:t>口を10秒開けてください</a:t>
            </a:r>
          </a:p>
          <a:p>
            <a:pPr algn="ctr">
              <a:lnSpc>
                <a:spcPts val="5880"/>
              </a:lnSpc>
            </a:pPr>
          </a:p>
          <a:p>
            <a:pPr algn="ctr">
              <a:lnSpc>
                <a:spcPts val="5880"/>
              </a:lnSpc>
            </a:pPr>
            <a:r>
              <a:rPr lang="en-US" sz="4200" b="true">
                <a:solidFill>
                  <a:srgbClr val="622512"/>
                </a:solidFill>
                <a:latin typeface="M+ Bold"/>
                <a:ea typeface="M+ Bold"/>
                <a:cs typeface="M+ Bold"/>
                <a:sym typeface="M+ Bold"/>
              </a:rPr>
              <a:t>あくびがでるようになります</a:t>
            </a:r>
          </a:p>
          <a:p>
            <a:pPr algn="ctr">
              <a:lnSpc>
                <a:spcPts val="5880"/>
              </a:lnSpc>
            </a:pPr>
          </a:p>
          <a:p>
            <a:pPr algn="ctr">
              <a:lnSpc>
                <a:spcPts val="5880"/>
              </a:lnSpc>
            </a:pPr>
            <a:r>
              <a:rPr lang="en-US" sz="4200" b="true">
                <a:solidFill>
                  <a:srgbClr val="622512"/>
                </a:solidFill>
                <a:latin typeface="M+ Bold"/>
                <a:ea typeface="M+ Bold"/>
                <a:cs typeface="M+ Bold"/>
                <a:sym typeface="M+ Bold"/>
              </a:rPr>
              <a:t>顎ゆるみ、目・口回りが緩みます</a:t>
            </a:r>
          </a:p>
          <a:p>
            <a:pPr algn="ctr">
              <a:lnSpc>
                <a:spcPts val="5880"/>
              </a:lnSpc>
            </a:pPr>
          </a:p>
          <a:p>
            <a:pPr algn="ctr">
              <a:lnSpc>
                <a:spcPts val="5880"/>
              </a:lnSpc>
            </a:pP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8F2ED"/>
        </a:solidFill>
      </p:bgPr>
    </p:bg>
    <p:spTree>
      <p:nvGrpSpPr>
        <p:cNvPr id="1" name=""/>
        <p:cNvGrpSpPr/>
        <p:nvPr/>
      </p:nvGrpSpPr>
      <p:grpSpPr>
        <a:xfrm>
          <a:off x="0" y="0"/>
          <a:ext cx="0" cy="0"/>
          <a:chOff x="0" y="0"/>
          <a:chExt cx="0" cy="0"/>
        </a:xfrm>
      </p:grpSpPr>
      <p:sp>
        <p:nvSpPr>
          <p:cNvPr name="Freeform 2" id="2"/>
          <p:cNvSpPr/>
          <p:nvPr/>
        </p:nvSpPr>
        <p:spPr>
          <a:xfrm flipH="false" flipV="false" rot="0">
            <a:off x="1539833" y="4068970"/>
            <a:ext cx="3929064" cy="5189330"/>
          </a:xfrm>
          <a:custGeom>
            <a:avLst/>
            <a:gdLst/>
            <a:ahLst/>
            <a:cxnLst/>
            <a:rect r="r" b="b" t="t" l="l"/>
            <a:pathLst>
              <a:path h="5189330" w="3929064">
                <a:moveTo>
                  <a:pt x="0" y="0"/>
                </a:moveTo>
                <a:lnTo>
                  <a:pt x="3929064" y="0"/>
                </a:lnTo>
                <a:lnTo>
                  <a:pt x="3929064" y="5189330"/>
                </a:lnTo>
                <a:lnTo>
                  <a:pt x="0" y="5189330"/>
                </a:lnTo>
                <a:lnTo>
                  <a:pt x="0" y="0"/>
                </a:lnTo>
                <a:close/>
              </a:path>
            </a:pathLst>
          </a:custGeom>
          <a:blipFill>
            <a:blip r:embed="rId2"/>
            <a:stretch>
              <a:fillRect l="0" t="0" r="-100000" b="0"/>
            </a:stretch>
          </a:blipFill>
        </p:spPr>
      </p:sp>
      <p:sp>
        <p:nvSpPr>
          <p:cNvPr name="TextBox 3" id="3"/>
          <p:cNvSpPr txBox="true"/>
          <p:nvPr/>
        </p:nvSpPr>
        <p:spPr>
          <a:xfrm rot="0">
            <a:off x="1028700" y="1809750"/>
            <a:ext cx="5715037" cy="1858496"/>
          </a:xfrm>
          <a:prstGeom prst="rect">
            <a:avLst/>
          </a:prstGeom>
        </p:spPr>
        <p:txBody>
          <a:bodyPr anchor="t" rtlCol="false" tIns="0" lIns="0" bIns="0" rIns="0">
            <a:spAutoFit/>
          </a:bodyPr>
          <a:lstStyle/>
          <a:p>
            <a:pPr algn="ctr">
              <a:lnSpc>
                <a:spcPts val="7279"/>
              </a:lnSpc>
            </a:pPr>
            <a:r>
              <a:rPr lang="en-US" b="true" sz="5199">
                <a:solidFill>
                  <a:srgbClr val="622512"/>
                </a:solidFill>
                <a:latin typeface="M+ Bold"/>
                <a:ea typeface="M+ Bold"/>
                <a:cs typeface="M+ Bold"/>
                <a:sym typeface="M+ Bold"/>
              </a:rPr>
              <a:t>①手をグーにして上下に10回</a:t>
            </a:r>
          </a:p>
        </p:txBody>
      </p:sp>
      <p:sp>
        <p:nvSpPr>
          <p:cNvPr name="TextBox 4" id="4"/>
          <p:cNvSpPr txBox="true"/>
          <p:nvPr/>
        </p:nvSpPr>
        <p:spPr>
          <a:xfrm rot="0">
            <a:off x="-785018" y="4692105"/>
            <a:ext cx="8578766" cy="1618608"/>
          </a:xfrm>
          <a:prstGeom prst="rect">
            <a:avLst/>
          </a:prstGeom>
        </p:spPr>
        <p:txBody>
          <a:bodyPr anchor="t" rtlCol="false" tIns="0" lIns="0" bIns="0" rIns="0">
            <a:spAutoFit/>
          </a:bodyPr>
          <a:lstStyle/>
          <a:p>
            <a:pPr algn="ctr">
              <a:lnSpc>
                <a:spcPts val="13160"/>
              </a:lnSpc>
            </a:pPr>
            <a:r>
              <a:rPr lang="en-US" sz="9400">
                <a:solidFill>
                  <a:srgbClr val="000000"/>
                </a:solidFill>
                <a:latin typeface="Ipaex Mincho"/>
                <a:ea typeface="Ipaex Mincho"/>
                <a:cs typeface="Ipaex Mincho"/>
                <a:sym typeface="Ipaex Mincho"/>
              </a:rPr>
              <a:t>↕↕</a:t>
            </a:r>
          </a:p>
        </p:txBody>
      </p:sp>
      <p:sp>
        <p:nvSpPr>
          <p:cNvPr name="TextBox 5" id="5"/>
          <p:cNvSpPr txBox="true"/>
          <p:nvPr/>
        </p:nvSpPr>
        <p:spPr>
          <a:xfrm rot="0">
            <a:off x="10749346" y="1981082"/>
            <a:ext cx="6753786" cy="1858496"/>
          </a:xfrm>
          <a:prstGeom prst="rect">
            <a:avLst/>
          </a:prstGeom>
        </p:spPr>
        <p:txBody>
          <a:bodyPr anchor="t" rtlCol="false" tIns="0" lIns="0" bIns="0" rIns="0">
            <a:spAutoFit/>
          </a:bodyPr>
          <a:lstStyle/>
          <a:p>
            <a:pPr algn="ctr">
              <a:lnSpc>
                <a:spcPts val="7279"/>
              </a:lnSpc>
            </a:pPr>
            <a:r>
              <a:rPr lang="en-US" b="true" sz="5199">
                <a:solidFill>
                  <a:srgbClr val="622512"/>
                </a:solidFill>
                <a:latin typeface="M+ Bold"/>
                <a:ea typeface="M+ Bold"/>
                <a:cs typeface="M+ Bold"/>
                <a:sym typeface="M+ Bold"/>
              </a:rPr>
              <a:t>②手をグーにしたまま左右10回</a:t>
            </a:r>
          </a:p>
        </p:txBody>
      </p:sp>
      <p:sp>
        <p:nvSpPr>
          <p:cNvPr name="Freeform 6" id="6"/>
          <p:cNvSpPr/>
          <p:nvPr/>
        </p:nvSpPr>
        <p:spPr>
          <a:xfrm flipH="false" flipV="false" rot="0">
            <a:off x="12424687" y="3839578"/>
            <a:ext cx="3929064" cy="5189330"/>
          </a:xfrm>
          <a:custGeom>
            <a:avLst/>
            <a:gdLst/>
            <a:ahLst/>
            <a:cxnLst/>
            <a:rect r="r" b="b" t="t" l="l"/>
            <a:pathLst>
              <a:path h="5189330" w="3929064">
                <a:moveTo>
                  <a:pt x="0" y="0"/>
                </a:moveTo>
                <a:lnTo>
                  <a:pt x="3929064" y="0"/>
                </a:lnTo>
                <a:lnTo>
                  <a:pt x="3929064" y="5189330"/>
                </a:lnTo>
                <a:lnTo>
                  <a:pt x="0" y="5189330"/>
                </a:lnTo>
                <a:lnTo>
                  <a:pt x="0" y="0"/>
                </a:lnTo>
                <a:close/>
              </a:path>
            </a:pathLst>
          </a:custGeom>
          <a:blipFill>
            <a:blip r:embed="rId2"/>
            <a:stretch>
              <a:fillRect l="0" t="0" r="-100000" b="0"/>
            </a:stretch>
          </a:blipFill>
        </p:spPr>
      </p:sp>
      <p:sp>
        <p:nvSpPr>
          <p:cNvPr name="TextBox 7" id="7"/>
          <p:cNvSpPr txBox="true"/>
          <p:nvPr/>
        </p:nvSpPr>
        <p:spPr>
          <a:xfrm rot="580574">
            <a:off x="13077973" y="2925344"/>
            <a:ext cx="1466415" cy="3285502"/>
          </a:xfrm>
          <a:prstGeom prst="rect">
            <a:avLst/>
          </a:prstGeom>
        </p:spPr>
        <p:txBody>
          <a:bodyPr anchor="t" rtlCol="false" tIns="0" lIns="0" bIns="0" rIns="0">
            <a:spAutoFit/>
          </a:bodyPr>
          <a:lstStyle/>
          <a:p>
            <a:pPr algn="ctr">
              <a:lnSpc>
                <a:spcPts val="13159"/>
              </a:lnSpc>
            </a:pPr>
          </a:p>
          <a:p>
            <a:pPr algn="ctr">
              <a:lnSpc>
                <a:spcPts val="13159"/>
              </a:lnSpc>
            </a:pPr>
            <a:r>
              <a:rPr lang="en-US" sz="9399">
                <a:solidFill>
                  <a:srgbClr val="000000"/>
                </a:solidFill>
                <a:latin typeface="Ipaex Mincho"/>
                <a:ea typeface="Ipaex Mincho"/>
                <a:cs typeface="Ipaex Mincho"/>
                <a:sym typeface="Ipaex Mincho"/>
              </a:rPr>
              <a:t>↔</a:t>
            </a:r>
          </a:p>
        </p:txBody>
      </p:sp>
      <p:sp>
        <p:nvSpPr>
          <p:cNvPr name="TextBox 8" id="8"/>
          <p:cNvSpPr txBox="true"/>
          <p:nvPr/>
        </p:nvSpPr>
        <p:spPr>
          <a:xfrm rot="0">
            <a:off x="12989800" y="9463761"/>
            <a:ext cx="5298200" cy="608965"/>
          </a:xfrm>
          <a:prstGeom prst="rect">
            <a:avLst/>
          </a:prstGeom>
        </p:spPr>
        <p:txBody>
          <a:bodyPr anchor="t" rtlCol="false" tIns="0" lIns="0" bIns="0" rIns="0">
            <a:spAutoFit/>
          </a:bodyPr>
          <a:lstStyle/>
          <a:p>
            <a:pPr algn="ctr">
              <a:lnSpc>
                <a:spcPts val="4759"/>
              </a:lnSpc>
            </a:pPr>
            <a:r>
              <a:rPr lang="en-US" sz="3399">
                <a:solidFill>
                  <a:srgbClr val="66461F"/>
                </a:solidFill>
                <a:latin typeface="M Plus Rounded Black"/>
                <a:ea typeface="M Plus Rounded Black"/>
                <a:cs typeface="M Plus Rounded Black"/>
                <a:sym typeface="M Plus Rounded Black"/>
              </a:rPr>
              <a:t>@海音～心体の調律～</a:t>
            </a:r>
          </a:p>
        </p:txBody>
      </p:sp>
      <p:sp>
        <p:nvSpPr>
          <p:cNvPr name="TextBox 9" id="9"/>
          <p:cNvSpPr txBox="true"/>
          <p:nvPr/>
        </p:nvSpPr>
        <p:spPr>
          <a:xfrm rot="0">
            <a:off x="321469" y="27940"/>
            <a:ext cx="14669210" cy="2782570"/>
          </a:xfrm>
          <a:prstGeom prst="rect">
            <a:avLst/>
          </a:prstGeom>
        </p:spPr>
        <p:txBody>
          <a:bodyPr anchor="t" rtlCol="false" tIns="0" lIns="0" bIns="0" rIns="0">
            <a:spAutoFit/>
          </a:bodyPr>
          <a:lstStyle/>
          <a:p>
            <a:pPr algn="l">
              <a:lnSpc>
                <a:spcPts val="7279"/>
              </a:lnSpc>
            </a:pPr>
            <a:r>
              <a:rPr lang="en-US" sz="5199" b="true">
                <a:solidFill>
                  <a:srgbClr val="622512"/>
                </a:solidFill>
                <a:latin typeface="M+ Bold"/>
                <a:ea typeface="M+ Bold"/>
                <a:cs typeface="M+ Bold"/>
                <a:sym typeface="M+ Bold"/>
              </a:rPr>
              <a:t>　腸・慢性疲労回復マッサージ</a:t>
            </a:r>
          </a:p>
          <a:p>
            <a:pPr algn="ctr">
              <a:lnSpc>
                <a:spcPts val="7279"/>
              </a:lnSpc>
            </a:pPr>
            <a:r>
              <a:rPr lang="en-US" sz="5199" b="true">
                <a:solidFill>
                  <a:srgbClr val="622512"/>
                </a:solidFill>
                <a:latin typeface="M+ Bold"/>
                <a:ea typeface="M+ Bold"/>
                <a:cs typeface="M+ Bold"/>
                <a:sym typeface="M+ Bold"/>
              </a:rPr>
              <a:t>朝起きた時</a:t>
            </a:r>
            <a:r>
              <a:rPr lang="en-US" sz="5199" b="true">
                <a:solidFill>
                  <a:srgbClr val="622512"/>
                </a:solidFill>
                <a:latin typeface="M+ Bold"/>
                <a:ea typeface="M+ Bold"/>
                <a:cs typeface="M+ Bold"/>
                <a:sym typeface="M+ Bold"/>
              </a:rPr>
              <a:t>・思い出した時に１分です。</a:t>
            </a:r>
          </a:p>
          <a:p>
            <a:pPr algn="ctr">
              <a:lnSpc>
                <a:spcPts val="7279"/>
              </a:lnSpc>
            </a:pPr>
          </a:p>
        </p:txBody>
      </p:sp>
      <p:sp>
        <p:nvSpPr>
          <p:cNvPr name="TextBox 10" id="10"/>
          <p:cNvSpPr txBox="true"/>
          <p:nvPr/>
        </p:nvSpPr>
        <p:spPr>
          <a:xfrm rot="-1121676">
            <a:off x="14014315" y="3000401"/>
            <a:ext cx="1466415" cy="3285502"/>
          </a:xfrm>
          <a:prstGeom prst="rect">
            <a:avLst/>
          </a:prstGeom>
        </p:spPr>
        <p:txBody>
          <a:bodyPr anchor="t" rtlCol="false" tIns="0" lIns="0" bIns="0" rIns="0">
            <a:spAutoFit/>
          </a:bodyPr>
          <a:lstStyle/>
          <a:p>
            <a:pPr algn="ctr">
              <a:lnSpc>
                <a:spcPts val="13159"/>
              </a:lnSpc>
            </a:pPr>
          </a:p>
          <a:p>
            <a:pPr algn="ctr">
              <a:lnSpc>
                <a:spcPts val="13159"/>
              </a:lnSpc>
            </a:pPr>
            <a:r>
              <a:rPr lang="en-US" sz="9399">
                <a:solidFill>
                  <a:srgbClr val="000000"/>
                </a:solidFill>
                <a:latin typeface="Ipaex Mincho"/>
                <a:ea typeface="Ipaex Mincho"/>
                <a:cs typeface="Ipaex Mincho"/>
                <a:sym typeface="Ipaex Mincho"/>
              </a:rPr>
              <a:t>↔</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8F2ED"/>
        </a:solidFill>
      </p:bgPr>
    </p:bg>
    <p:spTree>
      <p:nvGrpSpPr>
        <p:cNvPr id="1" name=""/>
        <p:cNvGrpSpPr/>
        <p:nvPr/>
      </p:nvGrpSpPr>
      <p:grpSpPr>
        <a:xfrm>
          <a:off x="0" y="0"/>
          <a:ext cx="0" cy="0"/>
          <a:chOff x="0" y="0"/>
          <a:chExt cx="0" cy="0"/>
        </a:xfrm>
      </p:grpSpPr>
      <p:sp>
        <p:nvSpPr>
          <p:cNvPr name="Freeform 2" id="2"/>
          <p:cNvSpPr/>
          <p:nvPr/>
        </p:nvSpPr>
        <p:spPr>
          <a:xfrm flipH="false" flipV="false" rot="0">
            <a:off x="1413461" y="4490702"/>
            <a:ext cx="4054638" cy="5189330"/>
          </a:xfrm>
          <a:custGeom>
            <a:avLst/>
            <a:gdLst/>
            <a:ahLst/>
            <a:cxnLst/>
            <a:rect r="r" b="b" t="t" l="l"/>
            <a:pathLst>
              <a:path h="5189330" w="4054638">
                <a:moveTo>
                  <a:pt x="0" y="0"/>
                </a:moveTo>
                <a:lnTo>
                  <a:pt x="4054638" y="0"/>
                </a:lnTo>
                <a:lnTo>
                  <a:pt x="4054638" y="5189330"/>
                </a:lnTo>
                <a:lnTo>
                  <a:pt x="0" y="5189330"/>
                </a:lnTo>
                <a:lnTo>
                  <a:pt x="0" y="0"/>
                </a:lnTo>
                <a:close/>
              </a:path>
            </a:pathLst>
          </a:custGeom>
          <a:blipFill>
            <a:blip r:embed="rId2"/>
            <a:stretch>
              <a:fillRect l="0" t="0" r="-93805" b="0"/>
            </a:stretch>
          </a:blipFill>
        </p:spPr>
      </p:sp>
      <p:sp>
        <p:nvSpPr>
          <p:cNvPr name="Freeform 3" id="3"/>
          <p:cNvSpPr/>
          <p:nvPr/>
        </p:nvSpPr>
        <p:spPr>
          <a:xfrm flipH="false" flipV="false" rot="0">
            <a:off x="7179468" y="4490702"/>
            <a:ext cx="3929064" cy="5189330"/>
          </a:xfrm>
          <a:custGeom>
            <a:avLst/>
            <a:gdLst/>
            <a:ahLst/>
            <a:cxnLst/>
            <a:rect r="r" b="b" t="t" l="l"/>
            <a:pathLst>
              <a:path h="5189330" w="3929064">
                <a:moveTo>
                  <a:pt x="0" y="0"/>
                </a:moveTo>
                <a:lnTo>
                  <a:pt x="3929064" y="0"/>
                </a:lnTo>
                <a:lnTo>
                  <a:pt x="3929064" y="5189330"/>
                </a:lnTo>
                <a:lnTo>
                  <a:pt x="0" y="5189330"/>
                </a:lnTo>
                <a:lnTo>
                  <a:pt x="0" y="0"/>
                </a:lnTo>
                <a:close/>
              </a:path>
            </a:pathLst>
          </a:custGeom>
          <a:blipFill>
            <a:blip r:embed="rId2"/>
            <a:stretch>
              <a:fillRect l="-100000" t="0" r="0" b="0"/>
            </a:stretch>
          </a:blipFill>
        </p:spPr>
      </p:sp>
      <p:sp>
        <p:nvSpPr>
          <p:cNvPr name="TextBox 4" id="4"/>
          <p:cNvSpPr txBox="true"/>
          <p:nvPr/>
        </p:nvSpPr>
        <p:spPr>
          <a:xfrm rot="0">
            <a:off x="7950324" y="4743450"/>
            <a:ext cx="2387352" cy="1618627"/>
          </a:xfrm>
          <a:prstGeom prst="rect">
            <a:avLst/>
          </a:prstGeom>
        </p:spPr>
        <p:txBody>
          <a:bodyPr anchor="t" rtlCol="false" tIns="0" lIns="0" bIns="0" rIns="0">
            <a:spAutoFit/>
          </a:bodyPr>
          <a:lstStyle/>
          <a:p>
            <a:pPr algn="ctr">
              <a:lnSpc>
                <a:spcPts val="13159"/>
              </a:lnSpc>
            </a:pPr>
            <a:r>
              <a:rPr lang="en-US" sz="9399">
                <a:solidFill>
                  <a:srgbClr val="000000"/>
                </a:solidFill>
                <a:latin typeface="Ipaex Mincho"/>
                <a:ea typeface="Ipaex Mincho"/>
                <a:cs typeface="Ipaex Mincho"/>
                <a:sym typeface="Ipaex Mincho"/>
              </a:rPr>
              <a:t>↕↕</a:t>
            </a:r>
          </a:p>
        </p:txBody>
      </p:sp>
      <p:sp>
        <p:nvSpPr>
          <p:cNvPr name="TextBox 5" id="5"/>
          <p:cNvSpPr txBox="true"/>
          <p:nvPr/>
        </p:nvSpPr>
        <p:spPr>
          <a:xfrm rot="0">
            <a:off x="-945706" y="4542947"/>
            <a:ext cx="8578766" cy="1618608"/>
          </a:xfrm>
          <a:prstGeom prst="rect">
            <a:avLst/>
          </a:prstGeom>
        </p:spPr>
        <p:txBody>
          <a:bodyPr anchor="t" rtlCol="false" tIns="0" lIns="0" bIns="0" rIns="0">
            <a:spAutoFit/>
          </a:bodyPr>
          <a:lstStyle/>
          <a:p>
            <a:pPr algn="ctr">
              <a:lnSpc>
                <a:spcPts val="13160"/>
              </a:lnSpc>
            </a:pPr>
            <a:r>
              <a:rPr lang="en-US" sz="9400">
                <a:solidFill>
                  <a:srgbClr val="000000"/>
                </a:solidFill>
                <a:latin typeface="Ipaex Mincho"/>
                <a:ea typeface="Ipaex Mincho"/>
                <a:cs typeface="Ipaex Mincho"/>
                <a:sym typeface="Ipaex Mincho"/>
              </a:rPr>
              <a:t>↕　↕</a:t>
            </a:r>
          </a:p>
        </p:txBody>
      </p:sp>
      <p:sp>
        <p:nvSpPr>
          <p:cNvPr name="TextBox 6" id="6"/>
          <p:cNvSpPr txBox="true"/>
          <p:nvPr/>
        </p:nvSpPr>
        <p:spPr>
          <a:xfrm rot="0">
            <a:off x="257652" y="1687195"/>
            <a:ext cx="5715037" cy="1706830"/>
          </a:xfrm>
          <a:prstGeom prst="rect">
            <a:avLst/>
          </a:prstGeom>
        </p:spPr>
        <p:txBody>
          <a:bodyPr anchor="t" rtlCol="false" tIns="0" lIns="0" bIns="0" rIns="0">
            <a:spAutoFit/>
          </a:bodyPr>
          <a:lstStyle/>
          <a:p>
            <a:pPr algn="ctr">
              <a:lnSpc>
                <a:spcPts val="6720"/>
              </a:lnSpc>
            </a:pPr>
            <a:r>
              <a:rPr lang="en-US" sz="4800" b="true">
                <a:solidFill>
                  <a:srgbClr val="622512"/>
                </a:solidFill>
                <a:latin typeface="M+ Bold"/>
                <a:ea typeface="M+ Bold"/>
                <a:cs typeface="M+ Bold"/>
                <a:sym typeface="M+ Bold"/>
              </a:rPr>
              <a:t>③ウエストを</a:t>
            </a:r>
          </a:p>
          <a:p>
            <a:pPr algn="ctr">
              <a:lnSpc>
                <a:spcPts val="6720"/>
              </a:lnSpc>
            </a:pPr>
            <a:r>
              <a:rPr lang="en-US" b="true" sz="4800">
                <a:solidFill>
                  <a:srgbClr val="622512"/>
                </a:solidFill>
                <a:latin typeface="M+ Bold"/>
                <a:ea typeface="M+ Bold"/>
                <a:cs typeface="M+ Bold"/>
                <a:sym typeface="M+ Bold"/>
              </a:rPr>
              <a:t>上下に10回</a:t>
            </a:r>
          </a:p>
        </p:txBody>
      </p:sp>
      <p:sp>
        <p:nvSpPr>
          <p:cNvPr name="TextBox 7" id="7"/>
          <p:cNvSpPr txBox="true"/>
          <p:nvPr/>
        </p:nvSpPr>
        <p:spPr>
          <a:xfrm rot="0">
            <a:off x="11564099" y="1854775"/>
            <a:ext cx="6753786" cy="1706830"/>
          </a:xfrm>
          <a:prstGeom prst="rect">
            <a:avLst/>
          </a:prstGeom>
        </p:spPr>
        <p:txBody>
          <a:bodyPr anchor="t" rtlCol="false" tIns="0" lIns="0" bIns="0" rIns="0">
            <a:spAutoFit/>
          </a:bodyPr>
          <a:lstStyle/>
          <a:p>
            <a:pPr algn="ctr">
              <a:lnSpc>
                <a:spcPts val="6719"/>
              </a:lnSpc>
            </a:pPr>
            <a:r>
              <a:rPr lang="en-US" b="true" sz="4800">
                <a:solidFill>
                  <a:srgbClr val="622512"/>
                </a:solidFill>
                <a:latin typeface="M+ Bold"/>
                <a:ea typeface="M+ Bold"/>
                <a:cs typeface="M+ Bold"/>
                <a:sym typeface="M+ Bold"/>
              </a:rPr>
              <a:t>⑤手をグーにしたまま背中を左右10回</a:t>
            </a:r>
          </a:p>
        </p:txBody>
      </p:sp>
      <p:sp>
        <p:nvSpPr>
          <p:cNvPr name="TextBox 8" id="8"/>
          <p:cNvSpPr txBox="true"/>
          <p:nvPr/>
        </p:nvSpPr>
        <p:spPr>
          <a:xfrm rot="0">
            <a:off x="5468099" y="1854775"/>
            <a:ext cx="6096000" cy="1706830"/>
          </a:xfrm>
          <a:prstGeom prst="rect">
            <a:avLst/>
          </a:prstGeom>
        </p:spPr>
        <p:txBody>
          <a:bodyPr anchor="t" rtlCol="false" tIns="0" lIns="0" bIns="0" rIns="0">
            <a:spAutoFit/>
          </a:bodyPr>
          <a:lstStyle/>
          <a:p>
            <a:pPr algn="ctr">
              <a:lnSpc>
                <a:spcPts val="6719"/>
              </a:lnSpc>
            </a:pPr>
            <a:r>
              <a:rPr lang="en-US" sz="4800" b="true">
                <a:solidFill>
                  <a:srgbClr val="622512"/>
                </a:solidFill>
                <a:latin typeface="M+ Bold"/>
                <a:ea typeface="M+ Bold"/>
                <a:cs typeface="M+ Bold"/>
                <a:sym typeface="M+ Bold"/>
              </a:rPr>
              <a:t>④手をグーにしたまま</a:t>
            </a:r>
          </a:p>
          <a:p>
            <a:pPr algn="ctr">
              <a:lnSpc>
                <a:spcPts val="6719"/>
              </a:lnSpc>
            </a:pPr>
            <a:r>
              <a:rPr lang="en-US" b="true" sz="4800">
                <a:solidFill>
                  <a:srgbClr val="622512"/>
                </a:solidFill>
                <a:latin typeface="M+ Bold"/>
                <a:ea typeface="M+ Bold"/>
                <a:cs typeface="M+ Bold"/>
                <a:sym typeface="M+ Bold"/>
              </a:rPr>
              <a:t>背中を上下１０回</a:t>
            </a:r>
          </a:p>
        </p:txBody>
      </p:sp>
      <p:sp>
        <p:nvSpPr>
          <p:cNvPr name="TextBox 9" id="9"/>
          <p:cNvSpPr txBox="true"/>
          <p:nvPr/>
        </p:nvSpPr>
        <p:spPr>
          <a:xfrm rot="0">
            <a:off x="12989800" y="9463761"/>
            <a:ext cx="5298200" cy="608965"/>
          </a:xfrm>
          <a:prstGeom prst="rect">
            <a:avLst/>
          </a:prstGeom>
        </p:spPr>
        <p:txBody>
          <a:bodyPr anchor="t" rtlCol="false" tIns="0" lIns="0" bIns="0" rIns="0">
            <a:spAutoFit/>
          </a:bodyPr>
          <a:lstStyle/>
          <a:p>
            <a:pPr algn="ctr">
              <a:lnSpc>
                <a:spcPts val="4759"/>
              </a:lnSpc>
            </a:pPr>
            <a:r>
              <a:rPr lang="en-US" sz="3399">
                <a:solidFill>
                  <a:srgbClr val="66461F"/>
                </a:solidFill>
                <a:latin typeface="M Plus Rounded Black"/>
                <a:ea typeface="M Plus Rounded Black"/>
                <a:cs typeface="M Plus Rounded Black"/>
                <a:sym typeface="M Plus Rounded Black"/>
              </a:rPr>
              <a:t>@海音～心体の調律～</a:t>
            </a:r>
          </a:p>
        </p:txBody>
      </p:sp>
      <p:sp>
        <p:nvSpPr>
          <p:cNvPr name="Freeform 10" id="10"/>
          <p:cNvSpPr/>
          <p:nvPr/>
        </p:nvSpPr>
        <p:spPr>
          <a:xfrm flipH="false" flipV="false" rot="0">
            <a:off x="12341578" y="4363941"/>
            <a:ext cx="3929064" cy="5189330"/>
          </a:xfrm>
          <a:custGeom>
            <a:avLst/>
            <a:gdLst/>
            <a:ahLst/>
            <a:cxnLst/>
            <a:rect r="r" b="b" t="t" l="l"/>
            <a:pathLst>
              <a:path h="5189330" w="3929064">
                <a:moveTo>
                  <a:pt x="0" y="0"/>
                </a:moveTo>
                <a:lnTo>
                  <a:pt x="3929064" y="0"/>
                </a:lnTo>
                <a:lnTo>
                  <a:pt x="3929064" y="5189330"/>
                </a:lnTo>
                <a:lnTo>
                  <a:pt x="0" y="5189330"/>
                </a:lnTo>
                <a:lnTo>
                  <a:pt x="0" y="0"/>
                </a:lnTo>
                <a:close/>
              </a:path>
            </a:pathLst>
          </a:custGeom>
          <a:blipFill>
            <a:blip r:embed="rId2"/>
            <a:stretch>
              <a:fillRect l="-100000" t="0" r="0" b="0"/>
            </a:stretch>
          </a:blipFill>
        </p:spPr>
      </p:sp>
      <p:sp>
        <p:nvSpPr>
          <p:cNvPr name="TextBox 11" id="11"/>
          <p:cNvSpPr txBox="true"/>
          <p:nvPr/>
        </p:nvSpPr>
        <p:spPr>
          <a:xfrm rot="580574">
            <a:off x="12884080" y="3406854"/>
            <a:ext cx="1466415" cy="3285502"/>
          </a:xfrm>
          <a:prstGeom prst="rect">
            <a:avLst/>
          </a:prstGeom>
        </p:spPr>
        <p:txBody>
          <a:bodyPr anchor="t" rtlCol="false" tIns="0" lIns="0" bIns="0" rIns="0">
            <a:spAutoFit/>
          </a:bodyPr>
          <a:lstStyle/>
          <a:p>
            <a:pPr algn="ctr">
              <a:lnSpc>
                <a:spcPts val="13159"/>
              </a:lnSpc>
            </a:pPr>
          </a:p>
          <a:p>
            <a:pPr algn="ctr">
              <a:lnSpc>
                <a:spcPts val="13159"/>
              </a:lnSpc>
            </a:pPr>
            <a:r>
              <a:rPr lang="en-US" sz="9399">
                <a:solidFill>
                  <a:srgbClr val="000000"/>
                </a:solidFill>
                <a:latin typeface="Ipaex Mincho"/>
                <a:ea typeface="Ipaex Mincho"/>
                <a:cs typeface="Ipaex Mincho"/>
                <a:sym typeface="Ipaex Mincho"/>
              </a:rPr>
              <a:t>↔</a:t>
            </a:r>
          </a:p>
        </p:txBody>
      </p:sp>
      <p:sp>
        <p:nvSpPr>
          <p:cNvPr name="TextBox 12" id="12"/>
          <p:cNvSpPr txBox="true"/>
          <p:nvPr/>
        </p:nvSpPr>
        <p:spPr>
          <a:xfrm rot="-934597">
            <a:off x="14182207" y="3347073"/>
            <a:ext cx="1466415" cy="3285502"/>
          </a:xfrm>
          <a:prstGeom prst="rect">
            <a:avLst/>
          </a:prstGeom>
        </p:spPr>
        <p:txBody>
          <a:bodyPr anchor="t" rtlCol="false" tIns="0" lIns="0" bIns="0" rIns="0">
            <a:spAutoFit/>
          </a:bodyPr>
          <a:lstStyle/>
          <a:p>
            <a:pPr algn="ctr">
              <a:lnSpc>
                <a:spcPts val="13159"/>
              </a:lnSpc>
            </a:pPr>
          </a:p>
          <a:p>
            <a:pPr algn="ctr">
              <a:lnSpc>
                <a:spcPts val="13159"/>
              </a:lnSpc>
            </a:pPr>
            <a:r>
              <a:rPr lang="en-US" sz="9399">
                <a:solidFill>
                  <a:srgbClr val="000000"/>
                </a:solidFill>
                <a:latin typeface="Ipaex Mincho"/>
                <a:ea typeface="Ipaex Mincho"/>
                <a:cs typeface="Ipaex Mincho"/>
                <a:sym typeface="Ipaex Mincho"/>
              </a:rPr>
              <a:t>↔</a:t>
            </a:r>
          </a:p>
        </p:txBody>
      </p:sp>
    </p:spTree>
  </p:cSld>
  <p:clrMapOvr>
    <a:masterClrMapping/>
  </p:clrMapOvr>
</p:sld>
</file>

<file path=ppt/slides/slide21.xml><?xml version="1.0" encoding="utf-8"?>
<p:sld xmlns:p="http://schemas.openxmlformats.org/presentationml/2006/main" xmlns:a="http://schemas.openxmlformats.org/drawingml/2006/main">
  <p:cSld>
    <p:bg>
      <p:bgPr>
        <a:solidFill>
          <a:srgbClr val="F8F2ED"/>
        </a:solidFill>
      </p:bgPr>
    </p:bg>
    <p:spTree>
      <p:nvGrpSpPr>
        <p:cNvPr id="1" name=""/>
        <p:cNvGrpSpPr/>
        <p:nvPr/>
      </p:nvGrpSpPr>
      <p:grpSpPr>
        <a:xfrm>
          <a:off x="0" y="0"/>
          <a:ext cx="0" cy="0"/>
          <a:chOff x="0" y="0"/>
          <a:chExt cx="0" cy="0"/>
        </a:xfrm>
      </p:grpSpPr>
      <p:sp>
        <p:nvSpPr>
          <p:cNvPr name="TextBox 2" id="2"/>
          <p:cNvSpPr txBox="true"/>
          <p:nvPr/>
        </p:nvSpPr>
        <p:spPr>
          <a:xfrm rot="0">
            <a:off x="193267" y="648896"/>
            <a:ext cx="17901466" cy="10050145"/>
          </a:xfrm>
          <a:prstGeom prst="rect">
            <a:avLst/>
          </a:prstGeom>
        </p:spPr>
        <p:txBody>
          <a:bodyPr anchor="t" rtlCol="false" tIns="0" lIns="0" bIns="0" rIns="0">
            <a:spAutoFit/>
          </a:bodyPr>
          <a:lstStyle/>
          <a:p>
            <a:pPr algn="l">
              <a:lnSpc>
                <a:spcPts val="7279"/>
              </a:lnSpc>
            </a:pPr>
            <a:r>
              <a:rPr lang="en-US" sz="5199">
                <a:solidFill>
                  <a:srgbClr val="622512"/>
                </a:solidFill>
                <a:latin typeface="M Plus Rounded Black"/>
                <a:ea typeface="M Plus Rounded Black"/>
                <a:cs typeface="M Plus Rounded Black"/>
                <a:sym typeface="M Plus Rounded Black"/>
              </a:rPr>
              <a:t>　　　　＜がんばりすぎず、ゆるめる体に＞</a:t>
            </a:r>
          </a:p>
          <a:p>
            <a:pPr algn="l">
              <a:lnSpc>
                <a:spcPts val="7279"/>
              </a:lnSpc>
            </a:pPr>
            <a:r>
              <a:t/>
            </a:r>
          </a:p>
          <a:p>
            <a:pPr algn="l">
              <a:lnSpc>
                <a:spcPts val="5600"/>
              </a:lnSpc>
            </a:pPr>
            <a:r>
              <a:rPr lang="en-US" sz="4000">
                <a:solidFill>
                  <a:srgbClr val="622512"/>
                </a:solidFill>
                <a:latin typeface="M Plus Rounded Black"/>
                <a:ea typeface="M Plus Rounded Black"/>
                <a:cs typeface="M Plus Rounded Black"/>
                <a:sym typeface="M Plus Rounded Black"/>
              </a:rPr>
              <a:t>１．あくびをたくさんしましょう（口を10秒あける）</a:t>
            </a:r>
          </a:p>
          <a:p>
            <a:pPr algn="l">
              <a:lnSpc>
                <a:spcPts val="5600"/>
              </a:lnSpc>
            </a:pPr>
            <a:r>
              <a:rPr lang="en-US" sz="4000">
                <a:solidFill>
                  <a:srgbClr val="622512"/>
                </a:solidFill>
                <a:latin typeface="M Plus Rounded Black"/>
                <a:ea typeface="M Plus Rounded Black"/>
                <a:cs typeface="M Plus Rounded Black"/>
                <a:sym typeface="M Plus Rounded Black"/>
              </a:rPr>
              <a:t>２．寝る前に、体をひねる・息を吐きながら力を抜く体操をする</a:t>
            </a:r>
          </a:p>
          <a:p>
            <a:pPr algn="l">
              <a:lnSpc>
                <a:spcPts val="5600"/>
              </a:lnSpc>
            </a:pPr>
            <a:r>
              <a:rPr lang="en-US" sz="4000">
                <a:solidFill>
                  <a:srgbClr val="622512"/>
                </a:solidFill>
                <a:latin typeface="M Plus Rounded Black"/>
                <a:ea typeface="M Plus Rounded Black"/>
                <a:cs typeface="M Plus Rounded Black"/>
                <a:sym typeface="M Plus Rounded Black"/>
              </a:rPr>
              <a:t>３．寝る時間・寝る前のお薬の時間を、なるべく毎日同じにする</a:t>
            </a:r>
          </a:p>
          <a:p>
            <a:pPr algn="l">
              <a:lnSpc>
                <a:spcPts val="5600"/>
              </a:lnSpc>
            </a:pPr>
            <a:r>
              <a:rPr lang="en-US" sz="4000">
                <a:solidFill>
                  <a:srgbClr val="622512"/>
                </a:solidFill>
                <a:latin typeface="M Plus Rounded Black"/>
                <a:ea typeface="M Plus Rounded Black"/>
                <a:cs typeface="M Plus Rounded Black"/>
                <a:sym typeface="M Plus Rounded Black"/>
              </a:rPr>
              <a:t>４．朝起きたら口をすすぐ（口の中の雑菌を腸にいれない）</a:t>
            </a:r>
          </a:p>
          <a:p>
            <a:pPr algn="l">
              <a:lnSpc>
                <a:spcPts val="5600"/>
              </a:lnSpc>
            </a:pPr>
            <a:r>
              <a:rPr lang="en-US" sz="4000">
                <a:solidFill>
                  <a:srgbClr val="622512"/>
                </a:solidFill>
                <a:latin typeface="M Plus Rounded Black"/>
                <a:ea typeface="M Plus Rounded Black"/>
                <a:cs typeface="M Plus Rounded Black"/>
                <a:sym typeface="M Plus Rounded Black"/>
              </a:rPr>
              <a:t>５．朝起きたら、腸のマッサージを１分</a:t>
            </a:r>
          </a:p>
          <a:p>
            <a:pPr algn="l">
              <a:lnSpc>
                <a:spcPts val="5600"/>
              </a:lnSpc>
            </a:pPr>
            <a:r>
              <a:rPr lang="en-US" sz="4000">
                <a:solidFill>
                  <a:srgbClr val="622512"/>
                </a:solidFill>
                <a:latin typeface="M Plus Rounded Black"/>
                <a:ea typeface="M Plus Rounded Black"/>
                <a:cs typeface="M Plus Rounded Black"/>
                <a:sym typeface="M Plus Rounded Black"/>
              </a:rPr>
              <a:t>６．食事は抜かない。まずはタンパク質をひと口から</a:t>
            </a:r>
          </a:p>
          <a:p>
            <a:pPr algn="l">
              <a:lnSpc>
                <a:spcPts val="7279"/>
              </a:lnSpc>
            </a:pPr>
            <a:r>
              <a:t/>
            </a:r>
          </a:p>
          <a:p>
            <a:pPr algn="l">
              <a:lnSpc>
                <a:spcPts val="5600"/>
              </a:lnSpc>
            </a:pPr>
            <a:r>
              <a:rPr lang="en-US" sz="4000">
                <a:solidFill>
                  <a:srgbClr val="622512"/>
                </a:solidFill>
                <a:latin typeface="M Plus Rounded Black"/>
                <a:ea typeface="M Plus Rounded Black"/>
                <a:cs typeface="M Plus Rounded Black"/>
                <a:sym typeface="M Plus Rounded Black"/>
              </a:rPr>
              <a:t>※全部でなくて大丈夫。できそうなものを１つだけ選んでください</a:t>
            </a:r>
          </a:p>
        </p:txBody>
      </p:sp>
      <p:sp>
        <p:nvSpPr>
          <p:cNvPr name="TextBox 3" id="3"/>
          <p:cNvSpPr txBox="true"/>
          <p:nvPr/>
        </p:nvSpPr>
        <p:spPr>
          <a:xfrm rot="0">
            <a:off x="2729175" y="-142875"/>
            <a:ext cx="10535171" cy="934720"/>
          </a:xfrm>
          <a:prstGeom prst="rect">
            <a:avLst/>
          </a:prstGeom>
        </p:spPr>
        <p:txBody>
          <a:bodyPr anchor="t" rtlCol="false" tIns="0" lIns="0" bIns="0" rIns="0">
            <a:spAutoFit/>
          </a:bodyPr>
          <a:lstStyle/>
          <a:p>
            <a:pPr algn="ctr">
              <a:lnSpc>
                <a:spcPts val="7279"/>
              </a:lnSpc>
            </a:pPr>
            <a:r>
              <a:rPr lang="en-US" sz="5199">
                <a:solidFill>
                  <a:srgbClr val="622512"/>
                </a:solidFill>
                <a:latin typeface="M Plus Rounded Black"/>
                <a:ea typeface="M Plus Rounded Black"/>
                <a:cs typeface="M Plus Rounded Black"/>
                <a:sym typeface="M Plus Rounded Black"/>
              </a:rPr>
              <a:t>奥田 尊子さんへのオススメ</a:t>
            </a:r>
          </a:p>
        </p:txBody>
      </p:sp>
      <p:sp>
        <p:nvSpPr>
          <p:cNvPr name="TextBox 4" id="4"/>
          <p:cNvSpPr txBox="true"/>
          <p:nvPr/>
        </p:nvSpPr>
        <p:spPr>
          <a:xfrm rot="0">
            <a:off x="12989800" y="9463761"/>
            <a:ext cx="5298200" cy="608965"/>
          </a:xfrm>
          <a:prstGeom prst="rect">
            <a:avLst/>
          </a:prstGeom>
        </p:spPr>
        <p:txBody>
          <a:bodyPr anchor="t" rtlCol="false" tIns="0" lIns="0" bIns="0" rIns="0">
            <a:spAutoFit/>
          </a:bodyPr>
          <a:lstStyle/>
          <a:p>
            <a:pPr algn="ctr">
              <a:lnSpc>
                <a:spcPts val="4759"/>
              </a:lnSpc>
            </a:pPr>
            <a:r>
              <a:rPr lang="en-US" sz="3399">
                <a:solidFill>
                  <a:srgbClr val="66461F"/>
                </a:solidFill>
                <a:latin typeface="M Plus Rounded Black"/>
                <a:ea typeface="M Plus Rounded Black"/>
                <a:cs typeface="M Plus Rounded Black"/>
                <a:sym typeface="M Plus Rounded Black"/>
              </a:rPr>
              <a:t>@海音～心体の調律～</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8F2ED"/>
        </a:solidFill>
      </p:bgPr>
    </p:bg>
    <p:spTree>
      <p:nvGrpSpPr>
        <p:cNvPr id="1" name=""/>
        <p:cNvGrpSpPr/>
        <p:nvPr/>
      </p:nvGrpSpPr>
      <p:grpSpPr>
        <a:xfrm>
          <a:off x="0" y="0"/>
          <a:ext cx="0" cy="0"/>
          <a:chOff x="0" y="0"/>
          <a:chExt cx="0" cy="0"/>
        </a:xfrm>
      </p:grpSpPr>
      <p:sp>
        <p:nvSpPr>
          <p:cNvPr name="Freeform 2" id="2"/>
          <p:cNvSpPr/>
          <p:nvPr/>
        </p:nvSpPr>
        <p:spPr>
          <a:xfrm flipH="false" flipV="false" rot="0">
            <a:off x="615026" y="791845"/>
            <a:ext cx="5156986" cy="7388703"/>
          </a:xfrm>
          <a:custGeom>
            <a:avLst/>
            <a:gdLst/>
            <a:ahLst/>
            <a:cxnLst/>
            <a:rect r="r" b="b" t="t" l="l"/>
            <a:pathLst>
              <a:path h="7388703" w="5156986">
                <a:moveTo>
                  <a:pt x="0" y="0"/>
                </a:moveTo>
                <a:lnTo>
                  <a:pt x="5156986" y="0"/>
                </a:lnTo>
                <a:lnTo>
                  <a:pt x="5156986" y="7388703"/>
                </a:lnTo>
                <a:lnTo>
                  <a:pt x="0" y="7388703"/>
                </a:lnTo>
                <a:lnTo>
                  <a:pt x="0" y="0"/>
                </a:lnTo>
                <a:close/>
              </a:path>
            </a:pathLst>
          </a:custGeom>
          <a:blipFill>
            <a:blip r:embed="rId2"/>
            <a:stretch>
              <a:fillRect l="-44108" t="-36382" r="-233571" b="-11894"/>
            </a:stretch>
          </a:blipFill>
        </p:spPr>
      </p:sp>
      <p:sp>
        <p:nvSpPr>
          <p:cNvPr name="Freeform 3" id="3"/>
          <p:cNvSpPr/>
          <p:nvPr/>
        </p:nvSpPr>
        <p:spPr>
          <a:xfrm flipH="false" flipV="false" rot="0">
            <a:off x="6057762" y="791845"/>
            <a:ext cx="10534519" cy="7388703"/>
          </a:xfrm>
          <a:custGeom>
            <a:avLst/>
            <a:gdLst/>
            <a:ahLst/>
            <a:cxnLst/>
            <a:rect r="r" b="b" t="t" l="l"/>
            <a:pathLst>
              <a:path h="7388703" w="10534519">
                <a:moveTo>
                  <a:pt x="0" y="0"/>
                </a:moveTo>
                <a:lnTo>
                  <a:pt x="10534519" y="0"/>
                </a:lnTo>
                <a:lnTo>
                  <a:pt x="10534519" y="7388703"/>
                </a:lnTo>
                <a:lnTo>
                  <a:pt x="0" y="7388703"/>
                </a:lnTo>
                <a:lnTo>
                  <a:pt x="0" y="0"/>
                </a:lnTo>
                <a:close/>
              </a:path>
            </a:pathLst>
          </a:custGeom>
          <a:blipFill>
            <a:blip r:embed="rId3"/>
            <a:stretch>
              <a:fillRect l="0" t="0" r="0" b="0"/>
            </a:stretch>
          </a:blipFill>
        </p:spPr>
      </p:sp>
      <p:sp>
        <p:nvSpPr>
          <p:cNvPr name="TextBox 4" id="4"/>
          <p:cNvSpPr txBox="true"/>
          <p:nvPr/>
        </p:nvSpPr>
        <p:spPr>
          <a:xfrm rot="0">
            <a:off x="2729175" y="-142875"/>
            <a:ext cx="10535171" cy="934646"/>
          </a:xfrm>
          <a:prstGeom prst="rect">
            <a:avLst/>
          </a:prstGeom>
        </p:spPr>
        <p:txBody>
          <a:bodyPr anchor="t" rtlCol="false" tIns="0" lIns="0" bIns="0" rIns="0">
            <a:spAutoFit/>
          </a:bodyPr>
          <a:lstStyle/>
          <a:p>
            <a:pPr algn="ctr">
              <a:lnSpc>
                <a:spcPts val="7279"/>
              </a:lnSpc>
            </a:pPr>
            <a:r>
              <a:rPr lang="en-US" sz="5199">
                <a:solidFill>
                  <a:srgbClr val="622512"/>
                </a:solidFill>
                <a:latin typeface="M Plus Rounded Black"/>
                <a:ea typeface="M Plus Rounded Black"/>
                <a:cs typeface="M Plus Rounded Black"/>
                <a:sym typeface="M Plus Rounded Black"/>
              </a:rPr>
              <a:t>４ー①栄養素の考え方</a:t>
            </a:r>
          </a:p>
        </p:txBody>
      </p:sp>
      <p:sp>
        <p:nvSpPr>
          <p:cNvPr name="TextBox 5" id="5"/>
          <p:cNvSpPr txBox="true"/>
          <p:nvPr/>
        </p:nvSpPr>
        <p:spPr>
          <a:xfrm rot="0">
            <a:off x="12989800" y="9463761"/>
            <a:ext cx="5298200" cy="608965"/>
          </a:xfrm>
          <a:prstGeom prst="rect">
            <a:avLst/>
          </a:prstGeom>
        </p:spPr>
        <p:txBody>
          <a:bodyPr anchor="t" rtlCol="false" tIns="0" lIns="0" bIns="0" rIns="0">
            <a:spAutoFit/>
          </a:bodyPr>
          <a:lstStyle/>
          <a:p>
            <a:pPr algn="ctr">
              <a:lnSpc>
                <a:spcPts val="4759"/>
              </a:lnSpc>
            </a:pPr>
            <a:r>
              <a:rPr lang="en-US" sz="3399">
                <a:solidFill>
                  <a:srgbClr val="66461F"/>
                </a:solidFill>
                <a:latin typeface="M Plus Rounded Black"/>
                <a:ea typeface="M Plus Rounded Black"/>
                <a:cs typeface="M Plus Rounded Black"/>
                <a:sym typeface="M Plus Rounded Black"/>
              </a:rPr>
              <a:t>@海音～心体の調律～</a:t>
            </a:r>
          </a:p>
        </p:txBody>
      </p:sp>
      <p:sp>
        <p:nvSpPr>
          <p:cNvPr name="TextBox 6" id="6"/>
          <p:cNvSpPr txBox="true"/>
          <p:nvPr/>
        </p:nvSpPr>
        <p:spPr>
          <a:xfrm rot="0">
            <a:off x="1028700" y="7720051"/>
            <a:ext cx="16035207" cy="2352551"/>
          </a:xfrm>
          <a:prstGeom prst="rect">
            <a:avLst/>
          </a:prstGeom>
        </p:spPr>
        <p:txBody>
          <a:bodyPr anchor="t" rtlCol="false" tIns="0" lIns="0" bIns="0" rIns="0">
            <a:spAutoFit/>
          </a:bodyPr>
          <a:lstStyle/>
          <a:p>
            <a:pPr algn="ctr">
              <a:lnSpc>
                <a:spcPts val="6719"/>
              </a:lnSpc>
            </a:pPr>
            <a:r>
              <a:rPr lang="en-US" sz="4800" b="true">
                <a:solidFill>
                  <a:srgbClr val="BB5051"/>
                </a:solidFill>
                <a:latin typeface="M+ Bold"/>
                <a:ea typeface="M+ Bold"/>
                <a:cs typeface="M+ Bold"/>
                <a:sym typeface="M+ Bold"/>
              </a:rPr>
              <a:t>要注意！！</a:t>
            </a:r>
          </a:p>
          <a:p>
            <a:pPr algn="ctr">
              <a:lnSpc>
                <a:spcPts val="5880"/>
              </a:lnSpc>
            </a:pPr>
            <a:r>
              <a:rPr lang="en-US" sz="4200" b="true">
                <a:solidFill>
                  <a:srgbClr val="66461F"/>
                </a:solidFill>
                <a:latin typeface="M+ Bold"/>
                <a:ea typeface="M+ Bold"/>
                <a:cs typeface="M+ Bold"/>
                <a:sym typeface="M+ Bold"/>
              </a:rPr>
              <a:t>サプリは容易に必要なもの補充可能。</a:t>
            </a:r>
            <a:r>
              <a:rPr lang="en-US" sz="4200" b="true">
                <a:solidFill>
                  <a:srgbClr val="BB5051"/>
                </a:solidFill>
                <a:latin typeface="M+ Bold"/>
                <a:ea typeface="M+ Bold"/>
                <a:cs typeface="M+ Bold"/>
                <a:sym typeface="M+ Bold"/>
              </a:rPr>
              <a:t>不要になったときに排泄困難な栄養素も含まれている！！</a:t>
            </a:r>
          </a:p>
        </p:txBody>
      </p:sp>
      <p:sp>
        <p:nvSpPr>
          <p:cNvPr name="TextBox 7" id="7"/>
          <p:cNvSpPr txBox="true"/>
          <p:nvPr/>
        </p:nvSpPr>
        <p:spPr>
          <a:xfrm rot="0">
            <a:off x="15068281" y="1623060"/>
            <a:ext cx="3048000" cy="1609725"/>
          </a:xfrm>
          <a:prstGeom prst="rect">
            <a:avLst/>
          </a:prstGeom>
        </p:spPr>
        <p:txBody>
          <a:bodyPr anchor="t" rtlCol="false" tIns="0" lIns="0" bIns="0" rIns="0">
            <a:spAutoFit/>
          </a:bodyPr>
          <a:lstStyle/>
          <a:p>
            <a:pPr algn="ctr">
              <a:lnSpc>
                <a:spcPts val="4200"/>
              </a:lnSpc>
            </a:pPr>
            <a:r>
              <a:rPr lang="en-US" sz="3000" b="true">
                <a:solidFill>
                  <a:srgbClr val="66461F"/>
                </a:solidFill>
                <a:latin typeface="M Plus Rounded Black Bold"/>
                <a:ea typeface="M Plus Rounded Black Bold"/>
                <a:cs typeface="M Plus Rounded Black Bold"/>
                <a:sym typeface="M Plus Rounded Black Bold"/>
              </a:rPr>
              <a:t>体は</a:t>
            </a:r>
          </a:p>
          <a:p>
            <a:pPr algn="ctr">
              <a:lnSpc>
                <a:spcPts val="4200"/>
              </a:lnSpc>
            </a:pPr>
            <a:r>
              <a:rPr lang="en-US" sz="3000" b="true">
                <a:solidFill>
                  <a:srgbClr val="66461F"/>
                </a:solidFill>
                <a:latin typeface="M Plus Rounded Black Bold"/>
                <a:ea typeface="M Plus Rounded Black Bold"/>
                <a:cs typeface="M Plus Rounded Black Bold"/>
                <a:sym typeface="M Plus Rounded Black Bold"/>
              </a:rPr>
              <a:t>一番低い栄養素に</a:t>
            </a:r>
          </a:p>
          <a:p>
            <a:pPr algn="ctr">
              <a:lnSpc>
                <a:spcPts val="4200"/>
              </a:lnSpc>
            </a:pPr>
            <a:r>
              <a:rPr lang="en-US" sz="3000" b="true">
                <a:solidFill>
                  <a:srgbClr val="66461F"/>
                </a:solidFill>
                <a:latin typeface="M Plus Rounded Black Bold"/>
                <a:ea typeface="M Plus Rounded Black Bold"/>
                <a:cs typeface="M Plus Rounded Black Bold"/>
                <a:sym typeface="M Plus Rounded Black Bold"/>
              </a:rPr>
              <a:t>合わせて機能する</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8F2ED"/>
        </a:solidFill>
      </p:bgPr>
    </p:bg>
    <p:spTree>
      <p:nvGrpSpPr>
        <p:cNvPr id="1" name=""/>
        <p:cNvGrpSpPr/>
        <p:nvPr/>
      </p:nvGrpSpPr>
      <p:grpSpPr>
        <a:xfrm>
          <a:off x="0" y="0"/>
          <a:ext cx="0" cy="0"/>
          <a:chOff x="0" y="0"/>
          <a:chExt cx="0" cy="0"/>
        </a:xfrm>
      </p:grpSpPr>
      <p:sp>
        <p:nvSpPr>
          <p:cNvPr name="TextBox 5" id="5"/>
          <p:cNvSpPr txBox="true"/>
          <p:nvPr/>
        </p:nvSpPr>
        <p:spPr>
          <a:xfrm rot="0">
            <a:off x="1798306" y="94054"/>
            <a:ext cx="14363545" cy="934770"/>
          </a:xfrm>
          <a:prstGeom prst="rect">
            <a:avLst/>
          </a:prstGeom>
        </p:spPr>
        <p:txBody>
          <a:bodyPr anchor="t" rtlCol="false" tIns="0" lIns="0" bIns="0" rIns="0">
            <a:spAutoFit/>
          </a:bodyPr>
          <a:lstStyle/>
          <a:p>
            <a:pPr algn="ctr">
              <a:lnSpc>
                <a:spcPts val="7279"/>
              </a:lnSpc>
            </a:pPr>
            <a:r>
              <a:rPr lang="en-US" b="true" sz="5199">
                <a:solidFill>
                  <a:srgbClr val="622512"/>
                </a:solidFill>
                <a:latin typeface="M+ Bold"/>
                <a:ea typeface="M+ Bold"/>
                <a:cs typeface="M+ Bold"/>
                <a:sym typeface="M+ Bold"/>
              </a:rPr>
              <a:t>４－②奥田さんにおすすめの栄養素と食材</a:t>
            </a:r>
          </a:p>
        </p:txBody>
      </p:sp>
      <p:sp>
        <p:nvSpPr>
          <p:cNvPr name="TextBox 6" id="6"/>
          <p:cNvSpPr txBox="true"/>
          <p:nvPr/>
        </p:nvSpPr>
        <p:spPr>
          <a:xfrm rot="0">
            <a:off x="12989800" y="9463761"/>
            <a:ext cx="5298200" cy="608965"/>
          </a:xfrm>
          <a:prstGeom prst="rect">
            <a:avLst/>
          </a:prstGeom>
        </p:spPr>
        <p:txBody>
          <a:bodyPr anchor="t" rtlCol="false" tIns="0" lIns="0" bIns="0" rIns="0">
            <a:spAutoFit/>
          </a:bodyPr>
          <a:lstStyle/>
          <a:p>
            <a:pPr algn="ctr">
              <a:lnSpc>
                <a:spcPts val="4759"/>
              </a:lnSpc>
            </a:pPr>
            <a:r>
              <a:rPr lang="en-US" sz="3399">
                <a:solidFill>
                  <a:srgbClr val="66461F"/>
                </a:solidFill>
                <a:latin typeface="M Plus Rounded Black"/>
                <a:ea typeface="M Plus Rounded Black"/>
                <a:cs typeface="M Plus Rounded Black"/>
                <a:sym typeface="M Plus Rounded Black"/>
              </a:rPr>
              <a:t>@海音～心体の調律～</a:t>
            </a:r>
          </a:p>
        </p:txBody>
      </p:sp>
      <p:sp>
        <p:nvSpPr>
          <p:cNvPr name="TextBox 7" id="7"/>
          <p:cNvSpPr txBox="true"/>
          <p:nvPr/>
        </p:nvSpPr>
        <p:spPr>
          <a:xfrm rot="0">
            <a:off x="1798306" y="1500000"/>
            <a:ext cx="15500000" cy="7600000"/>
          </a:xfrm>
          <a:prstGeom prst="rect">
            <a:avLst/>
          </a:prstGeom>
        </p:spPr>
        <p:txBody>
          <a:bodyPr anchor="t" rtlCol="false" tIns="0" lIns="0" bIns="0" rIns="0" wrap="square">
            <a:spAutoFit/>
          </a:bodyPr>
          <a:lstStyle/>
          <a:p>
            <a:pPr algn="l">
              <a:lnSpc>
                <a:spcPts val="5879"/>
              </a:lnSpc>
              <a:spcBef>
                <a:spcPct val="0"/>
              </a:spcBef>
            </a:pPr>
            <a:r>
              <a:rPr lang="en-US" b="true" sz="3600">
                <a:solidFill>
                  <a:srgbClr val="622512"/>
                </a:solidFill>
                <a:latin typeface="M+ Bold"/>
                <a:ea typeface="M+ Bold"/>
                <a:cs typeface="M+ Bold"/>
                <a:sym typeface="M+ Bold"/>
              </a:rPr>
              <a:t>◎ タンパク質：卵・鶏肉・魚・豆腐・納豆</a:t>
            </a:r>
          </a:p>
          <a:p>
            <a:pPr algn="l">
              <a:lnSpc>
                <a:spcPts val="5879"/>
              </a:lnSpc>
              <a:spcBef>
                <a:spcPct val="0"/>
              </a:spcBef>
            </a:pPr>
            <a:r>
              <a:rPr lang="en-US" b="true" sz="3600">
                <a:solidFill>
                  <a:srgbClr val="622512"/>
                </a:solidFill>
                <a:latin typeface="M+ Bold"/>
                <a:ea typeface="M+ Bold"/>
                <a:cs typeface="M+ Bold"/>
                <a:sym typeface="M+ Bold"/>
              </a:rPr>
              <a:t>◎ 鉄：赤身肉・かつお・あさり（ビタミンCと一緒に）</a:t>
            </a:r>
          </a:p>
          <a:p>
            <a:pPr algn="l">
              <a:lnSpc>
                <a:spcPts val="5879"/>
              </a:lnSpc>
              <a:spcBef>
                <a:spcPct val="0"/>
              </a:spcBef>
            </a:pPr>
            <a:r>
              <a:rPr lang="en-US" b="true" sz="3600">
                <a:solidFill>
                  <a:srgbClr val="622512"/>
                </a:solidFill>
                <a:latin typeface="M+ Bold"/>
                <a:ea typeface="M+ Bold"/>
                <a:cs typeface="M+ Bold"/>
                <a:sym typeface="M+ Bold"/>
              </a:rPr>
              <a:t>◎ マグネシウム：海藻・木綿豆腐・ナッツ・玄米</a:t>
            </a:r>
          </a:p>
          <a:p>
            <a:pPr algn="l">
              <a:lnSpc>
                <a:spcPts val="5879"/>
              </a:lnSpc>
              <a:spcBef>
                <a:spcPct val="0"/>
              </a:spcBef>
            </a:pPr>
            <a:r>
              <a:rPr lang="en-US" b="true" sz="3600">
                <a:solidFill>
                  <a:srgbClr val="622512"/>
                </a:solidFill>
                <a:latin typeface="M+ Bold"/>
                <a:ea typeface="M+ Bold"/>
                <a:cs typeface="M+ Bold"/>
                <a:sym typeface="M+ Bold"/>
              </a:rPr>
              <a:t>○ ビタミンB群：豚肉・卵・納豆・魚</a:t>
            </a:r>
          </a:p>
          <a:p>
            <a:pPr algn="l">
              <a:lnSpc>
                <a:spcPts val="5879"/>
              </a:lnSpc>
              <a:spcBef>
                <a:spcPct val="0"/>
              </a:spcBef>
            </a:pPr>
            <a:r>
              <a:rPr lang="en-US" b="true" sz="3600">
                <a:solidFill>
                  <a:srgbClr val="622512"/>
                </a:solidFill>
                <a:latin typeface="M+ Bold"/>
                <a:ea typeface="M+ Bold"/>
                <a:cs typeface="M+ Bold"/>
                <a:sym typeface="M+ Bold"/>
              </a:rPr>
              <a:t>○ 亜鉛：牡蠣・牛赤身・卵</a:t>
            </a:r>
          </a:p>
          <a:p>
            <a:pPr algn="l">
              <a:lnSpc>
                <a:spcPts val="5879"/>
              </a:lnSpc>
              <a:spcBef>
                <a:spcPct val="0"/>
              </a:spcBef>
            </a:pPr>
            <a:r>
              <a:rPr lang="en-US" b="true" sz="3600">
                <a:solidFill>
                  <a:srgbClr val="622512"/>
                </a:solidFill>
                <a:latin typeface="M+ Bold"/>
                <a:ea typeface="M+ Bold"/>
                <a:cs typeface="M+ Bold"/>
                <a:sym typeface="M+ Bold"/>
              </a:rPr>
              <a:t>○ オメガ3：鮭・さば・いわし</a:t>
            </a:r>
          </a:p>
          <a:p>
            <a:pPr algn="l">
              <a:lnSpc>
                <a:spcPts val="5879"/>
              </a:lnSpc>
              <a:spcBef>
                <a:spcPct val="0"/>
              </a:spcBef>
            </a:pPr>
            <a:r>
              <a:rPr lang="en-US" b="true" sz="3600">
                <a:solidFill>
                  <a:srgbClr val="622512"/>
                </a:solidFill>
                <a:latin typeface="M+ Bold"/>
                <a:ea typeface="M+ Bold"/>
                <a:cs typeface="M+ Bold"/>
                <a:sym typeface="M+ Bold"/>
              </a:rPr>
              <a:t>○ ビタミンD：日光浴15～30分・鮭・干ししいたけ</a:t>
            </a:r>
          </a:p>
          <a:p>
            <a:pPr algn="l">
              <a:lnSpc>
                <a:spcPts val="5879"/>
              </a:lnSpc>
              <a:spcBef>
                <a:spcPct val="0"/>
              </a:spcBef>
            </a:pPr>
            <a:r>
              <a:rPr lang="en-US" b="true" sz="3600">
                <a:solidFill>
                  <a:srgbClr val="622512"/>
                </a:solidFill>
                <a:latin typeface="M+ Bold"/>
                <a:ea typeface="M+ Bold"/>
                <a:cs typeface="M+ Bold"/>
                <a:sym typeface="M+ Bold"/>
              </a:rPr>
              <a:t/>
            </a:r>
          </a:p>
          <a:p>
            <a:pPr algn="l">
              <a:lnSpc>
                <a:spcPts val="5879"/>
              </a:lnSpc>
              <a:spcBef>
                <a:spcPct val="0"/>
              </a:spcBef>
            </a:pPr>
            <a:r>
              <a:rPr lang="en-US" b="true" sz="3600">
                <a:solidFill>
                  <a:srgbClr val="622512"/>
                </a:solidFill>
                <a:latin typeface="M+ Bold"/>
                <a:ea typeface="M+ Bold"/>
                <a:cs typeface="M+ Bold"/>
                <a:sym typeface="M+ Bold"/>
              </a:rPr>
              <a:t>体重やカロリーは気にしなくて大丈夫。</a:t>
            </a:r>
          </a:p>
          <a:p>
            <a:pPr algn="l">
              <a:lnSpc>
                <a:spcPts val="5879"/>
              </a:lnSpc>
              <a:spcBef>
                <a:spcPct val="0"/>
              </a:spcBef>
            </a:pPr>
            <a:r>
              <a:rPr lang="en-US" b="true" sz="3600">
                <a:solidFill>
                  <a:srgbClr val="622512"/>
                </a:solidFill>
                <a:latin typeface="M+ Bold"/>
                <a:ea typeface="M+ Bold"/>
                <a:cs typeface="M+ Bold"/>
                <a:sym typeface="M+ Bold"/>
              </a:rPr>
              <a:t>「足りないものを足す」ことから始めましょう。</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8F2ED"/>
        </a:solidFill>
      </p:bgPr>
    </p:bg>
    <p:spTree>
      <p:nvGrpSpPr>
        <p:cNvPr id="1" name=""/>
        <p:cNvGrpSpPr/>
        <p:nvPr/>
      </p:nvGrpSpPr>
      <p:grpSpPr/>
      <p:sp>
        <p:nvSpPr>
          <p:cNvPr name="TextBox 2" id="2"/>
          <p:cNvSpPr txBox="true"/>
          <p:nvPr/>
        </p:nvSpPr>
        <p:spPr>
          <a:xfrm rot="0">
            <a:off x="0" y="-123825"/>
            <a:ext cx="18288000" cy="10676669"/>
          </a:xfrm>
          <a:prstGeom prst="rect">
            <a:avLst/>
          </a:prstGeom>
        </p:spPr>
        <p:txBody>
          <a:bodyPr anchor="t" rtlCol="false" tIns="0" lIns="0" bIns="0" rIns="0">
            <a:spAutoFit/>
          </a:bodyPr>
          <a:lstStyle/>
          <a:p>
            <a:pPr algn="just">
              <a:lnSpc>
                <a:spcPts val="6347"/>
              </a:lnSpc>
            </a:pPr>
            <a:r>
              <a:t/>
            </a:r>
          </a:p>
          <a:p>
            <a:pPr algn="just">
              <a:lnSpc>
                <a:spcPts val="6347"/>
              </a:lnSpc>
            </a:pPr>
            <a:r>
              <a:rPr lang="en-US" sz="4533">
                <a:solidFill>
                  <a:srgbClr val="622512"/>
                </a:solidFill>
                <a:latin typeface="M Plus Rounded Black"/>
                <a:ea typeface="M Plus Rounded Black"/>
                <a:cs typeface="M Plus Rounded Black"/>
                <a:sym typeface="M Plus Rounded Black"/>
              </a:rPr>
              <a:t>　　　　　　　　　　　　　　お薬と食べ物で気をつけること</a:t>
            </a:r>
          </a:p>
          <a:p>
            <a:pPr algn="just">
              <a:lnSpc>
                <a:spcPts val="6347"/>
              </a:lnSpc>
            </a:pPr>
            <a:r>
              <a:t/>
            </a:r>
          </a:p>
          <a:p>
            <a:pPr algn="just">
              <a:lnSpc>
                <a:spcPts val="4200"/>
              </a:lnSpc>
            </a:pPr>
            <a:r>
              <a:rPr lang="en-US" sz="3000">
                <a:solidFill>
                  <a:srgbClr val="622512"/>
                </a:solidFill>
                <a:latin typeface="M Plus Rounded Black"/>
                <a:ea typeface="M Plus Rounded Black"/>
                <a:cs typeface="M Plus Rounded Black"/>
                <a:sym typeface="M Plus Rounded Black"/>
              </a:rPr>
              <a:t>　　　　　　　　１．サプリメントは、必ず主治医・薬剤師に確認してから始めてください。</a:t>
            </a:r>
          </a:p>
          <a:p>
            <a:pPr algn="just">
              <a:lnSpc>
                <a:spcPts val="4200"/>
              </a:lnSpc>
            </a:pPr>
            <a:r>
              <a:rPr lang="en-US" sz="3000">
                <a:solidFill>
                  <a:srgbClr val="622512"/>
                </a:solidFill>
                <a:latin typeface="M Plus Rounded Black"/>
                <a:ea typeface="M Plus Rounded Black"/>
                <a:cs typeface="M Plus Rounded Black"/>
                <a:sym typeface="M Plus Rounded Black"/>
              </a:rPr>
              <a:t>　　　　　　　　　　特に「5-HTP」「トリプトファン」「セントジョーンズワート」は</a:t>
            </a:r>
          </a:p>
          <a:p>
            <a:pPr algn="just">
              <a:lnSpc>
                <a:spcPts val="4200"/>
              </a:lnSpc>
            </a:pPr>
            <a:r>
              <a:rPr lang="en-US" sz="3000">
                <a:solidFill>
                  <a:srgbClr val="622512"/>
                </a:solidFill>
                <a:latin typeface="M Plus Rounded Black"/>
                <a:ea typeface="M Plus Rounded Black"/>
                <a:cs typeface="M Plus Rounded Black"/>
                <a:sym typeface="M Plus Rounded Black"/>
              </a:rPr>
              <a:t>　　　　　　　　　　今のお薬と重なると危険なことがあります。</a:t>
            </a:r>
          </a:p>
          <a:p>
            <a:pPr algn="just">
              <a:lnSpc>
                <a:spcPts val="4200"/>
              </a:lnSpc>
            </a:pPr>
            <a:r>
              <a:rPr lang="en-US" sz="3000">
                <a:solidFill>
                  <a:srgbClr val="622512"/>
                </a:solidFill>
                <a:latin typeface="M Plus Rounded Black"/>
                <a:ea typeface="M Plus Rounded Black"/>
                <a:cs typeface="M Plus Rounded Black"/>
                <a:sym typeface="M Plus Rounded Black"/>
              </a:rPr>
              <a:t>　　　　　　　　２．グレープフルーツ（ジュースも）は、お薬の効き方を変えることがあります。</a:t>
            </a:r>
          </a:p>
          <a:p>
            <a:pPr algn="just">
              <a:lnSpc>
                <a:spcPts val="4200"/>
              </a:lnSpc>
            </a:pPr>
            <a:r>
              <a:rPr lang="en-US" sz="3000">
                <a:solidFill>
                  <a:srgbClr val="622512"/>
                </a:solidFill>
                <a:latin typeface="M Plus Rounded Black"/>
                <a:ea typeface="M Plus Rounded Black"/>
                <a:cs typeface="M Plus Rounded Black"/>
                <a:sym typeface="M Plus Rounded Black"/>
              </a:rPr>
              <a:t>　　　　　　　　３．コーヒー・エナジードリンクは控えめに。</a:t>
            </a:r>
          </a:p>
          <a:p>
            <a:pPr algn="just">
              <a:lnSpc>
                <a:spcPts val="4200"/>
              </a:lnSpc>
            </a:pPr>
            <a:r>
              <a:rPr lang="en-US" sz="3000">
                <a:solidFill>
                  <a:srgbClr val="622512"/>
                </a:solidFill>
                <a:latin typeface="M Plus Rounded Black"/>
                <a:ea typeface="M Plus Rounded Black"/>
                <a:cs typeface="M Plus Rounded Black"/>
                <a:sym typeface="M Plus Rounded Black"/>
              </a:rPr>
              <a:t>　　　　　　　　　　お薬の影響で、カフェインが体に残りやすくなっています。</a:t>
            </a:r>
          </a:p>
          <a:p>
            <a:pPr algn="just">
              <a:lnSpc>
                <a:spcPts val="4200"/>
              </a:lnSpc>
            </a:pPr>
            <a:r>
              <a:rPr lang="en-US" sz="3000">
                <a:solidFill>
                  <a:srgbClr val="622512"/>
                </a:solidFill>
                <a:latin typeface="M Plus Rounded Black"/>
                <a:ea typeface="M Plus Rounded Black"/>
                <a:cs typeface="M Plus Rounded Black"/>
                <a:sym typeface="M Plus Rounded Black"/>
              </a:rPr>
              <a:t>　　　　　　　　４．お酒は、お薬と一緒だと眠気・ふらつきが強く出やすくなります。</a:t>
            </a:r>
          </a:p>
          <a:p>
            <a:pPr algn="just">
              <a:lnSpc>
                <a:spcPts val="4200"/>
              </a:lnSpc>
            </a:pPr>
            <a:r>
              <a:rPr lang="en-US" sz="3000">
                <a:solidFill>
                  <a:srgbClr val="622512"/>
                </a:solidFill>
                <a:latin typeface="M Plus Rounded Black"/>
                <a:ea typeface="M Plus Rounded Black"/>
                <a:cs typeface="M Plus Rounded Black"/>
                <a:sym typeface="M Plus Rounded Black"/>
              </a:rPr>
              <a:t>　　　　　　　　　　飲むときは、主治医の先生に相談してからにしましょう。</a:t>
            </a:r>
          </a:p>
        </p:txBody>
      </p:sp>
      <p:sp>
        <p:nvSpPr>
          <p:cNvPr name="TextBox 3" id="3"/>
          <p:cNvSpPr txBox="true"/>
          <p:nvPr/>
        </p:nvSpPr>
        <p:spPr>
          <a:xfrm rot="0">
            <a:off x="12989800" y="9454236"/>
            <a:ext cx="5298200" cy="608965"/>
          </a:xfrm>
          <a:prstGeom prst="rect">
            <a:avLst/>
          </a:prstGeom>
        </p:spPr>
        <p:txBody>
          <a:bodyPr anchor="t" rtlCol="false" tIns="0" lIns="0" bIns="0" rIns="0">
            <a:spAutoFit/>
          </a:bodyPr>
          <a:lstStyle/>
          <a:p>
            <a:pPr algn="ctr">
              <a:lnSpc>
                <a:spcPts val="4759"/>
              </a:lnSpc>
            </a:pPr>
            <a:r>
              <a:rPr lang="en-US" sz="3399">
                <a:solidFill>
                  <a:srgbClr val="66461F"/>
                </a:solidFill>
                <a:latin typeface="M Plus Rounded Black"/>
                <a:ea typeface="M Plus Rounded Black"/>
                <a:cs typeface="M Plus Rounded Black"/>
                <a:sym typeface="M Plus Rounded Black"/>
              </a:rPr>
              <a:t>@海音～心体の調律～</a:t>
            </a:r>
          </a:p>
        </p:txBody>
      </p:sp>
    </p:spTree>
  </p:cSld>
  <p:clrMapOvr>
    <a:masterClrMapping/>
  </p:clrMapOvr>
</p:sld>
</file>

<file path=ppt/slides/slide25.xml><?xml version="1.0" encoding="utf-8"?>
<p:sld xmlns:p="http://schemas.openxmlformats.org/presentationml/2006/main" xmlns:a="http://schemas.openxmlformats.org/drawingml/2006/main">
  <p:cSld>
    <p:bg>
      <p:bgPr>
        <a:solidFill>
          <a:srgbClr val="F8F2ED"/>
        </a:solidFill>
      </p:bgPr>
    </p:bg>
    <p:spTree>
      <p:nvGrpSpPr>
        <p:cNvPr id="1" name=""/>
        <p:cNvGrpSpPr/>
        <p:nvPr/>
      </p:nvGrpSpPr>
      <p:grpSpPr>
        <a:xfrm>
          <a:off x="0" y="0"/>
          <a:ext cx="0" cy="0"/>
          <a:chOff x="0" y="0"/>
          <a:chExt cx="0" cy="0"/>
        </a:xfrm>
      </p:grpSpPr>
      <p:sp>
        <p:nvSpPr>
          <p:cNvPr name="TextBox 2" id="2"/>
          <p:cNvSpPr txBox="true"/>
          <p:nvPr/>
        </p:nvSpPr>
        <p:spPr>
          <a:xfrm rot="0">
            <a:off x="12989800" y="9741575"/>
            <a:ext cx="5298200" cy="608915"/>
          </a:xfrm>
          <a:prstGeom prst="rect">
            <a:avLst/>
          </a:prstGeom>
        </p:spPr>
        <p:txBody>
          <a:bodyPr anchor="t" rtlCol="false" tIns="0" lIns="0" bIns="0" rIns="0">
            <a:spAutoFit/>
          </a:bodyPr>
          <a:lstStyle/>
          <a:p>
            <a:pPr algn="ctr">
              <a:lnSpc>
                <a:spcPts val="4759"/>
              </a:lnSpc>
            </a:pPr>
            <a:r>
              <a:rPr lang="en-US" sz="3399">
                <a:solidFill>
                  <a:srgbClr val="66461F"/>
                </a:solidFill>
                <a:latin typeface="M Plus Rounded Black"/>
                <a:ea typeface="M Plus Rounded Black"/>
                <a:cs typeface="M Plus Rounded Black"/>
                <a:sym typeface="M Plus Rounded Black"/>
              </a:rPr>
              <a:t>@海音～心体の調律～</a:t>
            </a:r>
          </a:p>
        </p:txBody>
      </p:sp>
      <p:sp>
        <p:nvSpPr>
          <p:cNvPr name="TextBox 3" id="3"/>
          <p:cNvSpPr txBox="true"/>
          <p:nvPr/>
        </p:nvSpPr>
        <p:spPr>
          <a:xfrm rot="0">
            <a:off x="261939" y="-104775"/>
            <a:ext cx="17259300" cy="11142345"/>
          </a:xfrm>
          <a:prstGeom prst="rect">
            <a:avLst/>
          </a:prstGeom>
        </p:spPr>
        <p:txBody>
          <a:bodyPr anchor="t" rtlCol="false" tIns="0" lIns="0" bIns="0" rIns="0">
            <a:spAutoFit/>
          </a:bodyPr>
          <a:lstStyle/>
          <a:p>
            <a:pPr algn="ctr">
              <a:lnSpc>
                <a:spcPts val="5880"/>
              </a:lnSpc>
            </a:pPr>
            <a:r>
              <a:rPr lang="en-US" sz="4200" b="true">
                <a:solidFill>
                  <a:srgbClr val="622512"/>
                </a:solidFill>
                <a:latin typeface="M+ Bold"/>
                <a:ea typeface="M+ Bold"/>
                <a:cs typeface="M+ Bold"/>
                <a:sym typeface="M+ Bold"/>
              </a:rPr>
              <a:t>ストレスを言葉にする</a:t>
            </a:r>
          </a:p>
          <a:p>
            <a:pPr algn="ctr">
              <a:lnSpc>
                <a:spcPts val="5880"/>
              </a:lnSpc>
            </a:pPr>
            <a:r>
              <a:rPr lang="en-US" sz="4200" b="true">
                <a:solidFill>
                  <a:srgbClr val="622512"/>
                </a:solidFill>
                <a:latin typeface="M+ Bold"/>
                <a:ea typeface="M+ Bold"/>
                <a:cs typeface="M+ Bold"/>
                <a:sym typeface="M+ Bold"/>
              </a:rPr>
              <a:t>体に起こっている症状は、何かに気が付いてと体が言っております。</a:t>
            </a:r>
          </a:p>
          <a:p>
            <a:pPr algn="l">
              <a:lnSpc>
                <a:spcPts val="5880"/>
              </a:lnSpc>
            </a:pPr>
            <a:r>
              <a:rPr lang="en-US" sz="4200" b="true">
                <a:solidFill>
                  <a:srgbClr val="622512"/>
                </a:solidFill>
                <a:latin typeface="M+ Bold"/>
                <a:ea typeface="M+ Bold"/>
                <a:cs typeface="M+ Bold"/>
                <a:sym typeface="M+ Bold"/>
              </a:rPr>
              <a:t>　</a:t>
            </a:r>
            <a:r>
              <a:rPr lang="en-US" sz="4200" b="true">
                <a:solidFill>
                  <a:srgbClr val="622512"/>
                </a:solidFill>
                <a:latin typeface="M+ Bold"/>
                <a:ea typeface="M+ Bold"/>
                <a:cs typeface="M+ Bold"/>
                <a:sym typeface="M+ Bold"/>
              </a:rPr>
              <a:t>・前側の症状⇨前向きな事で気が付いた方が良いこと・不安</a:t>
            </a:r>
          </a:p>
          <a:p>
            <a:pPr algn="l">
              <a:lnSpc>
                <a:spcPts val="5880"/>
              </a:lnSpc>
            </a:pPr>
            <a:r>
              <a:rPr lang="en-US" sz="4200" b="true">
                <a:solidFill>
                  <a:srgbClr val="622512"/>
                </a:solidFill>
                <a:latin typeface="M+ Bold"/>
                <a:ea typeface="M+ Bold"/>
                <a:cs typeface="M+ Bold"/>
                <a:sym typeface="M+ Bold"/>
              </a:rPr>
              <a:t>　・後ろ側の症状⇨過去の事でのこだわり等</a:t>
            </a:r>
          </a:p>
          <a:p>
            <a:pPr algn="l">
              <a:lnSpc>
                <a:spcPts val="5880"/>
              </a:lnSpc>
            </a:pPr>
            <a:r>
              <a:rPr lang="en-US" sz="4200" b="true">
                <a:solidFill>
                  <a:srgbClr val="622512"/>
                </a:solidFill>
                <a:latin typeface="M+ Bold"/>
                <a:ea typeface="M+ Bold"/>
                <a:cs typeface="M+ Bold"/>
                <a:sym typeface="M+ Bold"/>
              </a:rPr>
              <a:t>　・右側⇨男性に関しての気が付いた方が良いこと</a:t>
            </a:r>
          </a:p>
          <a:p>
            <a:pPr algn="l">
              <a:lnSpc>
                <a:spcPts val="5880"/>
              </a:lnSpc>
            </a:pPr>
            <a:r>
              <a:rPr lang="en-US" sz="4200" b="true">
                <a:solidFill>
                  <a:srgbClr val="622512"/>
                </a:solidFill>
                <a:latin typeface="M+ Bold"/>
                <a:ea typeface="M+ Bold"/>
                <a:cs typeface="M+ Bold"/>
                <a:sym typeface="M+ Bold"/>
              </a:rPr>
              <a:t>　・左側⇨女性に関しての気が付いた方が良いこと</a:t>
            </a:r>
          </a:p>
          <a:p>
            <a:pPr algn="l">
              <a:lnSpc>
                <a:spcPts val="5880"/>
              </a:lnSpc>
            </a:pPr>
            <a:r>
              <a:rPr lang="en-US" sz="4200" b="true">
                <a:solidFill>
                  <a:srgbClr val="622512"/>
                </a:solidFill>
                <a:latin typeface="M+ Bold"/>
                <a:ea typeface="M+ Bold"/>
                <a:cs typeface="M+ Bold"/>
                <a:sym typeface="M+ Bold"/>
              </a:rPr>
              <a:t>　・両側⇨ご自身の事で気が付いた方が良いこと</a:t>
            </a:r>
          </a:p>
          <a:p>
            <a:pPr algn="ctr">
              <a:lnSpc>
                <a:spcPts val="5880"/>
              </a:lnSpc>
            </a:pPr>
          </a:p>
          <a:p>
            <a:pPr algn="ctr">
              <a:lnSpc>
                <a:spcPts val="5880"/>
              </a:lnSpc>
            </a:pPr>
            <a:r>
              <a:rPr lang="en-US" sz="4200" b="true">
                <a:solidFill>
                  <a:srgbClr val="622512"/>
                </a:solidFill>
                <a:latin typeface="M+ Bold"/>
                <a:ea typeface="M+ Bold"/>
                <a:cs typeface="M+ Bold"/>
                <a:sym typeface="M+ Bold"/>
              </a:rPr>
              <a:t>どうしたいかを口にする。２１日間つぶやくのが大切</a:t>
            </a:r>
          </a:p>
          <a:p>
            <a:pPr algn="ctr">
              <a:lnSpc>
                <a:spcPts val="5880"/>
              </a:lnSpc>
            </a:pPr>
            <a:r>
              <a:rPr lang="en-US" sz="4200" b="true">
                <a:solidFill>
                  <a:srgbClr val="622512"/>
                </a:solidFill>
                <a:latin typeface="M+ Bold"/>
                <a:ea typeface="M+ Bold"/>
                <a:cs typeface="M+ Bold"/>
                <a:sym typeface="M+ Bold"/>
              </a:rPr>
              <a:t>ポイントは、独り言でOK・希望・願望にするという事です</a:t>
            </a:r>
          </a:p>
          <a:p>
            <a:pPr algn="ctr">
              <a:lnSpc>
                <a:spcPts val="5880"/>
              </a:lnSpc>
            </a:pPr>
          </a:p>
          <a:p>
            <a:pPr algn="ctr">
              <a:lnSpc>
                <a:spcPts val="5880"/>
              </a:lnSpc>
            </a:pPr>
          </a:p>
          <a:p>
            <a:pPr algn="ctr">
              <a:lnSpc>
                <a:spcPts val="5880"/>
              </a:lnSpc>
            </a:pPr>
          </a:p>
          <a:p>
            <a:pPr algn="ctr">
              <a:lnSpc>
                <a:spcPts val="5880"/>
              </a:lnSpc>
            </a:pPr>
          </a:p>
          <a:p>
            <a:pPr algn="ctr">
              <a:lnSpc>
                <a:spcPts val="5880"/>
              </a:lnSpc>
            </a:pPr>
          </a:p>
        </p:txBody>
      </p:sp>
    </p:spTree>
  </p:cSld>
  <p:clrMapOvr>
    <a:masterClrMapping/>
  </p:clrMapOvr>
</p:sld>
</file>

<file path=ppt/slides/slide26.xml><?xml version="1.0" encoding="utf-8"?>
<p:sld xmlns:p="http://schemas.openxmlformats.org/presentationml/2006/main" xmlns:a="http://schemas.openxmlformats.org/drawingml/2006/main">
  <p:cSld>
    <p:bg>
      <p:bgPr>
        <a:solidFill>
          <a:srgbClr val="F8F2ED"/>
        </a:solidFill>
      </p:bgPr>
    </p:bg>
    <p:spTree>
      <p:nvGrpSpPr>
        <p:cNvPr id="1" name=""/>
        <p:cNvGrpSpPr/>
        <p:nvPr/>
      </p:nvGrpSpPr>
      <p:grpSpPr>
        <a:xfrm>
          <a:off x="0" y="0"/>
          <a:ext cx="0" cy="0"/>
          <a:chOff x="0" y="0"/>
          <a:chExt cx="0" cy="0"/>
        </a:xfrm>
      </p:grpSpPr>
      <p:sp>
        <p:nvSpPr>
          <p:cNvPr name="TextBox 2" id="2"/>
          <p:cNvSpPr txBox="true"/>
          <p:nvPr/>
        </p:nvSpPr>
        <p:spPr>
          <a:xfrm rot="0">
            <a:off x="652548" y="1706245"/>
            <a:ext cx="18532068" cy="9880600"/>
          </a:xfrm>
          <a:prstGeom prst="rect">
            <a:avLst/>
          </a:prstGeom>
        </p:spPr>
        <p:txBody>
          <a:bodyPr anchor="t" rtlCol="false" tIns="0" lIns="0" bIns="0" rIns="0">
            <a:spAutoFit/>
          </a:bodyPr>
          <a:lstStyle/>
          <a:p>
            <a:pPr algn="l">
              <a:lnSpc>
                <a:spcPts val="5599"/>
              </a:lnSpc>
            </a:pPr>
            <a:r>
              <a:rPr lang="en-US" sz="3999">
                <a:solidFill>
                  <a:srgbClr val="622512"/>
                </a:solidFill>
                <a:latin typeface="M Plus Rounded Black"/>
                <a:ea typeface="M Plus Rounded Black"/>
                <a:cs typeface="M Plus Rounded Black"/>
                <a:sym typeface="M Plus Rounded Black"/>
              </a:rPr>
              <a:t>①リラックス効果</a:t>
            </a:r>
          </a:p>
          <a:p>
            <a:pPr algn="l">
              <a:lnSpc>
                <a:spcPts val="5599"/>
              </a:lnSpc>
            </a:pPr>
            <a:r>
              <a:rPr lang="en-US" sz="3999">
                <a:solidFill>
                  <a:srgbClr val="622512"/>
                </a:solidFill>
                <a:latin typeface="M Plus Rounded Black"/>
                <a:ea typeface="M Plus Rounded Black"/>
                <a:cs typeface="M Plus Rounded Black"/>
                <a:sym typeface="M Plus Rounded Black"/>
              </a:rPr>
              <a:t>　➡口を10秒あける</a:t>
            </a:r>
          </a:p>
          <a:p>
            <a:pPr algn="l">
              <a:lnSpc>
                <a:spcPts val="5599"/>
              </a:lnSpc>
            </a:pPr>
            <a:r>
              <a:rPr lang="en-US" sz="3999">
                <a:solidFill>
                  <a:srgbClr val="622512"/>
                </a:solidFill>
                <a:latin typeface="M Plus Rounded Black"/>
                <a:ea typeface="M Plus Rounded Black"/>
                <a:cs typeface="M Plus Rounded Black"/>
                <a:sym typeface="M Plus Rounded Black"/>
              </a:rPr>
              <a:t>　　（顎関節周囲をゆるめ、血流改善をする）</a:t>
            </a:r>
          </a:p>
          <a:p>
            <a:pPr algn="l">
              <a:lnSpc>
                <a:spcPts val="5599"/>
              </a:lnSpc>
            </a:pPr>
            <a:r>
              <a:rPr lang="en-US" sz="3999">
                <a:solidFill>
                  <a:srgbClr val="622512"/>
                </a:solidFill>
                <a:latin typeface="M Plus Rounded Black"/>
                <a:ea typeface="M Plus Rounded Black"/>
                <a:cs typeface="M Plus Rounded Black"/>
                <a:sym typeface="M Plus Rounded Black"/>
              </a:rPr>
              <a:t>　➡深呼吸を定期的にする（丹田と胸に手を当てて）</a:t>
            </a:r>
          </a:p>
          <a:p>
            <a:pPr algn="l">
              <a:lnSpc>
                <a:spcPts val="5599"/>
              </a:lnSpc>
            </a:pPr>
            <a:r>
              <a:rPr lang="en-US" sz="3999">
                <a:solidFill>
                  <a:srgbClr val="622512"/>
                </a:solidFill>
                <a:latin typeface="M Plus Rounded Black"/>
                <a:ea typeface="M Plus Rounded Black"/>
                <a:cs typeface="M Plus Rounded Black"/>
                <a:sym typeface="M Plus Rounded Black"/>
              </a:rPr>
              <a:t>　➡片鼻呼吸法（おだやかになる方）を行ってみる（別紙）</a:t>
            </a:r>
          </a:p>
          <a:p>
            <a:pPr algn="l">
              <a:lnSpc>
                <a:spcPts val="5599"/>
              </a:lnSpc>
            </a:pPr>
            <a:r>
              <a:rPr lang="en-US" sz="3999">
                <a:solidFill>
                  <a:srgbClr val="622512"/>
                </a:solidFill>
                <a:latin typeface="M Plus Rounded Black"/>
                <a:ea typeface="M Plus Rounded Black"/>
                <a:cs typeface="M Plus Rounded Black"/>
                <a:sym typeface="M Plus Rounded Black"/>
              </a:rPr>
              <a:t>②眠る１時間前からブルーライトを浴びないようにする</a:t>
            </a:r>
          </a:p>
          <a:p>
            <a:pPr algn="l">
              <a:lnSpc>
                <a:spcPts val="5599"/>
              </a:lnSpc>
            </a:pPr>
            <a:r>
              <a:rPr lang="en-US" sz="3999">
                <a:solidFill>
                  <a:srgbClr val="622512"/>
                </a:solidFill>
                <a:latin typeface="M Plus Rounded Black"/>
                <a:ea typeface="M Plus Rounded Black"/>
                <a:cs typeface="M Plus Rounded Black"/>
                <a:sym typeface="M Plus Rounded Black"/>
              </a:rPr>
              <a:t>③ぬるま湯にゆっくりつかる</a:t>
            </a:r>
          </a:p>
          <a:p>
            <a:pPr algn="l">
              <a:lnSpc>
                <a:spcPts val="5599"/>
              </a:lnSpc>
            </a:pPr>
            <a:r>
              <a:rPr lang="en-US" sz="3999">
                <a:solidFill>
                  <a:srgbClr val="622512"/>
                </a:solidFill>
                <a:latin typeface="M Plus Rounded Black"/>
                <a:ea typeface="M Plus Rounded Black"/>
                <a:cs typeface="M Plus Rounded Black"/>
                <a:sym typeface="M Plus Rounded Black"/>
              </a:rPr>
              <a:t>④GABAは食品からとる（トマト・発芽玄米など）</a:t>
            </a:r>
          </a:p>
          <a:p>
            <a:pPr algn="l">
              <a:lnSpc>
                <a:spcPts val="5599"/>
              </a:lnSpc>
            </a:pPr>
            <a:r>
              <a:rPr lang="en-US" sz="3999">
                <a:solidFill>
                  <a:srgbClr val="622512"/>
                </a:solidFill>
                <a:latin typeface="M Plus Rounded Black"/>
                <a:ea typeface="M Plus Rounded Black"/>
                <a:cs typeface="M Plus Rounded Black"/>
                <a:sym typeface="M Plus Rounded Black"/>
              </a:rPr>
              <a:t>　　※サプリは主治医の先生に確認してから</a:t>
            </a:r>
          </a:p>
        </p:txBody>
      </p:sp>
      <p:sp>
        <p:nvSpPr>
          <p:cNvPr name="TextBox 3" id="3"/>
          <p:cNvSpPr txBox="true"/>
          <p:nvPr/>
        </p:nvSpPr>
        <p:spPr>
          <a:xfrm rot="0">
            <a:off x="2991712" y="489902"/>
            <a:ext cx="10532194" cy="934646"/>
          </a:xfrm>
          <a:prstGeom prst="rect">
            <a:avLst/>
          </a:prstGeom>
        </p:spPr>
        <p:txBody>
          <a:bodyPr anchor="t" rtlCol="false" tIns="0" lIns="0" bIns="0" rIns="0">
            <a:spAutoFit/>
          </a:bodyPr>
          <a:lstStyle/>
          <a:p>
            <a:pPr algn="ctr">
              <a:lnSpc>
                <a:spcPts val="7279"/>
              </a:lnSpc>
            </a:pPr>
            <a:r>
              <a:rPr lang="en-US" sz="5199">
                <a:solidFill>
                  <a:srgbClr val="622512"/>
                </a:solidFill>
                <a:latin typeface="M Plus Rounded Black"/>
                <a:ea typeface="M Plus Rounded Black"/>
                <a:cs typeface="M Plus Rounded Black"/>
                <a:sym typeface="M Plus Rounded Black"/>
              </a:rPr>
              <a:t>睡眠の質UP・ストレス予防</a:t>
            </a:r>
          </a:p>
        </p:txBody>
      </p:sp>
      <p:sp>
        <p:nvSpPr>
          <p:cNvPr name="TextBox 4" id="4"/>
          <p:cNvSpPr txBox="true"/>
          <p:nvPr/>
        </p:nvSpPr>
        <p:spPr>
          <a:xfrm rot="0">
            <a:off x="12989800" y="9463761"/>
            <a:ext cx="5298200" cy="608965"/>
          </a:xfrm>
          <a:prstGeom prst="rect">
            <a:avLst/>
          </a:prstGeom>
        </p:spPr>
        <p:txBody>
          <a:bodyPr anchor="t" rtlCol="false" tIns="0" lIns="0" bIns="0" rIns="0">
            <a:spAutoFit/>
          </a:bodyPr>
          <a:lstStyle/>
          <a:p>
            <a:pPr algn="ctr">
              <a:lnSpc>
                <a:spcPts val="4759"/>
              </a:lnSpc>
            </a:pPr>
            <a:r>
              <a:rPr lang="en-US" sz="3399">
                <a:solidFill>
                  <a:srgbClr val="66461F"/>
                </a:solidFill>
                <a:latin typeface="M Plus Rounded Black"/>
                <a:ea typeface="M Plus Rounded Black"/>
                <a:cs typeface="M Plus Rounded Black"/>
                <a:sym typeface="M Plus Rounded Black"/>
              </a:rPr>
              <a:t>@海音～心体の調律～</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F8F2ED"/>
        </a:solidFill>
      </p:bgPr>
    </p:bg>
    <p:spTree>
      <p:nvGrpSpPr>
        <p:cNvPr id="1" name=""/>
        <p:cNvGrpSpPr/>
        <p:nvPr/>
      </p:nvGrpSpPr>
      <p:grpSpPr>
        <a:xfrm>
          <a:off x="0" y="0"/>
          <a:ext cx="0" cy="0"/>
          <a:chOff x="0" y="0"/>
          <a:chExt cx="0" cy="0"/>
        </a:xfrm>
      </p:grpSpPr>
      <p:sp>
        <p:nvSpPr>
          <p:cNvPr name="Freeform 2" id="2"/>
          <p:cNvSpPr/>
          <p:nvPr/>
        </p:nvSpPr>
        <p:spPr>
          <a:xfrm flipH="false" flipV="false" rot="0">
            <a:off x="1185623" y="9515158"/>
            <a:ext cx="3102568" cy="303324"/>
          </a:xfrm>
          <a:custGeom>
            <a:avLst/>
            <a:gdLst/>
            <a:ahLst/>
            <a:cxnLst/>
            <a:rect r="r" b="b" t="t" l="l"/>
            <a:pathLst>
              <a:path h="303324" w="3102568">
                <a:moveTo>
                  <a:pt x="0" y="0"/>
                </a:moveTo>
                <a:lnTo>
                  <a:pt x="3102568" y="0"/>
                </a:lnTo>
                <a:lnTo>
                  <a:pt x="3102568" y="303324"/>
                </a:lnTo>
                <a:lnTo>
                  <a:pt x="0" y="303324"/>
                </a:lnTo>
                <a:lnTo>
                  <a:pt x="0" y="0"/>
                </a:lnTo>
                <a:close/>
              </a:path>
            </a:pathLst>
          </a:custGeom>
          <a:blipFill>
            <a:blip r:embed="rId2"/>
            <a:stretch>
              <a:fillRect l="0" t="-233" r="0" b="-77061"/>
            </a:stretch>
          </a:blipFill>
        </p:spPr>
      </p:sp>
      <p:sp>
        <p:nvSpPr>
          <p:cNvPr name="Freeform 3" id="3"/>
          <p:cNvSpPr/>
          <p:nvPr/>
        </p:nvSpPr>
        <p:spPr>
          <a:xfrm flipH="false" flipV="false" rot="0">
            <a:off x="322122" y="1263220"/>
            <a:ext cx="10262057" cy="7755082"/>
          </a:xfrm>
          <a:custGeom>
            <a:avLst/>
            <a:gdLst/>
            <a:ahLst/>
            <a:cxnLst/>
            <a:rect r="r" b="b" t="t" l="l"/>
            <a:pathLst>
              <a:path h="7755082" w="10262057">
                <a:moveTo>
                  <a:pt x="0" y="0"/>
                </a:moveTo>
                <a:lnTo>
                  <a:pt x="10262057" y="0"/>
                </a:lnTo>
                <a:lnTo>
                  <a:pt x="10262057" y="7755082"/>
                </a:lnTo>
                <a:lnTo>
                  <a:pt x="0" y="7755082"/>
                </a:lnTo>
                <a:lnTo>
                  <a:pt x="0" y="0"/>
                </a:lnTo>
                <a:close/>
              </a:path>
            </a:pathLst>
          </a:custGeom>
          <a:blipFill>
            <a:blip r:embed="rId3"/>
            <a:stretch>
              <a:fillRect l="-3827" t="-3705" r="-963" b="0"/>
            </a:stretch>
          </a:blipFill>
        </p:spPr>
      </p:sp>
      <p:sp>
        <p:nvSpPr>
          <p:cNvPr name="TextBox 4" id="4"/>
          <p:cNvSpPr txBox="true"/>
          <p:nvPr/>
        </p:nvSpPr>
        <p:spPr>
          <a:xfrm rot="0">
            <a:off x="322122" y="9314712"/>
            <a:ext cx="863501" cy="608965"/>
          </a:xfrm>
          <a:prstGeom prst="rect">
            <a:avLst/>
          </a:prstGeom>
        </p:spPr>
        <p:txBody>
          <a:bodyPr anchor="t" rtlCol="false" tIns="0" lIns="0" bIns="0" rIns="0">
            <a:spAutoFit/>
          </a:bodyPr>
          <a:lstStyle/>
          <a:p>
            <a:pPr algn="ctr">
              <a:lnSpc>
                <a:spcPts val="4759"/>
              </a:lnSpc>
            </a:pPr>
            <a:r>
              <a:rPr lang="en-US" sz="3399">
                <a:solidFill>
                  <a:srgbClr val="622512"/>
                </a:solidFill>
                <a:latin typeface="M Plus Rounded Black"/>
                <a:ea typeface="M Plus Rounded Black"/>
                <a:cs typeface="M Plus Rounded Black"/>
                <a:sym typeface="M Plus Rounded Black"/>
              </a:rPr>
              <a:t>図は</a:t>
            </a:r>
          </a:p>
        </p:txBody>
      </p:sp>
      <p:sp>
        <p:nvSpPr>
          <p:cNvPr name="TextBox 5" id="5"/>
          <p:cNvSpPr txBox="true"/>
          <p:nvPr/>
        </p:nvSpPr>
        <p:spPr>
          <a:xfrm rot="0">
            <a:off x="9139238" y="4642802"/>
            <a:ext cx="9525" cy="896620"/>
          </a:xfrm>
          <a:prstGeom prst="rect">
            <a:avLst/>
          </a:prstGeom>
        </p:spPr>
        <p:txBody>
          <a:bodyPr anchor="t" rtlCol="false" tIns="0" lIns="0" bIns="0" rIns="0">
            <a:spAutoFit/>
          </a:bodyPr>
          <a:lstStyle/>
          <a:p>
            <a:pPr algn="ctr">
              <a:lnSpc>
                <a:spcPts val="7279"/>
              </a:lnSpc>
            </a:pPr>
          </a:p>
        </p:txBody>
      </p:sp>
      <p:sp>
        <p:nvSpPr>
          <p:cNvPr name="TextBox 6" id="6"/>
          <p:cNvSpPr txBox="true"/>
          <p:nvPr/>
        </p:nvSpPr>
        <p:spPr>
          <a:xfrm rot="0">
            <a:off x="3317081" y="9314712"/>
            <a:ext cx="3724275" cy="608965"/>
          </a:xfrm>
          <a:prstGeom prst="rect">
            <a:avLst/>
          </a:prstGeom>
        </p:spPr>
        <p:txBody>
          <a:bodyPr anchor="t" rtlCol="false" tIns="0" lIns="0" bIns="0" rIns="0">
            <a:spAutoFit/>
          </a:bodyPr>
          <a:lstStyle/>
          <a:p>
            <a:pPr algn="ctr">
              <a:lnSpc>
                <a:spcPts val="4759"/>
              </a:lnSpc>
            </a:pPr>
            <a:r>
              <a:rPr lang="en-US" sz="3399">
                <a:solidFill>
                  <a:srgbClr val="622512"/>
                </a:solidFill>
                <a:latin typeface="M Plus Rounded Black"/>
                <a:ea typeface="M Plus Rounded Black"/>
                <a:cs typeface="M Plus Rounded Black"/>
                <a:sym typeface="M Plus Rounded Black"/>
              </a:rPr>
              <a:t>より引用</a:t>
            </a:r>
          </a:p>
        </p:txBody>
      </p:sp>
      <p:sp>
        <p:nvSpPr>
          <p:cNvPr name="TextBox 7" id="7"/>
          <p:cNvSpPr txBox="true"/>
          <p:nvPr/>
        </p:nvSpPr>
        <p:spPr>
          <a:xfrm rot="0">
            <a:off x="523078" y="62977"/>
            <a:ext cx="15791723" cy="934720"/>
          </a:xfrm>
          <a:prstGeom prst="rect">
            <a:avLst/>
          </a:prstGeom>
        </p:spPr>
        <p:txBody>
          <a:bodyPr anchor="t" rtlCol="false" tIns="0" lIns="0" bIns="0" rIns="0">
            <a:spAutoFit/>
          </a:bodyPr>
          <a:lstStyle/>
          <a:p>
            <a:pPr algn="ctr">
              <a:lnSpc>
                <a:spcPts val="7279"/>
              </a:lnSpc>
            </a:pPr>
            <a:r>
              <a:rPr lang="en-US" sz="5199" b="true">
                <a:solidFill>
                  <a:srgbClr val="622512"/>
                </a:solidFill>
                <a:latin typeface="M Plus Rounded Black Bold"/>
                <a:ea typeface="M Plus Rounded Black Bold"/>
                <a:cs typeface="M Plus Rounded Black Bold"/>
                <a:sym typeface="M Plus Rounded Black Bold"/>
              </a:rPr>
              <a:t>片鼻呼吸法の実際（副交感神経を優位＝おだやか）</a:t>
            </a:r>
          </a:p>
        </p:txBody>
      </p:sp>
      <p:sp>
        <p:nvSpPr>
          <p:cNvPr name="TextBox 8" id="8"/>
          <p:cNvSpPr txBox="true"/>
          <p:nvPr/>
        </p:nvSpPr>
        <p:spPr>
          <a:xfrm rot="0">
            <a:off x="10584179" y="909359"/>
            <a:ext cx="7703821" cy="7839710"/>
          </a:xfrm>
          <a:prstGeom prst="rect">
            <a:avLst/>
          </a:prstGeom>
        </p:spPr>
        <p:txBody>
          <a:bodyPr anchor="t" rtlCol="false" tIns="0" lIns="0" bIns="0" rIns="0">
            <a:spAutoFit/>
          </a:bodyPr>
          <a:lstStyle/>
          <a:p>
            <a:pPr algn="just">
              <a:lnSpc>
                <a:spcPts val="4200"/>
              </a:lnSpc>
            </a:pPr>
            <a:r>
              <a:rPr lang="en-US" sz="3000" b="true">
                <a:solidFill>
                  <a:srgbClr val="622512"/>
                </a:solidFill>
                <a:latin typeface="M Plus Rounded Black Bold"/>
                <a:ea typeface="M Plus Rounded Black Bold"/>
                <a:cs typeface="M Plus Rounded Black Bold"/>
                <a:sym typeface="M Plus Rounded Black Bold"/>
              </a:rPr>
              <a:t>１．右の親指を右の鼻にあてます。</a:t>
            </a:r>
          </a:p>
          <a:p>
            <a:pPr algn="just">
              <a:lnSpc>
                <a:spcPts val="4200"/>
              </a:lnSpc>
            </a:pPr>
            <a:r>
              <a:rPr lang="en-US" sz="3000" b="true">
                <a:solidFill>
                  <a:srgbClr val="622512"/>
                </a:solidFill>
                <a:latin typeface="M Plus Rounded Black Bold"/>
                <a:ea typeface="M Plus Rounded Black Bold"/>
                <a:cs typeface="M Plus Rounded Black Bold"/>
                <a:sym typeface="M Plus Rounded Black Bold"/>
              </a:rPr>
              <a:t>２．左の鼻からゆっくりと深く息を</a:t>
            </a:r>
          </a:p>
          <a:p>
            <a:pPr algn="just">
              <a:lnSpc>
                <a:spcPts val="4200"/>
              </a:lnSpc>
            </a:pPr>
            <a:r>
              <a:rPr lang="en-US" sz="3000" b="true">
                <a:solidFill>
                  <a:srgbClr val="622512"/>
                </a:solidFill>
                <a:latin typeface="M Plus Rounded Black Bold"/>
                <a:ea typeface="M Plus Rounded Black Bold"/>
                <a:cs typeface="M Plus Rounded Black Bold"/>
                <a:sym typeface="M Plus Rounded Black Bold"/>
              </a:rPr>
              <a:t>　　吸い込みます。</a:t>
            </a:r>
          </a:p>
          <a:p>
            <a:pPr algn="just">
              <a:lnSpc>
                <a:spcPts val="4200"/>
              </a:lnSpc>
            </a:pPr>
            <a:r>
              <a:rPr lang="en-US" sz="3000" b="true">
                <a:solidFill>
                  <a:srgbClr val="622512"/>
                </a:solidFill>
                <a:latin typeface="M Plus Rounded Black Bold"/>
                <a:ea typeface="M Plus Rounded Black Bold"/>
                <a:cs typeface="M Plus Rounded Black Bold"/>
                <a:sym typeface="M Plus Rounded Black Bold"/>
              </a:rPr>
              <a:t>３．息を吸い切った時に、薬指で左の鼻を</a:t>
            </a:r>
          </a:p>
          <a:p>
            <a:pPr algn="just">
              <a:lnSpc>
                <a:spcPts val="4200"/>
              </a:lnSpc>
            </a:pPr>
            <a:r>
              <a:rPr lang="en-US" sz="3000" b="true">
                <a:solidFill>
                  <a:srgbClr val="622512"/>
                </a:solidFill>
                <a:latin typeface="M Plus Rounded Black Bold"/>
                <a:ea typeface="M Plus Rounded Black Bold"/>
                <a:cs typeface="M Plus Rounded Black Bold"/>
                <a:sym typeface="M Plus Rounded Black Bold"/>
              </a:rPr>
              <a:t>　　閉じてから、右の鼻から息を吐きます。</a:t>
            </a:r>
          </a:p>
          <a:p>
            <a:pPr algn="just">
              <a:lnSpc>
                <a:spcPts val="4200"/>
              </a:lnSpc>
            </a:pPr>
            <a:r>
              <a:rPr lang="en-US" sz="3000" b="true">
                <a:solidFill>
                  <a:srgbClr val="622512"/>
                </a:solidFill>
                <a:latin typeface="M Plus Rounded Black Bold"/>
                <a:ea typeface="M Plus Rounded Black Bold"/>
                <a:cs typeface="M Plus Rounded Black Bold"/>
                <a:sym typeface="M Plus Rounded Black Bold"/>
              </a:rPr>
              <a:t>４．２本の指を交互に切り替えながら、</a:t>
            </a:r>
          </a:p>
          <a:p>
            <a:pPr algn="just">
              <a:lnSpc>
                <a:spcPts val="4200"/>
              </a:lnSpc>
            </a:pPr>
            <a:r>
              <a:rPr lang="en-US" sz="3000" b="true">
                <a:solidFill>
                  <a:srgbClr val="622512"/>
                </a:solidFill>
                <a:latin typeface="M Plus Rounded Black Bold"/>
                <a:ea typeface="M Plus Rounded Black Bold"/>
                <a:cs typeface="M Plus Rounded Black Bold"/>
                <a:sym typeface="M Plus Rounded Black Bold"/>
              </a:rPr>
              <a:t>　　上記の手順を続けてください。</a:t>
            </a:r>
          </a:p>
          <a:p>
            <a:pPr algn="just">
              <a:lnSpc>
                <a:spcPts val="4200"/>
              </a:lnSpc>
            </a:pPr>
            <a:r>
              <a:rPr lang="en-US" sz="3000" b="true">
                <a:solidFill>
                  <a:srgbClr val="622512"/>
                </a:solidFill>
                <a:latin typeface="M Plus Rounded Black Bold"/>
                <a:ea typeface="M Plus Rounded Black Bold"/>
                <a:cs typeface="M Plus Rounded Black Bold"/>
                <a:sym typeface="M Plus Rounded Black Bold"/>
              </a:rPr>
              <a:t>５．呼吸時、左の鼻から呼吸する時は、</a:t>
            </a:r>
          </a:p>
          <a:p>
            <a:pPr algn="just">
              <a:lnSpc>
                <a:spcPts val="4200"/>
              </a:lnSpc>
            </a:pPr>
            <a:r>
              <a:rPr lang="en-US" sz="3000" b="true">
                <a:solidFill>
                  <a:srgbClr val="622512"/>
                </a:solidFill>
                <a:latin typeface="M Plus Rounded Black Bold"/>
                <a:ea typeface="M Plus Rounded Black Bold"/>
                <a:cs typeface="M Plus Rounded Black Bold"/>
                <a:sym typeface="M Plus Rounded Black Bold"/>
              </a:rPr>
              <a:t>　　平穏を想像しましょう。</a:t>
            </a:r>
          </a:p>
          <a:p>
            <a:pPr algn="just">
              <a:lnSpc>
                <a:spcPts val="4200"/>
              </a:lnSpc>
            </a:pPr>
          </a:p>
          <a:p>
            <a:pPr algn="just">
              <a:lnSpc>
                <a:spcPts val="4200"/>
              </a:lnSpc>
            </a:pPr>
          </a:p>
          <a:p>
            <a:pPr algn="just">
              <a:lnSpc>
                <a:spcPts val="4200"/>
              </a:lnSpc>
            </a:pPr>
          </a:p>
          <a:p>
            <a:pPr algn="just">
              <a:lnSpc>
                <a:spcPts val="4200"/>
              </a:lnSpc>
            </a:pPr>
            <a:r>
              <a:rPr lang="en-US" sz="3000" b="true">
                <a:solidFill>
                  <a:srgbClr val="622512"/>
                </a:solidFill>
                <a:latin typeface="M Plus Rounded Black Bold"/>
                <a:ea typeface="M Plus Rounded Black Bold"/>
                <a:cs typeface="M Plus Rounded Black Bold"/>
                <a:sym typeface="M Plus Rounded Black Bold"/>
              </a:rPr>
              <a:t>（VHC養成講座教科書から引用）</a:t>
            </a:r>
          </a:p>
          <a:p>
            <a:pPr algn="just">
              <a:lnSpc>
                <a:spcPts val="7279"/>
              </a:lnSpc>
            </a:pPr>
          </a:p>
        </p:txBody>
      </p:sp>
      <p:sp>
        <p:nvSpPr>
          <p:cNvPr name="TextBox 9" id="9"/>
          <p:cNvSpPr txBox="true"/>
          <p:nvPr/>
        </p:nvSpPr>
        <p:spPr>
          <a:xfrm rot="0">
            <a:off x="12989800" y="9463761"/>
            <a:ext cx="5298200" cy="608965"/>
          </a:xfrm>
          <a:prstGeom prst="rect">
            <a:avLst/>
          </a:prstGeom>
        </p:spPr>
        <p:txBody>
          <a:bodyPr anchor="t" rtlCol="false" tIns="0" lIns="0" bIns="0" rIns="0">
            <a:spAutoFit/>
          </a:bodyPr>
          <a:lstStyle/>
          <a:p>
            <a:pPr algn="ctr">
              <a:lnSpc>
                <a:spcPts val="4759"/>
              </a:lnSpc>
            </a:pPr>
            <a:r>
              <a:rPr lang="en-US" sz="3399">
                <a:solidFill>
                  <a:srgbClr val="66461F"/>
                </a:solidFill>
                <a:latin typeface="M Plus Rounded Black"/>
                <a:ea typeface="M Plus Rounded Black"/>
                <a:cs typeface="M Plus Rounded Black"/>
                <a:sym typeface="M Plus Rounded Black"/>
              </a:rPr>
              <a:t>@海音～心体の調律～</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F8F2ED"/>
        </a:solidFill>
      </p:bgPr>
    </p:bg>
    <p:spTree>
      <p:nvGrpSpPr>
        <p:cNvPr id="1" name=""/>
        <p:cNvGrpSpPr/>
        <p:nvPr/>
      </p:nvGrpSpPr>
      <p:grpSpPr>
        <a:xfrm>
          <a:off x="0" y="0"/>
          <a:ext cx="0" cy="0"/>
          <a:chOff x="0" y="0"/>
          <a:chExt cx="0" cy="0"/>
        </a:xfrm>
      </p:grpSpPr>
      <p:sp>
        <p:nvSpPr>
          <p:cNvPr name="Freeform 2" id="2"/>
          <p:cNvSpPr/>
          <p:nvPr/>
        </p:nvSpPr>
        <p:spPr>
          <a:xfrm flipH="false" flipV="false" rot="0">
            <a:off x="10502689" y="2201725"/>
            <a:ext cx="5380438" cy="5947407"/>
          </a:xfrm>
          <a:custGeom>
            <a:avLst/>
            <a:gdLst/>
            <a:ahLst/>
            <a:cxnLst/>
            <a:rect r="r" b="b" t="t" l="l"/>
            <a:pathLst>
              <a:path h="5947407" w="5380438">
                <a:moveTo>
                  <a:pt x="0" y="0"/>
                </a:moveTo>
                <a:lnTo>
                  <a:pt x="5380438" y="0"/>
                </a:lnTo>
                <a:lnTo>
                  <a:pt x="5380438" y="5947407"/>
                </a:lnTo>
                <a:lnTo>
                  <a:pt x="0" y="5947407"/>
                </a:lnTo>
                <a:lnTo>
                  <a:pt x="0" y="0"/>
                </a:lnTo>
                <a:close/>
              </a:path>
            </a:pathLst>
          </a:custGeom>
          <a:blipFill>
            <a:blip r:embed="rId2"/>
            <a:stretch>
              <a:fillRect l="0" t="0" r="-2655" b="0"/>
            </a:stretch>
          </a:blipFill>
        </p:spPr>
      </p:sp>
      <p:sp>
        <p:nvSpPr>
          <p:cNvPr name="Freeform 3" id="3"/>
          <p:cNvSpPr/>
          <p:nvPr/>
        </p:nvSpPr>
        <p:spPr>
          <a:xfrm flipH="false" flipV="false" rot="0">
            <a:off x="1182951" y="2169797"/>
            <a:ext cx="7961049" cy="5840987"/>
          </a:xfrm>
          <a:custGeom>
            <a:avLst/>
            <a:gdLst/>
            <a:ahLst/>
            <a:cxnLst/>
            <a:rect r="r" b="b" t="t" l="l"/>
            <a:pathLst>
              <a:path h="5840987" w="7961049">
                <a:moveTo>
                  <a:pt x="0" y="0"/>
                </a:moveTo>
                <a:lnTo>
                  <a:pt x="7961049" y="0"/>
                </a:lnTo>
                <a:lnTo>
                  <a:pt x="7961049" y="5840987"/>
                </a:lnTo>
                <a:lnTo>
                  <a:pt x="0" y="5840987"/>
                </a:lnTo>
                <a:lnTo>
                  <a:pt x="0" y="0"/>
                </a:lnTo>
                <a:close/>
              </a:path>
            </a:pathLst>
          </a:custGeom>
          <a:blipFill>
            <a:blip r:embed="rId3"/>
            <a:stretch>
              <a:fillRect l="0" t="0" r="0" b="0"/>
            </a:stretch>
          </a:blipFill>
        </p:spPr>
      </p:sp>
      <p:sp>
        <p:nvSpPr>
          <p:cNvPr name="TextBox 4" id="4"/>
          <p:cNvSpPr txBox="true"/>
          <p:nvPr/>
        </p:nvSpPr>
        <p:spPr>
          <a:xfrm rot="0">
            <a:off x="2657737" y="93980"/>
            <a:ext cx="10535171" cy="934646"/>
          </a:xfrm>
          <a:prstGeom prst="rect">
            <a:avLst/>
          </a:prstGeom>
        </p:spPr>
        <p:txBody>
          <a:bodyPr anchor="t" rtlCol="false" tIns="0" lIns="0" bIns="0" rIns="0">
            <a:spAutoFit/>
          </a:bodyPr>
          <a:lstStyle/>
          <a:p>
            <a:pPr algn="ctr">
              <a:lnSpc>
                <a:spcPts val="7279"/>
              </a:lnSpc>
            </a:pPr>
            <a:r>
              <a:rPr lang="en-US" sz="5199">
                <a:solidFill>
                  <a:srgbClr val="622512"/>
                </a:solidFill>
                <a:latin typeface="M Plus Rounded Black"/>
                <a:ea typeface="M Plus Rounded Black"/>
                <a:cs typeface="M Plus Rounded Black"/>
                <a:sym typeface="M Plus Rounded Black"/>
              </a:rPr>
              <a:t>４－③ミネラル多く含む食材</a:t>
            </a:r>
          </a:p>
        </p:txBody>
      </p:sp>
      <p:sp>
        <p:nvSpPr>
          <p:cNvPr name="TextBox 5" id="5"/>
          <p:cNvSpPr txBox="true"/>
          <p:nvPr/>
        </p:nvSpPr>
        <p:spPr>
          <a:xfrm rot="0">
            <a:off x="12989800" y="9463761"/>
            <a:ext cx="5298200" cy="608965"/>
          </a:xfrm>
          <a:prstGeom prst="rect">
            <a:avLst/>
          </a:prstGeom>
        </p:spPr>
        <p:txBody>
          <a:bodyPr anchor="t" rtlCol="false" tIns="0" lIns="0" bIns="0" rIns="0">
            <a:spAutoFit/>
          </a:bodyPr>
          <a:lstStyle/>
          <a:p>
            <a:pPr algn="ctr">
              <a:lnSpc>
                <a:spcPts val="4759"/>
              </a:lnSpc>
            </a:pPr>
            <a:r>
              <a:rPr lang="en-US" sz="3399">
                <a:solidFill>
                  <a:srgbClr val="66461F"/>
                </a:solidFill>
                <a:latin typeface="M Plus Rounded Black"/>
                <a:ea typeface="M Plus Rounded Black"/>
                <a:cs typeface="M Plus Rounded Black"/>
                <a:sym typeface="M Plus Rounded Black"/>
              </a:rPr>
              <a:t>@海音～心体の調律～</a:t>
            </a:r>
          </a:p>
        </p:txBody>
      </p:sp>
      <p:sp>
        <p:nvSpPr>
          <p:cNvPr name="TextBox 6" id="6"/>
          <p:cNvSpPr txBox="true"/>
          <p:nvPr/>
        </p:nvSpPr>
        <p:spPr>
          <a:xfrm rot="0">
            <a:off x="14168627" y="8300987"/>
            <a:ext cx="3429000" cy="542925"/>
          </a:xfrm>
          <a:prstGeom prst="rect">
            <a:avLst/>
          </a:prstGeom>
        </p:spPr>
        <p:txBody>
          <a:bodyPr anchor="t" rtlCol="false" tIns="0" lIns="0" bIns="0" rIns="0">
            <a:spAutoFit/>
          </a:bodyPr>
          <a:lstStyle/>
          <a:p>
            <a:pPr algn="ctr">
              <a:lnSpc>
                <a:spcPts val="4200"/>
              </a:lnSpc>
              <a:spcBef>
                <a:spcPct val="0"/>
              </a:spcBef>
            </a:pPr>
            <a:r>
              <a:rPr lang="en-US" b="true" sz="3000">
                <a:solidFill>
                  <a:srgbClr val="66461F"/>
                </a:solidFill>
                <a:latin typeface="M Plus Rounded Black"/>
                <a:ea typeface="M Plus Rounded Black"/>
                <a:cs typeface="M Plus Rounded Black"/>
                <a:sym typeface="M Plus Rounded Black"/>
              </a:rPr>
              <a:t>栄養素辞典より抜粋</a:t>
            </a:r>
          </a:p>
        </p:txBody>
      </p:sp>
      <p:sp>
        <p:nvSpPr>
          <p:cNvPr name="TextBox 7" id="7"/>
          <p:cNvSpPr txBox="true"/>
          <p:nvPr/>
        </p:nvSpPr>
        <p:spPr>
          <a:xfrm rot="0">
            <a:off x="764644" y="8063407"/>
            <a:ext cx="11928202" cy="2143125"/>
          </a:xfrm>
          <a:prstGeom prst="rect">
            <a:avLst/>
          </a:prstGeom>
        </p:spPr>
        <p:txBody>
          <a:bodyPr anchor="t" rtlCol="false" tIns="0" lIns="0" bIns="0" rIns="0">
            <a:spAutoFit/>
          </a:bodyPr>
          <a:lstStyle/>
          <a:p>
            <a:pPr algn="l">
              <a:lnSpc>
                <a:spcPts val="4200"/>
              </a:lnSpc>
            </a:pPr>
            <a:r>
              <a:rPr lang="en-US" sz="3000" b="true">
                <a:solidFill>
                  <a:srgbClr val="BB5051"/>
                </a:solidFill>
                <a:latin typeface="M Plus Rounded Black Bold"/>
                <a:ea typeface="M Plus Rounded Black Bold"/>
                <a:cs typeface="M Plus Rounded Black Bold"/>
                <a:sym typeface="M Plus Rounded Black Bold"/>
              </a:rPr>
              <a:t>関係ないプチ知識～　　　　</a:t>
            </a:r>
            <a:r>
              <a:rPr lang="en-US" sz="3000" b="true">
                <a:solidFill>
                  <a:srgbClr val="66461F"/>
                </a:solidFill>
                <a:latin typeface="M Plus Rounded Black Bold"/>
                <a:ea typeface="M Plus Rounded Black Bold"/>
                <a:cs typeface="M Plus Rounded Black Bold"/>
                <a:sym typeface="M Plus Rounded Black Bold"/>
              </a:rPr>
              <a:t>バナナは食べる時間注意</a:t>
            </a:r>
          </a:p>
          <a:p>
            <a:pPr algn="ctr">
              <a:lnSpc>
                <a:spcPts val="4200"/>
              </a:lnSpc>
            </a:pPr>
            <a:r>
              <a:rPr lang="en-US" sz="3000" b="true">
                <a:solidFill>
                  <a:srgbClr val="66461F"/>
                </a:solidFill>
                <a:latin typeface="M Plus Rounded Black Bold"/>
                <a:ea typeface="M Plus Rounded Black Bold"/>
                <a:cs typeface="M Plus Rounded Black Bold"/>
                <a:sym typeface="M Plus Rounded Black Bold"/>
              </a:rPr>
              <a:t>（ポリフェノールを分解するため単独で食べることがオススメ！！）</a:t>
            </a:r>
          </a:p>
          <a:p>
            <a:pPr algn="ctr">
              <a:lnSpc>
                <a:spcPts val="4200"/>
              </a:lnSpc>
            </a:pPr>
            <a:r>
              <a:rPr lang="en-US" sz="3000" b="true">
                <a:solidFill>
                  <a:srgbClr val="66461F"/>
                </a:solidFill>
                <a:latin typeface="M Plus Rounded Black Bold"/>
                <a:ea typeface="M Plus Rounded Black Bold"/>
                <a:cs typeface="M Plus Rounded Black Bold"/>
                <a:sym typeface="M Plus Rounded Black Bold"/>
              </a:rPr>
              <a:t>乳糖不耐症の人も乳製品の摂取に注意必要</a:t>
            </a:r>
          </a:p>
          <a:p>
            <a:pPr algn="ctr">
              <a:lnSpc>
                <a:spcPts val="4200"/>
              </a:lnSpc>
            </a:pPr>
            <a:r>
              <a:rPr lang="en-US" sz="3000" b="true">
                <a:solidFill>
                  <a:srgbClr val="66461F"/>
                </a:solidFill>
                <a:latin typeface="M Plus Rounded Black Bold"/>
                <a:ea typeface="M Plus Rounded Black Bold"/>
                <a:cs typeface="M Plus Rounded Black Bold"/>
                <a:sym typeface="M Plus Rounded Black Bold"/>
              </a:rPr>
              <a:t>（ヨーグルトはポリフェノールの吸収促進します）</a:t>
            </a:r>
          </a:p>
        </p:txBody>
      </p:sp>
      <p:sp>
        <p:nvSpPr>
          <p:cNvPr name="TextBox 8" id="8"/>
          <p:cNvSpPr txBox="true"/>
          <p:nvPr/>
        </p:nvSpPr>
        <p:spPr>
          <a:xfrm rot="0">
            <a:off x="2657737" y="1149426"/>
            <a:ext cx="12630685" cy="542950"/>
          </a:xfrm>
          <a:prstGeom prst="rect">
            <a:avLst/>
          </a:prstGeom>
        </p:spPr>
        <p:txBody>
          <a:bodyPr anchor="t" rtlCol="false" tIns="0" lIns="0" bIns="0" rIns="0">
            <a:spAutoFit/>
          </a:bodyPr>
          <a:lstStyle/>
          <a:p>
            <a:pPr algn="ctr">
              <a:lnSpc>
                <a:spcPts val="4200"/>
              </a:lnSpc>
            </a:pPr>
            <a:r>
              <a:rPr lang="en-US" sz="3000">
                <a:solidFill>
                  <a:srgbClr val="622512"/>
                </a:solidFill>
                <a:latin typeface="M Plus Rounded Black"/>
                <a:ea typeface="M Plus Rounded Black"/>
                <a:cs typeface="M Plus Rounded Black"/>
                <a:sym typeface="M Plus Rounded Black"/>
              </a:rPr>
              <a:t>日本人は乳製品に不耐症をもつ人が多い事に注意</a:t>
            </a:r>
          </a:p>
        </p:txBody>
      </p:sp>
    </p:spTree>
  </p:cSld>
  <p:clrMapOvr>
    <a:masterClrMapping/>
  </p:clrMapOvr>
</p:sld>
</file>

<file path=ppt/slides/slide29.xml><?xml version="1.0" encoding="utf-8"?>
<p:sld xmlns:p="http://schemas.openxmlformats.org/presentationml/2006/main" xmlns:a="http://schemas.openxmlformats.org/drawingml/2006/main">
  <p:cSld>
    <p:bg>
      <p:bgPr>
        <a:solidFill>
          <a:srgbClr val="F8F2ED"/>
        </a:solidFill>
      </p:bgPr>
    </p:bg>
    <p:spTree>
      <p:nvGrpSpPr>
        <p:cNvPr id="1" name=""/>
        <p:cNvGrpSpPr/>
        <p:nvPr/>
      </p:nvGrpSpPr>
      <p:grpSpPr>
        <a:xfrm>
          <a:off x="0" y="0"/>
          <a:ext cx="0" cy="0"/>
          <a:chOff x="0" y="0"/>
          <a:chExt cx="0" cy="0"/>
        </a:xfrm>
      </p:grpSpPr>
      <p:sp>
        <p:nvSpPr>
          <p:cNvPr name="TextBox 2" id="2"/>
          <p:cNvSpPr txBox="true"/>
          <p:nvPr/>
        </p:nvSpPr>
        <p:spPr>
          <a:xfrm rot="0">
            <a:off x="2729175" y="-142875"/>
            <a:ext cx="10535171" cy="934646"/>
          </a:xfrm>
          <a:prstGeom prst="rect">
            <a:avLst/>
          </a:prstGeom>
        </p:spPr>
        <p:txBody>
          <a:bodyPr anchor="t" rtlCol="false" tIns="0" lIns="0" bIns="0" rIns="0">
            <a:spAutoFit/>
          </a:bodyPr>
          <a:lstStyle/>
          <a:p>
            <a:pPr algn="ctr">
              <a:lnSpc>
                <a:spcPts val="7279"/>
              </a:lnSpc>
            </a:pPr>
            <a:r>
              <a:rPr lang="en-US" sz="5199">
                <a:solidFill>
                  <a:srgbClr val="622512"/>
                </a:solidFill>
                <a:latin typeface="M Plus Rounded Black"/>
                <a:ea typeface="M Plus Rounded Black"/>
                <a:cs typeface="M Plus Rounded Black"/>
                <a:sym typeface="M Plus Rounded Black"/>
              </a:rPr>
              <a:t>４－⑤総菜・外食の選び方</a:t>
            </a:r>
          </a:p>
        </p:txBody>
      </p:sp>
      <p:sp>
        <p:nvSpPr>
          <p:cNvPr name="TextBox 3" id="3"/>
          <p:cNvSpPr txBox="true"/>
          <p:nvPr/>
        </p:nvSpPr>
        <p:spPr>
          <a:xfrm rot="0">
            <a:off x="12989800" y="9463761"/>
            <a:ext cx="5298200" cy="608965"/>
          </a:xfrm>
          <a:prstGeom prst="rect">
            <a:avLst/>
          </a:prstGeom>
        </p:spPr>
        <p:txBody>
          <a:bodyPr anchor="t" rtlCol="false" tIns="0" lIns="0" bIns="0" rIns="0">
            <a:spAutoFit/>
          </a:bodyPr>
          <a:lstStyle/>
          <a:p>
            <a:pPr algn="ctr">
              <a:lnSpc>
                <a:spcPts val="4759"/>
              </a:lnSpc>
            </a:pPr>
            <a:r>
              <a:rPr lang="en-US" sz="3399">
                <a:solidFill>
                  <a:srgbClr val="66461F"/>
                </a:solidFill>
                <a:latin typeface="M Plus Rounded Black"/>
                <a:ea typeface="M Plus Rounded Black"/>
                <a:cs typeface="M Plus Rounded Black"/>
                <a:sym typeface="M Plus Rounded Black"/>
              </a:rPr>
              <a:t>@海音～心体の調律～</a:t>
            </a:r>
          </a:p>
        </p:txBody>
      </p:sp>
      <p:sp>
        <p:nvSpPr>
          <p:cNvPr name="TextBox 4" id="4"/>
          <p:cNvSpPr txBox="true"/>
          <p:nvPr/>
        </p:nvSpPr>
        <p:spPr>
          <a:xfrm rot="0">
            <a:off x="1210179" y="1270991"/>
            <a:ext cx="16464483" cy="7427098"/>
          </a:xfrm>
          <a:prstGeom prst="rect">
            <a:avLst/>
          </a:prstGeom>
        </p:spPr>
        <p:txBody>
          <a:bodyPr anchor="t" rtlCol="false" tIns="0" lIns="0" bIns="0" rIns="0">
            <a:spAutoFit/>
          </a:bodyPr>
          <a:lstStyle/>
          <a:p>
            <a:pPr algn="ctr">
              <a:lnSpc>
                <a:spcPts val="5880"/>
              </a:lnSpc>
            </a:pPr>
            <a:r>
              <a:rPr lang="en-US" sz="4200" b="true">
                <a:solidFill>
                  <a:srgbClr val="622512"/>
                </a:solidFill>
                <a:latin typeface="M+ Bold"/>
                <a:ea typeface="M+ Bold"/>
                <a:cs typeface="M+ Bold"/>
                <a:sym typeface="M+ Bold"/>
              </a:rPr>
              <a:t>迷ったら下記を基準に選ぶ</a:t>
            </a:r>
          </a:p>
          <a:p>
            <a:pPr algn="ctr">
              <a:lnSpc>
                <a:spcPts val="5880"/>
              </a:lnSpc>
            </a:pPr>
            <a:r>
              <a:rPr lang="en-US" sz="4200" b="true">
                <a:solidFill>
                  <a:srgbClr val="622512"/>
                </a:solidFill>
                <a:latin typeface="M+ Bold"/>
                <a:ea typeface="M+ Bold"/>
                <a:cs typeface="M+ Bold"/>
                <a:sym typeface="M+ Bold"/>
              </a:rPr>
              <a:t>もうこれが食べたいと１択の時には、</a:t>
            </a:r>
          </a:p>
          <a:p>
            <a:pPr algn="ctr">
              <a:lnSpc>
                <a:spcPts val="5880"/>
              </a:lnSpc>
            </a:pPr>
            <a:r>
              <a:rPr lang="en-US" sz="4200" b="true">
                <a:solidFill>
                  <a:srgbClr val="622512"/>
                </a:solidFill>
                <a:latin typeface="M+ Bold"/>
                <a:ea typeface="M+ Bold"/>
                <a:cs typeface="M+ Bold"/>
                <a:sym typeface="M+ Bold"/>
              </a:rPr>
              <a:t>その総菜・お弁当・外食の物を食べる！！</a:t>
            </a:r>
          </a:p>
          <a:p>
            <a:pPr algn="ctr">
              <a:lnSpc>
                <a:spcPts val="5880"/>
              </a:lnSpc>
            </a:pPr>
          </a:p>
          <a:p>
            <a:pPr algn="l">
              <a:lnSpc>
                <a:spcPts val="5880"/>
              </a:lnSpc>
            </a:pPr>
            <a:r>
              <a:rPr lang="en-US" sz="4200" b="true">
                <a:solidFill>
                  <a:srgbClr val="622512"/>
                </a:solidFill>
                <a:latin typeface="M+ Bold"/>
                <a:ea typeface="M+ Bold"/>
                <a:cs typeface="M+ Bold"/>
                <a:sym typeface="M+ Bold"/>
              </a:rPr>
              <a:t>１．取りたい食材が多く入っているものを選ぶ</a:t>
            </a:r>
          </a:p>
          <a:p>
            <a:pPr algn="l">
              <a:lnSpc>
                <a:spcPts val="5880"/>
              </a:lnSpc>
            </a:pPr>
            <a:r>
              <a:rPr lang="en-US" sz="4200" b="true">
                <a:solidFill>
                  <a:srgbClr val="622512"/>
                </a:solidFill>
                <a:latin typeface="M+ Bold"/>
                <a:ea typeface="M+ Bold"/>
                <a:cs typeface="M+ Bold"/>
                <a:sym typeface="M+ Bold"/>
              </a:rPr>
              <a:t>２．添加物の少なそうなものを選ぶ</a:t>
            </a:r>
          </a:p>
          <a:p>
            <a:pPr algn="l">
              <a:lnSpc>
                <a:spcPts val="5880"/>
              </a:lnSpc>
            </a:pPr>
            <a:r>
              <a:rPr lang="en-US" sz="4200" b="true">
                <a:solidFill>
                  <a:srgbClr val="622512"/>
                </a:solidFill>
                <a:latin typeface="M+ Bold"/>
                <a:ea typeface="M+ Bold"/>
                <a:cs typeface="M+ Bold"/>
                <a:sym typeface="M+ Bold"/>
              </a:rPr>
              <a:t>３．コンビニ＜スーパー＜お弁当屋さんの</a:t>
            </a:r>
          </a:p>
          <a:p>
            <a:pPr algn="l">
              <a:lnSpc>
                <a:spcPts val="5880"/>
              </a:lnSpc>
            </a:pPr>
            <a:r>
              <a:rPr lang="en-US" sz="4200" b="true">
                <a:solidFill>
                  <a:srgbClr val="622512"/>
                </a:solidFill>
                <a:latin typeface="M+ Bold"/>
                <a:ea typeface="M+ Bold"/>
                <a:cs typeface="M+ Bold"/>
                <a:sym typeface="M+ Bold"/>
              </a:rPr>
              <a:t>　　優先順位で選ぶ</a:t>
            </a:r>
          </a:p>
          <a:p>
            <a:pPr algn="l">
              <a:lnSpc>
                <a:spcPts val="5880"/>
              </a:lnSpc>
            </a:pPr>
            <a:r>
              <a:rPr lang="en-US" sz="4200" b="true">
                <a:solidFill>
                  <a:srgbClr val="622512"/>
                </a:solidFill>
                <a:latin typeface="M+ Bold"/>
                <a:ea typeface="M+ Bold"/>
                <a:cs typeface="M+ Bold"/>
                <a:sym typeface="M+ Bold"/>
              </a:rPr>
              <a:t>４．インスタント＜お弁当</a:t>
            </a:r>
          </a:p>
          <a:p>
            <a:pPr algn="l">
              <a:lnSpc>
                <a:spcPts val="5880"/>
              </a:lnSpc>
            </a:pPr>
            <a:r>
              <a:rPr lang="en-US" sz="4200" b="true">
                <a:solidFill>
                  <a:srgbClr val="622512"/>
                </a:solidFill>
                <a:latin typeface="M+ Bold"/>
                <a:ea typeface="M+ Bold"/>
                <a:cs typeface="M+ Bold"/>
                <a:sym typeface="M+ Bold"/>
              </a:rPr>
              <a:t>５．マグネシウム取るために、お豆腐は木綿豆腐をえらんで！！</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8F2ED"/>
        </a:solidFill>
      </p:bgPr>
    </p:bg>
    <p:spTree>
      <p:nvGrpSpPr>
        <p:cNvPr id="1" name=""/>
        <p:cNvGrpSpPr/>
        <p:nvPr/>
      </p:nvGrpSpPr>
      <p:grpSpPr/>
      <p:sp>
        <p:nvSpPr>
          <p:cNvPr name="TextBox 2" id="2"/>
          <p:cNvSpPr txBox="true"/>
          <p:nvPr/>
        </p:nvSpPr>
        <p:spPr>
          <a:xfrm rot="0">
            <a:off x="0" y="-123825"/>
            <a:ext cx="18288000" cy="10676669"/>
          </a:xfrm>
          <a:prstGeom prst="rect">
            <a:avLst/>
          </a:prstGeom>
        </p:spPr>
        <p:txBody>
          <a:bodyPr anchor="t" rtlCol="false" tIns="0" lIns="0" bIns="0" rIns="0">
            <a:spAutoFit/>
          </a:bodyPr>
          <a:lstStyle/>
          <a:p>
            <a:pPr algn="just">
              <a:lnSpc>
                <a:spcPts val="6347"/>
              </a:lnSpc>
            </a:pPr>
            <a:r>
              <a:t/>
            </a:r>
          </a:p>
          <a:p>
            <a:pPr algn="just">
              <a:lnSpc>
                <a:spcPts val="6347"/>
              </a:lnSpc>
            </a:pPr>
            <a:r>
              <a:rPr lang="en-US" sz="4533">
                <a:solidFill>
                  <a:srgbClr val="622512"/>
                </a:solidFill>
                <a:latin typeface="M Plus Rounded Black"/>
                <a:ea typeface="M Plus Rounded Black"/>
                <a:cs typeface="M Plus Rounded Black"/>
                <a:sym typeface="M Plus Rounded Black"/>
              </a:rPr>
              <a:t>　　　　　　　　　　　　　　　つらくなったときの連絡先</a:t>
            </a:r>
          </a:p>
          <a:p>
            <a:pPr algn="just">
              <a:lnSpc>
                <a:spcPts val="6347"/>
              </a:lnSpc>
            </a:pPr>
            <a:r>
              <a:t/>
            </a:r>
          </a:p>
          <a:p>
            <a:pPr algn="just">
              <a:lnSpc>
                <a:spcPts val="4200"/>
              </a:lnSpc>
            </a:pPr>
            <a:r>
              <a:rPr lang="en-US" sz="3000">
                <a:solidFill>
                  <a:srgbClr val="622512"/>
                </a:solidFill>
                <a:latin typeface="M Plus Rounded Black"/>
                <a:ea typeface="M Plus Rounded Black"/>
                <a:cs typeface="M Plus Rounded Black"/>
                <a:sym typeface="M Plus Rounded Black"/>
              </a:rPr>
              <a:t>　　　　　　　　ひとりで抱えなくて大丈夫です。どこか１つに連絡してください。</a:t>
            </a:r>
          </a:p>
          <a:p>
            <a:pPr algn="just">
              <a:lnSpc>
                <a:spcPts val="6347"/>
              </a:lnSpc>
            </a:pPr>
            <a:r>
              <a:t/>
            </a:r>
          </a:p>
          <a:p>
            <a:pPr algn="just">
              <a:lnSpc>
                <a:spcPts val="4200"/>
              </a:lnSpc>
            </a:pPr>
            <a:r>
              <a:rPr lang="en-US" sz="3000">
                <a:solidFill>
                  <a:srgbClr val="622512"/>
                </a:solidFill>
                <a:latin typeface="M Plus Rounded Black"/>
                <a:ea typeface="M Plus Rounded Black"/>
                <a:cs typeface="M Plus Rounded Black"/>
                <a:sym typeface="M Plus Rounded Black"/>
              </a:rPr>
              <a:t>　　　　　　　　・主治医（かかりつけの精神科）：＿＿＿＿＿＿＿＿＿＿</a:t>
            </a:r>
          </a:p>
          <a:p>
            <a:pPr algn="just">
              <a:lnSpc>
                <a:spcPts val="4200"/>
              </a:lnSpc>
            </a:pPr>
            <a:r>
              <a:rPr lang="en-US" sz="3000">
                <a:solidFill>
                  <a:srgbClr val="622512"/>
                </a:solidFill>
                <a:latin typeface="M Plus Rounded Black"/>
                <a:ea typeface="M Plus Rounded Black"/>
                <a:cs typeface="M Plus Rounded Black"/>
                <a:sym typeface="M Plus Rounded Black"/>
              </a:rPr>
              <a:t>　　　　　　　　・ご家族・信頼できる人：＿＿＿＿＿＿＿＿＿＿</a:t>
            </a:r>
          </a:p>
          <a:p>
            <a:pPr algn="just">
              <a:lnSpc>
                <a:spcPts val="4200"/>
              </a:lnSpc>
            </a:pPr>
            <a:r>
              <a:rPr lang="en-US" sz="3000">
                <a:solidFill>
                  <a:srgbClr val="622512"/>
                </a:solidFill>
                <a:latin typeface="M Plus Rounded Black"/>
                <a:ea typeface="M Plus Rounded Black"/>
                <a:cs typeface="M Plus Rounded Black"/>
                <a:sym typeface="M Plus Rounded Black"/>
              </a:rPr>
              <a:t>　　　　　　　　・髙橋由香（企業のオンライン保健室）：＿＿＿＿＿＿＿＿＿＿</a:t>
            </a:r>
          </a:p>
          <a:p>
            <a:pPr algn="just">
              <a:lnSpc>
                <a:spcPts val="4200"/>
              </a:lnSpc>
            </a:pPr>
            <a:r>
              <a:rPr lang="en-US" sz="3000">
                <a:solidFill>
                  <a:srgbClr val="622512"/>
                </a:solidFill>
                <a:latin typeface="M Plus Rounded Black"/>
                <a:ea typeface="M Plus Rounded Black"/>
                <a:cs typeface="M Plus Rounded Black"/>
                <a:sym typeface="M Plus Rounded Black"/>
              </a:rPr>
              <a:t>　　　　　　　　・＃いのちSOS　0120-061-338</a:t>
            </a:r>
          </a:p>
          <a:p>
            <a:pPr algn="just">
              <a:lnSpc>
                <a:spcPts val="4200"/>
              </a:lnSpc>
            </a:pPr>
            <a:r>
              <a:rPr lang="en-US" sz="3000">
                <a:solidFill>
                  <a:srgbClr val="622512"/>
                </a:solidFill>
                <a:latin typeface="M Plus Rounded Black"/>
                <a:ea typeface="M Plus Rounded Black"/>
                <a:cs typeface="M Plus Rounded Black"/>
                <a:sym typeface="M Plus Rounded Black"/>
              </a:rPr>
              <a:t>　　　　　　　　・よりそいホットライン　0120-279-338</a:t>
            </a:r>
          </a:p>
          <a:p>
            <a:pPr algn="just">
              <a:lnSpc>
                <a:spcPts val="4200"/>
              </a:lnSpc>
            </a:pPr>
            <a:r>
              <a:rPr lang="en-US" sz="3000">
                <a:solidFill>
                  <a:srgbClr val="622512"/>
                </a:solidFill>
                <a:latin typeface="M Plus Rounded Black"/>
                <a:ea typeface="M Plus Rounded Black"/>
                <a:cs typeface="M Plus Rounded Black"/>
                <a:sym typeface="M Plus Rounded Black"/>
              </a:rPr>
              <a:t>　　　　　　　　・こころの健康相談統一ダイヤル　0570-064-556</a:t>
            </a:r>
          </a:p>
          <a:p>
            <a:pPr algn="just">
              <a:lnSpc>
                <a:spcPts val="4200"/>
              </a:lnSpc>
            </a:pPr>
            <a:r>
              <a:rPr lang="en-US" sz="3000">
                <a:solidFill>
                  <a:srgbClr val="622512"/>
                </a:solidFill>
                <a:latin typeface="M Plus Rounded Black"/>
                <a:ea typeface="M Plus Rounded Black"/>
                <a:cs typeface="M Plus Rounded Black"/>
                <a:sym typeface="M Plus Rounded Black"/>
              </a:rPr>
              <a:t>　　　　　　　　・命の危険を感じたら　119（救急）／110（警察）</a:t>
            </a:r>
          </a:p>
          <a:p>
            <a:pPr algn="just">
              <a:lnSpc>
                <a:spcPts val="4200"/>
              </a:lnSpc>
            </a:pPr>
            <a:r>
              <a:rPr lang="en-US" sz="3000">
                <a:solidFill>
                  <a:srgbClr val="622512"/>
                </a:solidFill>
                <a:latin typeface="M Plus Rounded Black"/>
                <a:ea typeface="M Plus Rounded Black"/>
                <a:cs typeface="M Plus Rounded Black"/>
                <a:sym typeface="M Plus Rounded Black"/>
              </a:rPr>
              <a:t>　　　　　　　　　※受付時間は各窓口のホームページでご確認ください</a:t>
            </a:r>
          </a:p>
        </p:txBody>
      </p:sp>
      <p:sp>
        <p:nvSpPr>
          <p:cNvPr name="TextBox 3" id="3"/>
          <p:cNvSpPr txBox="true"/>
          <p:nvPr/>
        </p:nvSpPr>
        <p:spPr>
          <a:xfrm rot="0">
            <a:off x="12989800" y="9454236"/>
            <a:ext cx="5298200" cy="608965"/>
          </a:xfrm>
          <a:prstGeom prst="rect">
            <a:avLst/>
          </a:prstGeom>
        </p:spPr>
        <p:txBody>
          <a:bodyPr anchor="t" rtlCol="false" tIns="0" lIns="0" bIns="0" rIns="0">
            <a:spAutoFit/>
          </a:bodyPr>
          <a:lstStyle/>
          <a:p>
            <a:pPr algn="ctr">
              <a:lnSpc>
                <a:spcPts val="4759"/>
              </a:lnSpc>
            </a:pPr>
            <a:r>
              <a:rPr lang="en-US" sz="3399">
                <a:solidFill>
                  <a:srgbClr val="66461F"/>
                </a:solidFill>
                <a:latin typeface="M Plus Rounded Black"/>
                <a:ea typeface="M Plus Rounded Black"/>
                <a:cs typeface="M Plus Rounded Black"/>
                <a:sym typeface="M Plus Rounded Black"/>
              </a:rPr>
              <a:t>@海音～心体の調律～</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8F2ED"/>
        </a:solidFill>
      </p:bgPr>
    </p:bg>
    <p:spTree>
      <p:nvGrpSpPr>
        <p:cNvPr id="1" name=""/>
        <p:cNvGrpSpPr/>
        <p:nvPr/>
      </p:nvGrpSpPr>
      <p:grpSpPr/>
      <p:sp>
        <p:nvSpPr>
          <p:cNvPr name="TextBox 2" id="2"/>
          <p:cNvSpPr txBox="true"/>
          <p:nvPr/>
        </p:nvSpPr>
        <p:spPr>
          <a:xfrm rot="0">
            <a:off x="0" y="-123825"/>
            <a:ext cx="18288000" cy="10143269"/>
          </a:xfrm>
          <a:prstGeom prst="rect">
            <a:avLst/>
          </a:prstGeom>
        </p:spPr>
        <p:txBody>
          <a:bodyPr anchor="t" rtlCol="false" tIns="0" lIns="0" bIns="0" rIns="0">
            <a:spAutoFit/>
          </a:bodyPr>
          <a:lstStyle/>
          <a:p>
            <a:pPr algn="l">
              <a:lnSpc>
                <a:spcPts val="6347"/>
              </a:lnSpc>
            </a:pPr>
            <a:r>
              <a:t/>
            </a:r>
          </a:p>
          <a:p>
            <a:pPr algn="ctr">
              <a:lnSpc>
                <a:spcPts val="6347"/>
              </a:lnSpc>
            </a:pPr>
            <a:r>
              <a:rPr lang="en-US" sz="4533">
                <a:solidFill>
                  <a:srgbClr val="622512"/>
                </a:solidFill>
                <a:latin typeface="M Plus Rounded Black"/>
                <a:ea typeface="M Plus Rounded Black"/>
                <a:cs typeface="M Plus Rounded Black"/>
                <a:sym typeface="M Plus Rounded Black"/>
              </a:rPr>
              <a:t>昨日、会社にお伝えしたこと</a:t>
            </a:r>
          </a:p>
          <a:p>
            <a:pPr algn="l">
              <a:lnSpc>
                <a:spcPts val="6347"/>
              </a:lnSpc>
            </a:pPr>
            <a:r>
              <a:t/>
            </a:r>
          </a:p>
          <a:p>
            <a:pPr algn="l">
              <a:lnSpc>
                <a:spcPts val="4200"/>
              </a:lnSpc>
            </a:pPr>
            <a:r>
              <a:rPr lang="en-US" sz="3000">
                <a:solidFill>
                  <a:srgbClr val="622512"/>
                </a:solidFill>
                <a:latin typeface="M Plus Rounded Black"/>
                <a:ea typeface="M Plus Rounded Black"/>
                <a:cs typeface="M Plus Rounded Black"/>
                <a:sym typeface="M Plus Rounded Black"/>
              </a:rPr>
              <a:t>　　　　　　【お伝えしたこと】</a:t>
            </a:r>
          </a:p>
          <a:p>
            <a:pPr algn="l">
              <a:lnSpc>
                <a:spcPts val="4200"/>
              </a:lnSpc>
            </a:pPr>
            <a:r>
              <a:rPr lang="en-US" sz="3000">
                <a:solidFill>
                  <a:srgbClr val="622512"/>
                </a:solidFill>
                <a:latin typeface="M Plus Rounded Black"/>
                <a:ea typeface="M Plus Rounded Black"/>
                <a:cs typeface="M Plus Rounded Black"/>
                <a:sym typeface="M Plus Rounded Black"/>
              </a:rPr>
              <a:t>　　　　　　・今日、お話しする予定があること</a:t>
            </a:r>
          </a:p>
          <a:p>
            <a:pPr algn="l">
              <a:lnSpc>
                <a:spcPts val="4200"/>
              </a:lnSpc>
            </a:pPr>
            <a:r>
              <a:rPr lang="en-US" sz="3000">
                <a:solidFill>
                  <a:srgbClr val="622512"/>
                </a:solidFill>
                <a:latin typeface="M Plus Rounded Black"/>
                <a:ea typeface="M Plus Rounded Black"/>
                <a:cs typeface="M Plus Rounded Black"/>
                <a:sym typeface="M Plus Rounded Black"/>
              </a:rPr>
              <a:t>　　　　　　・体調を整えようと、努力していること</a:t>
            </a:r>
          </a:p>
          <a:p>
            <a:pPr algn="l">
              <a:lnSpc>
                <a:spcPts val="4200"/>
              </a:lnSpc>
            </a:pPr>
            <a:r>
              <a:rPr lang="en-US" sz="3000">
                <a:solidFill>
                  <a:srgbClr val="622512"/>
                </a:solidFill>
                <a:latin typeface="M Plus Rounded Black"/>
                <a:ea typeface="M Plus Rounded Black"/>
                <a:cs typeface="M Plus Rounded Black"/>
                <a:sym typeface="M Plus Rounded Black"/>
              </a:rPr>
              <a:t>　　　　　　・お仕事に行こうとすると、体調が崩れてしまうこと</a:t>
            </a:r>
          </a:p>
          <a:p>
            <a:pPr algn="l">
              <a:lnSpc>
                <a:spcPts val="4200"/>
              </a:lnSpc>
            </a:pPr>
            <a:r>
              <a:rPr lang="en-US" sz="3000">
                <a:solidFill>
                  <a:srgbClr val="622512"/>
                </a:solidFill>
                <a:latin typeface="M Plus Rounded Black"/>
                <a:ea typeface="M Plus Rounded Black"/>
                <a:cs typeface="M Plus Rounded Black"/>
                <a:sym typeface="M Plus Rounded Black"/>
              </a:rPr>
              <a:t>　　　　　　・お仕事に戻れるかは、まだ判断できないこと</a:t>
            </a:r>
          </a:p>
          <a:p>
            <a:pPr algn="l">
              <a:lnSpc>
                <a:spcPts val="4200"/>
              </a:lnSpc>
            </a:pPr>
            <a:r>
              <a:rPr lang="en-US" sz="3000">
                <a:solidFill>
                  <a:srgbClr val="622512"/>
                </a:solidFill>
                <a:latin typeface="M Plus Rounded Black"/>
                <a:ea typeface="M Plus Rounded Black"/>
                <a:cs typeface="M Plus Rounded Black"/>
                <a:sym typeface="M Plus Rounded Black"/>
              </a:rPr>
              <a:t>　　　　　　・お休みの理由に、心当たりが出てきたこと（中身は伝えていません）</a:t>
            </a:r>
          </a:p>
          <a:p>
            <a:pPr algn="l">
              <a:lnSpc>
                <a:spcPts val="4200"/>
              </a:lnSpc>
            </a:pPr>
            <a:r>
              <a:rPr lang="en-US" sz="3000">
                <a:solidFill>
                  <a:srgbClr val="622512"/>
                </a:solidFill>
                <a:latin typeface="M Plus Rounded Black"/>
                <a:ea typeface="M Plus Rounded Black"/>
                <a:cs typeface="M Plus Rounded Black"/>
                <a:sym typeface="M Plus Rounded Black"/>
              </a:rPr>
              <a:t>　　　　　　【お伝えしていないこと】</a:t>
            </a:r>
          </a:p>
          <a:p>
            <a:pPr algn="l">
              <a:lnSpc>
                <a:spcPts val="4200"/>
              </a:lnSpc>
            </a:pPr>
            <a:r>
              <a:rPr lang="en-US" sz="3000">
                <a:solidFill>
                  <a:srgbClr val="622512"/>
                </a:solidFill>
                <a:latin typeface="M Plus Rounded Black"/>
                <a:ea typeface="M Plus Rounded Black"/>
                <a:cs typeface="M Plus Rounded Black"/>
                <a:sym typeface="M Plus Rounded Black"/>
              </a:rPr>
              <a:t>　　　　　　・LINEで話してくれた中身　・問診票やチェックの細かい結果</a:t>
            </a:r>
          </a:p>
          <a:p>
            <a:pPr algn="l">
              <a:lnSpc>
                <a:spcPts val="4200"/>
              </a:lnSpc>
            </a:pPr>
            <a:r>
              <a:rPr lang="en-US" sz="3000">
                <a:solidFill>
                  <a:srgbClr val="622512"/>
                </a:solidFill>
                <a:latin typeface="M Plus Rounded Black"/>
                <a:ea typeface="M Plus Rounded Black"/>
                <a:cs typeface="M Plus Rounded Black"/>
                <a:sym typeface="M Plus Rounded Black"/>
              </a:rPr>
              <a:t>　　　　　　・「特定の人」のこと</a:t>
            </a:r>
          </a:p>
          <a:p>
            <a:pPr algn="l">
              <a:lnSpc>
                <a:spcPts val="6347"/>
              </a:lnSpc>
            </a:pPr>
            <a:r>
              <a:t/>
            </a:r>
          </a:p>
          <a:p>
            <a:pPr algn="ctr">
              <a:lnSpc>
                <a:spcPts val="4200"/>
              </a:lnSpc>
            </a:pPr>
            <a:r>
              <a:rPr lang="en-US" sz="3000">
                <a:solidFill>
                  <a:srgbClr val="622512"/>
                </a:solidFill>
                <a:latin typeface="M Plus Rounded Black"/>
                <a:ea typeface="M Plus Rounded Black"/>
                <a:cs typeface="M Plus Rounded Black"/>
                <a:sym typeface="M Plus Rounded Black"/>
              </a:rPr>
              <a:t>これからも、奥田さんの許可なく会社にお伝えすることはしません。</a:t>
            </a:r>
          </a:p>
          <a:p>
            <a:pPr algn="ctr">
              <a:lnSpc>
                <a:spcPts val="4200"/>
              </a:lnSpc>
            </a:pPr>
            <a:r>
              <a:rPr lang="en-US" sz="3000">
                <a:solidFill>
                  <a:srgbClr val="622512"/>
                </a:solidFill>
                <a:latin typeface="M Plus Rounded Black"/>
                <a:ea typeface="M Plus Rounded Black"/>
                <a:cs typeface="M Plus Rounded Black"/>
                <a:sym typeface="M Plus Rounded Black"/>
              </a:rPr>
              <a:t>（命と安全に関わるときだけは、守ることを一番にします）</a:t>
            </a:r>
          </a:p>
        </p:txBody>
      </p:sp>
      <p:sp>
        <p:nvSpPr>
          <p:cNvPr name="TextBox 3" id="3"/>
          <p:cNvSpPr txBox="true"/>
          <p:nvPr/>
        </p:nvSpPr>
        <p:spPr>
          <a:xfrm rot="0">
            <a:off x="12989800" y="9368511"/>
            <a:ext cx="5298200" cy="608965"/>
          </a:xfrm>
          <a:prstGeom prst="rect">
            <a:avLst/>
          </a:prstGeom>
        </p:spPr>
        <p:txBody>
          <a:bodyPr anchor="t" rtlCol="false" tIns="0" lIns="0" bIns="0" rIns="0">
            <a:spAutoFit/>
          </a:bodyPr>
          <a:lstStyle/>
          <a:p>
            <a:pPr algn="ctr">
              <a:lnSpc>
                <a:spcPts val="4759"/>
              </a:lnSpc>
            </a:pPr>
            <a:r>
              <a:rPr lang="en-US" sz="3399">
                <a:solidFill>
                  <a:srgbClr val="66461F"/>
                </a:solidFill>
                <a:latin typeface="M Plus Rounded Black"/>
                <a:ea typeface="M Plus Rounded Black"/>
                <a:cs typeface="M Plus Rounded Black"/>
                <a:sym typeface="M Plus Rounded Black"/>
              </a:rPr>
              <a:t>@海音～心体の調律～</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8F2ED"/>
        </a:solidFill>
      </p:bgPr>
    </p:bg>
    <p:spTree>
      <p:nvGrpSpPr>
        <p:cNvPr id="1" name=""/>
        <p:cNvGrpSpPr/>
        <p:nvPr/>
      </p:nvGrpSpPr>
      <p:grpSpPr/>
      <p:sp>
        <p:nvSpPr>
          <p:cNvPr name="TextBox 2" id="2"/>
          <p:cNvSpPr txBox="true"/>
          <p:nvPr/>
        </p:nvSpPr>
        <p:spPr>
          <a:xfrm rot="0">
            <a:off x="0" y="-123825"/>
            <a:ext cx="18288000" cy="10143269"/>
          </a:xfrm>
          <a:prstGeom prst="rect">
            <a:avLst/>
          </a:prstGeom>
        </p:spPr>
        <p:txBody>
          <a:bodyPr anchor="t" rtlCol="false" tIns="0" lIns="0" bIns="0" rIns="0">
            <a:spAutoFit/>
          </a:bodyPr>
          <a:lstStyle/>
          <a:p>
            <a:pPr algn="l">
              <a:lnSpc>
                <a:spcPts val="6347"/>
              </a:lnSpc>
            </a:pPr>
            <a:r>
              <a:t/>
            </a:r>
          </a:p>
          <a:p>
            <a:pPr algn="ctr">
              <a:lnSpc>
                <a:spcPts val="6347"/>
              </a:lnSpc>
            </a:pPr>
            <a:r>
              <a:rPr lang="en-US" sz="4533">
                <a:solidFill>
                  <a:srgbClr val="622512"/>
                </a:solidFill>
                <a:latin typeface="M Plus Rounded Black"/>
                <a:ea typeface="M Plus Rounded Black"/>
                <a:cs typeface="M Plus Rounded Black"/>
                <a:sym typeface="M Plus Rounded Black"/>
              </a:rPr>
              <a:t>今日は、奥田さんのお話を聞く時間です</a:t>
            </a:r>
          </a:p>
          <a:p>
            <a:pPr algn="l">
              <a:lnSpc>
                <a:spcPts val="6347"/>
              </a:lnSpc>
            </a:pPr>
            <a:r>
              <a:t/>
            </a:r>
          </a:p>
          <a:p>
            <a:pPr algn="l">
              <a:lnSpc>
                <a:spcPts val="4200"/>
              </a:lnSpc>
            </a:pPr>
            <a:r>
              <a:rPr lang="en-US" sz="3000">
                <a:solidFill>
                  <a:srgbClr val="622512"/>
                </a:solidFill>
                <a:latin typeface="M Plus Rounded Black"/>
                <a:ea typeface="M Plus Rounded Black"/>
                <a:cs typeface="M Plus Rounded Black"/>
                <a:sym typeface="M Plus Rounded Black"/>
              </a:rPr>
              <a:t>　　　　　　１．話せるところから、話せる分だけで大丈夫です。</a:t>
            </a:r>
          </a:p>
          <a:p>
            <a:pPr algn="l">
              <a:lnSpc>
                <a:spcPts val="4200"/>
              </a:lnSpc>
            </a:pPr>
            <a:r>
              <a:rPr lang="en-US" sz="3000">
                <a:solidFill>
                  <a:srgbClr val="622512"/>
                </a:solidFill>
                <a:latin typeface="M Plus Rounded Black"/>
                <a:ea typeface="M Plus Rounded Black"/>
                <a:cs typeface="M Plus Rounded Black"/>
                <a:sym typeface="M Plus Rounded Black"/>
              </a:rPr>
              <a:t>　　　　　　２．うまくまとめなくて大丈夫。途中で止めても大丈夫です。</a:t>
            </a:r>
          </a:p>
          <a:p>
            <a:pPr algn="l">
              <a:lnSpc>
                <a:spcPts val="4200"/>
              </a:lnSpc>
            </a:pPr>
            <a:r>
              <a:rPr lang="en-US" sz="3000">
                <a:solidFill>
                  <a:srgbClr val="622512"/>
                </a:solidFill>
                <a:latin typeface="M Plus Rounded Black"/>
                <a:ea typeface="M Plus Rounded Black"/>
                <a:cs typeface="M Plus Rounded Black"/>
                <a:sym typeface="M Plus Rounded Black"/>
              </a:rPr>
              <a:t>　　　　　　３．ここで聞いたことは、奥田さんの許可なく会社には伝えません。</a:t>
            </a:r>
          </a:p>
          <a:p>
            <a:pPr algn="l">
              <a:lnSpc>
                <a:spcPts val="6347"/>
              </a:lnSpc>
            </a:pPr>
            <a:r>
              <a:t/>
            </a:r>
          </a:p>
          <a:p>
            <a:pPr algn="l">
              <a:lnSpc>
                <a:spcPts val="6347"/>
              </a:lnSpc>
            </a:pPr>
            <a:r>
              <a:t/>
            </a:r>
          </a:p>
          <a:p>
            <a:pPr algn="ctr">
              <a:lnSpc>
                <a:spcPts val="4200"/>
              </a:lnSpc>
            </a:pPr>
            <a:r>
              <a:rPr lang="en-US" sz="3000">
                <a:solidFill>
                  <a:srgbClr val="622512"/>
                </a:solidFill>
                <a:latin typeface="M Plus Rounded Black"/>
                <a:ea typeface="M Plus Rounded Black"/>
                <a:cs typeface="M Plus Rounded Black"/>
                <a:sym typeface="M Plus Rounded Black"/>
              </a:rPr>
              <a:t>心当たりのこと、聞かせてもらえますか？</a:t>
            </a:r>
          </a:p>
        </p:txBody>
      </p:sp>
      <p:sp>
        <p:nvSpPr>
          <p:cNvPr name="TextBox 3" id="3"/>
          <p:cNvSpPr txBox="true"/>
          <p:nvPr/>
        </p:nvSpPr>
        <p:spPr>
          <a:xfrm rot="0">
            <a:off x="12989800" y="9368511"/>
            <a:ext cx="5298200" cy="608965"/>
          </a:xfrm>
          <a:prstGeom prst="rect">
            <a:avLst/>
          </a:prstGeom>
        </p:spPr>
        <p:txBody>
          <a:bodyPr anchor="t" rtlCol="false" tIns="0" lIns="0" bIns="0" rIns="0">
            <a:spAutoFit/>
          </a:bodyPr>
          <a:lstStyle/>
          <a:p>
            <a:pPr algn="ctr">
              <a:lnSpc>
                <a:spcPts val="4759"/>
              </a:lnSpc>
            </a:pPr>
            <a:r>
              <a:rPr lang="en-US" sz="3399">
                <a:solidFill>
                  <a:srgbClr val="66461F"/>
                </a:solidFill>
                <a:latin typeface="M Plus Rounded Black"/>
                <a:ea typeface="M Plus Rounded Black"/>
                <a:cs typeface="M Plus Rounded Black"/>
                <a:sym typeface="M Plus Rounded Black"/>
              </a:rPr>
              <a:t>@海音～心体の調律～</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8F2ED"/>
        </a:solidFill>
      </p:bgPr>
    </p:bg>
    <p:spTree>
      <p:nvGrpSpPr>
        <p:cNvPr id="1" name=""/>
        <p:cNvGrpSpPr/>
        <p:nvPr/>
      </p:nvGrpSpPr>
      <p:grpSpPr/>
      <p:sp>
        <p:nvSpPr>
          <p:cNvPr name="TextBox 2" id="2"/>
          <p:cNvSpPr txBox="true"/>
          <p:nvPr/>
        </p:nvSpPr>
        <p:spPr>
          <a:xfrm rot="0">
            <a:off x="0" y="-123825"/>
            <a:ext cx="18288000" cy="10143269"/>
          </a:xfrm>
          <a:prstGeom prst="rect">
            <a:avLst/>
          </a:prstGeom>
        </p:spPr>
        <p:txBody>
          <a:bodyPr anchor="t" rtlCol="false" tIns="0" lIns="0" bIns="0" rIns="0">
            <a:spAutoFit/>
          </a:bodyPr>
          <a:lstStyle/>
          <a:p>
            <a:pPr algn="l">
              <a:lnSpc>
                <a:spcPts val="6347"/>
              </a:lnSpc>
            </a:pPr>
            <a:r>
              <a:t/>
            </a:r>
          </a:p>
          <a:p>
            <a:pPr algn="ctr">
              <a:lnSpc>
                <a:spcPts val="6347"/>
              </a:lnSpc>
            </a:pPr>
            <a:r>
              <a:rPr lang="en-US" sz="4533">
                <a:solidFill>
                  <a:srgbClr val="622512"/>
                </a:solidFill>
                <a:latin typeface="M Plus Rounded Black"/>
                <a:ea typeface="M Plus Rounded Black"/>
                <a:cs typeface="M Plus Rounded Black"/>
                <a:sym typeface="M Plus Rounded Black"/>
              </a:rPr>
              <a:t>話してみて、これからどうしたいですか？</a:t>
            </a:r>
          </a:p>
          <a:p>
            <a:pPr algn="l">
              <a:lnSpc>
                <a:spcPts val="6347"/>
              </a:lnSpc>
            </a:pPr>
            <a:r>
              <a:t/>
            </a:r>
          </a:p>
          <a:p>
            <a:pPr algn="l">
              <a:lnSpc>
                <a:spcPts val="4200"/>
              </a:lnSpc>
            </a:pPr>
            <a:r>
              <a:rPr lang="en-US" sz="3000">
                <a:solidFill>
                  <a:srgbClr val="622512"/>
                </a:solidFill>
                <a:latin typeface="M Plus Rounded Black"/>
                <a:ea typeface="M Plus Rounded Black"/>
                <a:cs typeface="M Plus Rounded Black"/>
                <a:sym typeface="M Plus Rounded Black"/>
              </a:rPr>
              <a:t>　　　　　　・体のこと：どうなっていたらうれしいですか？</a:t>
            </a:r>
          </a:p>
          <a:p>
            <a:pPr algn="l">
              <a:lnSpc>
                <a:spcPts val="4200"/>
              </a:lnSpc>
            </a:pPr>
            <a:r>
              <a:rPr lang="en-US" sz="3000">
                <a:solidFill>
                  <a:srgbClr val="622512"/>
                </a:solidFill>
                <a:latin typeface="M Plus Rounded Black"/>
                <a:ea typeface="M Plus Rounded Black"/>
                <a:cs typeface="M Plus Rounded Black"/>
                <a:sym typeface="M Plus Rounded Black"/>
              </a:rPr>
              <a:t>　　　　　　・お仕事のこと：今、どんな気持ちですか？</a:t>
            </a:r>
          </a:p>
          <a:p>
            <a:pPr algn="l">
              <a:lnSpc>
                <a:spcPts val="4200"/>
              </a:lnSpc>
            </a:pPr>
            <a:r>
              <a:rPr lang="en-US" sz="3000">
                <a:solidFill>
                  <a:srgbClr val="622512"/>
                </a:solidFill>
                <a:latin typeface="M Plus Rounded Black"/>
                <a:ea typeface="M Plus Rounded Black"/>
                <a:cs typeface="M Plus Rounded Black"/>
                <a:sym typeface="M Plus Rounded Black"/>
              </a:rPr>
              <a:t>　　　　　　・今、いちばん困っていること・不安なことは？</a:t>
            </a:r>
          </a:p>
          <a:p>
            <a:pPr algn="l">
              <a:lnSpc>
                <a:spcPts val="6347"/>
              </a:lnSpc>
            </a:pPr>
            <a:r>
              <a:t/>
            </a:r>
          </a:p>
          <a:p>
            <a:pPr algn="l">
              <a:lnSpc>
                <a:spcPts val="6347"/>
              </a:lnSpc>
            </a:pPr>
            <a:r>
              <a:t/>
            </a:r>
          </a:p>
          <a:p>
            <a:pPr algn="ctr">
              <a:lnSpc>
                <a:spcPts val="4200"/>
              </a:lnSpc>
            </a:pPr>
            <a:r>
              <a:rPr lang="en-US" sz="3000">
                <a:solidFill>
                  <a:srgbClr val="622512"/>
                </a:solidFill>
                <a:latin typeface="M Plus Rounded Black"/>
                <a:ea typeface="M Plus Rounded Black"/>
                <a:cs typeface="M Plus Rounded Black"/>
                <a:sym typeface="M Plus Rounded Black"/>
              </a:rPr>
              <a:t>決めなくて大丈夫です。今の気持ちを、そのまま教えてください。</a:t>
            </a:r>
          </a:p>
        </p:txBody>
      </p:sp>
      <p:sp>
        <p:nvSpPr>
          <p:cNvPr name="TextBox 3" id="3"/>
          <p:cNvSpPr txBox="true"/>
          <p:nvPr/>
        </p:nvSpPr>
        <p:spPr>
          <a:xfrm rot="0">
            <a:off x="12989800" y="9368511"/>
            <a:ext cx="5298200" cy="608965"/>
          </a:xfrm>
          <a:prstGeom prst="rect">
            <a:avLst/>
          </a:prstGeom>
        </p:spPr>
        <p:txBody>
          <a:bodyPr anchor="t" rtlCol="false" tIns="0" lIns="0" bIns="0" rIns="0">
            <a:spAutoFit/>
          </a:bodyPr>
          <a:lstStyle/>
          <a:p>
            <a:pPr algn="ctr">
              <a:lnSpc>
                <a:spcPts val="4759"/>
              </a:lnSpc>
            </a:pPr>
            <a:r>
              <a:rPr lang="en-US" sz="3399">
                <a:solidFill>
                  <a:srgbClr val="66461F"/>
                </a:solidFill>
                <a:latin typeface="M Plus Rounded Black"/>
                <a:ea typeface="M Plus Rounded Black"/>
                <a:cs typeface="M Plus Rounded Black"/>
                <a:sym typeface="M Plus Rounded Black"/>
              </a:rPr>
              <a:t>@海音～心体の調律～</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8F2ED"/>
        </a:solidFill>
      </p:bgPr>
    </p:bg>
    <p:spTree>
      <p:nvGrpSpPr>
        <p:cNvPr id="1" name=""/>
        <p:cNvGrpSpPr/>
        <p:nvPr/>
      </p:nvGrpSpPr>
      <p:grpSpPr/>
      <p:sp>
        <p:nvSpPr>
          <p:cNvPr name="TextBox 2" id="2"/>
          <p:cNvSpPr txBox="true"/>
          <p:nvPr/>
        </p:nvSpPr>
        <p:spPr>
          <a:xfrm rot="0">
            <a:off x="0" y="-123825"/>
            <a:ext cx="18288000" cy="10143269"/>
          </a:xfrm>
          <a:prstGeom prst="rect">
            <a:avLst/>
          </a:prstGeom>
        </p:spPr>
        <p:txBody>
          <a:bodyPr anchor="t" rtlCol="false" tIns="0" lIns="0" bIns="0" rIns="0">
            <a:spAutoFit/>
          </a:bodyPr>
          <a:lstStyle/>
          <a:p>
            <a:pPr algn="l">
              <a:lnSpc>
                <a:spcPts val="6347"/>
              </a:lnSpc>
            </a:pPr>
            <a:r>
              <a:t/>
            </a:r>
          </a:p>
          <a:p>
            <a:pPr algn="ctr">
              <a:lnSpc>
                <a:spcPts val="6347"/>
              </a:lnSpc>
            </a:pPr>
            <a:r>
              <a:rPr lang="en-US" sz="4533">
                <a:solidFill>
                  <a:srgbClr val="622512"/>
                </a:solidFill>
                <a:latin typeface="M Plus Rounded Black"/>
                <a:ea typeface="M Plus Rounded Black"/>
                <a:cs typeface="M Plus Rounded Black"/>
                <a:sym typeface="M Plus Rounded Black"/>
              </a:rPr>
              <a:t>会社に伝えてよいこと・伝えたくないこと</a:t>
            </a:r>
          </a:p>
          <a:p>
            <a:pPr algn="l">
              <a:lnSpc>
                <a:spcPts val="6347"/>
              </a:lnSpc>
            </a:pPr>
            <a:r>
              <a:t/>
            </a:r>
          </a:p>
          <a:p>
            <a:pPr algn="ctr">
              <a:lnSpc>
                <a:spcPts val="4200"/>
              </a:lnSpc>
            </a:pPr>
            <a:r>
              <a:rPr lang="en-US" sz="3000">
                <a:solidFill>
                  <a:srgbClr val="622512"/>
                </a:solidFill>
                <a:latin typeface="M Plus Rounded Black"/>
                <a:ea typeface="M Plus Rounded Black"/>
                <a:cs typeface="M Plus Rounded Black"/>
                <a:sym typeface="M Plus Rounded Black"/>
              </a:rPr>
              <a:t>一緒に確認させてください。</a:t>
            </a:r>
          </a:p>
          <a:p>
            <a:pPr algn="l">
              <a:lnSpc>
                <a:spcPts val="6347"/>
              </a:lnSpc>
            </a:pPr>
            <a:r>
              <a:t/>
            </a:r>
          </a:p>
          <a:p>
            <a:pPr algn="l">
              <a:lnSpc>
                <a:spcPts val="4200"/>
              </a:lnSpc>
            </a:pPr>
            <a:r>
              <a:rPr lang="en-US" sz="3000">
                <a:solidFill>
                  <a:srgbClr val="622512"/>
                </a:solidFill>
                <a:latin typeface="M Plus Rounded Black"/>
                <a:ea typeface="M Plus Rounded Black"/>
                <a:cs typeface="M Plus Rounded Black"/>
                <a:sym typeface="M Plus Rounded Black"/>
              </a:rPr>
              <a:t>　　　　　　【伝えてよいこと】＿＿＿＿＿＿＿＿＿＿＿＿＿＿＿＿＿＿</a:t>
            </a:r>
          </a:p>
          <a:p>
            <a:pPr algn="l">
              <a:lnSpc>
                <a:spcPts val="6347"/>
              </a:lnSpc>
            </a:pPr>
            <a:r>
              <a:t/>
            </a:r>
          </a:p>
          <a:p>
            <a:pPr algn="l">
              <a:lnSpc>
                <a:spcPts val="4200"/>
              </a:lnSpc>
            </a:pPr>
            <a:r>
              <a:rPr lang="en-US" sz="3000">
                <a:solidFill>
                  <a:srgbClr val="622512"/>
                </a:solidFill>
                <a:latin typeface="M Plus Rounded Black"/>
                <a:ea typeface="M Plus Rounded Black"/>
                <a:cs typeface="M Plus Rounded Black"/>
                <a:sym typeface="M Plus Rounded Black"/>
              </a:rPr>
              <a:t>　　　　　　【伝えたくないこと】＿＿＿＿＿＿＿＿＿＿＿＿＿＿＿＿＿</a:t>
            </a:r>
          </a:p>
          <a:p>
            <a:pPr algn="l">
              <a:lnSpc>
                <a:spcPts val="6347"/>
              </a:lnSpc>
            </a:pPr>
            <a:r>
              <a:t/>
            </a:r>
          </a:p>
          <a:p>
            <a:pPr algn="l">
              <a:lnSpc>
                <a:spcPts val="4200"/>
              </a:lnSpc>
            </a:pPr>
            <a:r>
              <a:rPr lang="en-US" sz="3000">
                <a:solidFill>
                  <a:srgbClr val="622512"/>
                </a:solidFill>
                <a:latin typeface="M Plus Rounded Black"/>
                <a:ea typeface="M Plus Rounded Black"/>
                <a:cs typeface="M Plus Rounded Black"/>
                <a:sym typeface="M Plus Rounded Black"/>
              </a:rPr>
              <a:t>　　　　　　【伝え方】髙橋から伝える ／ 自分から伝える ／ 一緒に伝える</a:t>
            </a:r>
          </a:p>
        </p:txBody>
      </p:sp>
      <p:sp>
        <p:nvSpPr>
          <p:cNvPr name="TextBox 3" id="3"/>
          <p:cNvSpPr txBox="true"/>
          <p:nvPr/>
        </p:nvSpPr>
        <p:spPr>
          <a:xfrm rot="0">
            <a:off x="12989800" y="9368511"/>
            <a:ext cx="5298200" cy="608965"/>
          </a:xfrm>
          <a:prstGeom prst="rect">
            <a:avLst/>
          </a:prstGeom>
        </p:spPr>
        <p:txBody>
          <a:bodyPr anchor="t" rtlCol="false" tIns="0" lIns="0" bIns="0" rIns="0">
            <a:spAutoFit/>
          </a:bodyPr>
          <a:lstStyle/>
          <a:p>
            <a:pPr algn="ctr">
              <a:lnSpc>
                <a:spcPts val="4759"/>
              </a:lnSpc>
            </a:pPr>
            <a:r>
              <a:rPr lang="en-US" sz="3399">
                <a:solidFill>
                  <a:srgbClr val="66461F"/>
                </a:solidFill>
                <a:latin typeface="M Plus Rounded Black"/>
                <a:ea typeface="M Plus Rounded Black"/>
                <a:cs typeface="M Plus Rounded Black"/>
                <a:sym typeface="M Plus Rounded Black"/>
              </a:rPr>
              <a:t>@海音～心体の調律～</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8F2ED"/>
        </a:solidFill>
      </p:bgPr>
    </p:bg>
    <p:spTree>
      <p:nvGrpSpPr>
        <p:cNvPr id="1" name=""/>
        <p:cNvGrpSpPr/>
        <p:nvPr/>
      </p:nvGrpSpPr>
      <p:grpSpPr/>
      <p:sp>
        <p:nvSpPr>
          <p:cNvPr name="TextBox 2" id="2"/>
          <p:cNvSpPr txBox="true"/>
          <p:nvPr/>
        </p:nvSpPr>
        <p:spPr>
          <a:xfrm rot="0">
            <a:off x="0" y="-123825"/>
            <a:ext cx="18288000" cy="10143269"/>
          </a:xfrm>
          <a:prstGeom prst="rect">
            <a:avLst/>
          </a:prstGeom>
        </p:spPr>
        <p:txBody>
          <a:bodyPr anchor="t" rtlCol="false" tIns="0" lIns="0" bIns="0" rIns="0">
            <a:spAutoFit/>
          </a:bodyPr>
          <a:lstStyle/>
          <a:p>
            <a:pPr algn="l">
              <a:lnSpc>
                <a:spcPts val="6347"/>
              </a:lnSpc>
            </a:pPr>
            <a:r>
              <a:t/>
            </a:r>
          </a:p>
          <a:p>
            <a:pPr algn="ctr">
              <a:lnSpc>
                <a:spcPts val="6347"/>
              </a:lnSpc>
            </a:pPr>
            <a:r>
              <a:rPr lang="en-US" sz="4533">
                <a:solidFill>
                  <a:srgbClr val="622512"/>
                </a:solidFill>
                <a:latin typeface="M Plus Rounded Black"/>
                <a:ea typeface="M Plus Rounded Black"/>
                <a:cs typeface="M Plus Rounded Black"/>
                <a:sym typeface="M Plus Rounded Black"/>
              </a:rPr>
              <a:t>参考資料</a:t>
            </a:r>
          </a:p>
          <a:p>
            <a:pPr algn="l">
              <a:lnSpc>
                <a:spcPts val="6347"/>
              </a:lnSpc>
            </a:pPr>
            <a:r>
              <a:t/>
            </a:r>
          </a:p>
          <a:p>
            <a:pPr algn="l">
              <a:lnSpc>
                <a:spcPts val="6347"/>
              </a:lnSpc>
            </a:pPr>
            <a:r>
              <a:t/>
            </a:r>
          </a:p>
          <a:p>
            <a:pPr algn="l">
              <a:lnSpc>
                <a:spcPts val="6347"/>
              </a:lnSpc>
            </a:pPr>
            <a:r>
              <a:t/>
            </a:r>
          </a:p>
          <a:p>
            <a:pPr algn="ctr">
              <a:lnSpc>
                <a:spcPts val="4200"/>
              </a:lnSpc>
            </a:pPr>
            <a:r>
              <a:rPr lang="en-US" sz="3000">
                <a:solidFill>
                  <a:srgbClr val="622512"/>
                </a:solidFill>
                <a:latin typeface="M Plus Rounded Black"/>
                <a:ea typeface="M Plus Rounded Black"/>
                <a:cs typeface="M Plus Rounded Black"/>
                <a:sym typeface="M Plus Rounded Black"/>
              </a:rPr>
              <a:t>必要なときに、一緒に見ていきます</a:t>
            </a:r>
          </a:p>
        </p:txBody>
      </p:sp>
      <p:sp>
        <p:nvSpPr>
          <p:cNvPr name="TextBox 3" id="3"/>
          <p:cNvSpPr txBox="true"/>
          <p:nvPr/>
        </p:nvSpPr>
        <p:spPr>
          <a:xfrm rot="0">
            <a:off x="12989800" y="9368511"/>
            <a:ext cx="5298200" cy="608965"/>
          </a:xfrm>
          <a:prstGeom prst="rect">
            <a:avLst/>
          </a:prstGeom>
        </p:spPr>
        <p:txBody>
          <a:bodyPr anchor="t" rtlCol="false" tIns="0" lIns="0" bIns="0" rIns="0">
            <a:spAutoFit/>
          </a:bodyPr>
          <a:lstStyle/>
          <a:p>
            <a:pPr algn="ctr">
              <a:lnSpc>
                <a:spcPts val="4759"/>
              </a:lnSpc>
            </a:pPr>
            <a:r>
              <a:rPr lang="en-US" sz="3399">
                <a:solidFill>
                  <a:srgbClr val="66461F"/>
                </a:solidFill>
                <a:latin typeface="M Plus Rounded Black"/>
                <a:ea typeface="M Plus Rounded Black"/>
                <a:cs typeface="M Plus Rounded Black"/>
                <a:sym typeface="M Plus Rounded Black"/>
              </a:rPr>
              <a:t>@海音～心体の調律～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DAHXYzZUhEs</dc:identifier>
  <dcterms:modified xsi:type="dcterms:W3CDTF">2011-08-01T06:04:30Z</dcterms:modified>
  <cp:revision>1</cp:revision>
  <dc:title>古崎 晴貴様のコピーのコピー</dc:title>
</cp:coreProperties>
</file>
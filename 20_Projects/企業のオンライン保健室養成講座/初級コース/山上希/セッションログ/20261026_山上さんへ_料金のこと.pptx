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1648"/>
            <a:ext cx="7924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E6DA4"/>
                </a:solidFill>
                <a:latin typeface="BIZ UDPゴシック"/>
              </a:rPr>
              <a:t>山上 希さんへ　｜　2026年10月26日 セッションの続き：料金のこと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800" y="268224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500" b="0">
                <a:solidFill>
                  <a:srgbClr val="6B7580"/>
                </a:solidFill>
                <a:latin typeface="BIZ UDPゴシック"/>
              </a:rPr>
              <a:t>決めるのは山上さん。一緒に考えます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79120"/>
            <a:ext cx="11277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BIZ UDPゴシック"/>
              </a:rPr>
              <a:t>「やってみたい」を、続けられる値段に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3627120" cy="454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24528" y="1298448"/>
            <a:ext cx="3791712" cy="454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74736" y="1298448"/>
            <a:ext cx="3560064" cy="454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848" y="1463040"/>
            <a:ext cx="3163824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A5F"/>
                </a:solidFill>
                <a:latin typeface="BIZ UDPゴシック"/>
              </a:rPr>
              <a:t>1　山上さんの想い</a:t>
            </a:r>
          </a:p>
        </p:txBody>
      </p:sp>
      <p:pic>
        <p:nvPicPr>
          <p:cNvPr id="9" name="Picture 8" descr="img5.png"/>
          <p:cNvPicPr>
            <a:picLocks noChangeAspect="1"/>
          </p:cNvPicPr>
          <p:nvPr/>
        </p:nvPicPr>
        <p:blipFill>
          <a:blip r:embed="rId2"/>
          <a:srcRect t="17887" b="17887"/>
          <a:stretch>
            <a:fillRect/>
          </a:stretch>
        </p:blipFill>
        <p:spPr>
          <a:xfrm>
            <a:off x="688848" y="1889760"/>
            <a:ext cx="3163824" cy="152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8848" y="3535680"/>
            <a:ext cx="3163824" cy="975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BIZ UDPゴシック"/>
              </a:rPr>
              <a:t>「自分もいろいろな所に行きたい。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BIZ UDPゴシック"/>
              </a:rPr>
              <a:t>　だから、格安で使ってほしい」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BIZ UDPゴシック"/>
              </a:rPr>
              <a:t>「一度やってみないと、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BIZ UDPゴシック"/>
              </a:rPr>
              <a:t>　上げるかどうか決められない」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8848" y="4632960"/>
            <a:ext cx="3163824" cy="1072896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768" y="4730496"/>
            <a:ext cx="29199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A5F"/>
                </a:solidFill>
                <a:latin typeface="BIZ UDPゴシック"/>
              </a:rPr>
              <a:t>その想いは、大事にしたいところ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3A5F"/>
                </a:solidFill>
                <a:latin typeface="BIZ UDPゴシック"/>
              </a:rPr>
              <a:t>まだ一度もやっていないから、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3A5F"/>
                </a:solidFill>
                <a:latin typeface="BIZ UDPゴシック"/>
              </a:rPr>
              <a:t>手ごたえがないのは自然なことです。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F3A5F"/>
                </a:solidFill>
                <a:latin typeface="BIZ UDPゴシック"/>
              </a:rPr>
              <a:t>だから「やってみる」ための形を考えます。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176" y="1463040"/>
            <a:ext cx="3328416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A5F"/>
                </a:solidFill>
                <a:latin typeface="BIZ UDPゴシック"/>
              </a:rPr>
              <a:t>2　今の料金と、世の中の目安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6176" y="1865376"/>
            <a:ext cx="33284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6DA4"/>
                </a:solidFill>
                <a:latin typeface="BIZ UDPゴシック"/>
              </a:rPr>
              <a:t>山上さんの料金表（7月）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6176" y="2109216"/>
            <a:ext cx="3328416" cy="377952"/>
          </a:xfrm>
          <a:prstGeom prst="roundRect">
            <a:avLst>
              <a:gd name="adj" fmla="val 1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5904" y="2206752"/>
            <a:ext cx="199704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3A5F"/>
                </a:solidFill>
                <a:latin typeface="BIZ UDPゴシック"/>
              </a:rPr>
              <a:t>訪問看護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804" y="2194560"/>
            <a:ext cx="138805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350" b="1">
                <a:solidFill>
                  <a:srgbClr val="2E6DA4"/>
                </a:solidFill>
                <a:latin typeface="BIZ UDPゴシック"/>
              </a:rPr>
              <a:t>1時間 10,000円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6176" y="2548128"/>
            <a:ext cx="3328416" cy="377952"/>
          </a:xfrm>
          <a:prstGeom prst="roundRect">
            <a:avLst>
              <a:gd name="adj" fmla="val 1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5904" y="2645664"/>
            <a:ext cx="199704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3A5F"/>
                </a:solidFill>
                <a:latin typeface="BIZ UDPゴシック"/>
              </a:rPr>
              <a:t>傾聴（10分1,000円）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804" y="2633472"/>
            <a:ext cx="138805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350" b="1">
                <a:solidFill>
                  <a:srgbClr val="2E6DA4"/>
                </a:solidFill>
                <a:latin typeface="BIZ UDPゴシック"/>
              </a:rPr>
              <a:t>1時間 6,000円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6176" y="2987040"/>
            <a:ext cx="3328416" cy="377952"/>
          </a:xfrm>
          <a:prstGeom prst="roundRect">
            <a:avLst>
              <a:gd name="adj" fmla="val 15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5904" y="3084576"/>
            <a:ext cx="199704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3A5F"/>
                </a:solidFill>
                <a:latin typeface="BIZ UDPゴシック"/>
              </a:rPr>
              <a:t>受診付き添い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804" y="3072384"/>
            <a:ext cx="138805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350" b="1">
                <a:solidFill>
                  <a:srgbClr val="2E6DA4"/>
                </a:solidFill>
                <a:latin typeface="BIZ UDPゴシック"/>
              </a:rPr>
              <a:t>1受診 5,000円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6176" y="3425952"/>
            <a:ext cx="3328416" cy="377952"/>
          </a:xfrm>
          <a:prstGeom prst="roundRect">
            <a:avLst>
              <a:gd name="adj" fmla="val 15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5904" y="3523488"/>
            <a:ext cx="199704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BIZ UDPゴシック"/>
              </a:rPr>
              <a:t>外出支援（旅行など）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804" y="3511296"/>
            <a:ext cx="138805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350" b="1">
                <a:solidFill>
                  <a:srgbClr val="1F3A5F"/>
                </a:solidFill>
                <a:latin typeface="BIZ UDPゴシック"/>
              </a:rPr>
              <a:t>1時間 2,000円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6176" y="3938016"/>
            <a:ext cx="33284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6DA4"/>
                </a:solidFill>
                <a:latin typeface="BIZ UDPゴシック"/>
              </a:rPr>
              <a:t>世の中の目安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6176" y="4169664"/>
            <a:ext cx="3328416" cy="1048512"/>
          </a:xfrm>
          <a:prstGeom prst="roundRect">
            <a:avLst>
              <a:gd name="adj" fmla="val 6000"/>
            </a:avLst>
          </a:prstGeom>
          <a:solidFill>
            <a:srgbClr val="D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5904" y="4267200"/>
            <a:ext cx="199704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3A5F"/>
                </a:solidFill>
                <a:latin typeface="BIZ UDPゴシック"/>
              </a:rPr>
              <a:t>看護師が同行する旅行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804" y="4267200"/>
            <a:ext cx="138805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BIZ UDPゴシック"/>
              </a:rPr>
              <a:t>1時間 7,000円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5904" y="4572000"/>
            <a:ext cx="199704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3A5F"/>
                </a:solidFill>
                <a:latin typeface="BIZ UDPゴシック"/>
              </a:rPr>
              <a:t>トラベルヘルパー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804" y="4572000"/>
            <a:ext cx="138805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BIZ UDPゴシック"/>
              </a:rPr>
              <a:t>1日 2〜3万円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5904" y="4876800"/>
            <a:ext cx="199704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3A5F"/>
                </a:solidFill>
                <a:latin typeface="BIZ UDPゴシック"/>
              </a:rPr>
              <a:t>観光地の付き添い（自治体）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804" y="4876800"/>
            <a:ext cx="1388059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BIZ UDPゴシック"/>
              </a:rPr>
              <a:t>1時間 1,500円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6176" y="5279136"/>
            <a:ext cx="3328416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A5F"/>
                </a:solidFill>
                <a:latin typeface="BIZ UDPゴシック"/>
              </a:rPr>
              <a:t>一番やりたい旅行の付き添いが、いちばん安い形に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7580"/>
                </a:solidFill>
                <a:latin typeface="BIZ UDPゴシック"/>
              </a:rPr>
              <a:t>※目安は公開資料から。年や内容で変わります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6384" y="1463040"/>
            <a:ext cx="3096768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A5F"/>
                </a:solidFill>
                <a:latin typeface="BIZ UDPゴシック"/>
              </a:rPr>
              <a:t>3　これから考えたいこと</a:t>
            </a:r>
          </a:p>
        </p:txBody>
      </p:sp>
      <p:pic>
        <p:nvPicPr>
          <p:cNvPr id="37" name="Picture 36" descr="img6.png"/>
          <p:cNvPicPr>
            <a:picLocks noChangeAspect="1"/>
          </p:cNvPicPr>
          <p:nvPr/>
        </p:nvPicPr>
        <p:blipFill>
          <a:blip r:embed="rId3"/>
          <a:srcRect t="5407" b="48661"/>
          <a:stretch>
            <a:fillRect/>
          </a:stretch>
        </p:blipFill>
        <p:spPr>
          <a:xfrm>
            <a:off x="8406384" y="1889760"/>
            <a:ext cx="3096768" cy="106680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8406384" y="3121152"/>
            <a:ext cx="280416" cy="280416"/>
          </a:xfrm>
          <a:prstGeom prst="ellipse">
            <a:avLst/>
          </a:prstGeom>
          <a:solidFill>
            <a:srgbClr val="4D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Pゴシック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3096768"/>
            <a:ext cx="2706624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A5F"/>
                </a:solidFill>
                <a:latin typeface="BIZ UDPゴシック"/>
              </a:rPr>
              <a:t>「モニター価格」として出す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580"/>
                </a:solidFill>
                <a:latin typeface="BIZ UDPゴシック"/>
              </a:rPr>
              <a:t>「はじめの○名さま・○月まで」と先に伝える</a:t>
            </a:r>
          </a:p>
        </p:txBody>
      </p:sp>
      <p:sp>
        <p:nvSpPr>
          <p:cNvPr id="40" name="Oval 39"/>
          <p:cNvSpPr/>
          <p:nvPr/>
        </p:nvSpPr>
        <p:spPr>
          <a:xfrm>
            <a:off x="8406384" y="3779520"/>
            <a:ext cx="280416" cy="280416"/>
          </a:xfrm>
          <a:prstGeom prst="ellipse">
            <a:avLst/>
          </a:prstGeom>
          <a:solidFill>
            <a:srgbClr val="4D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Pゴシック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96528" y="3755136"/>
            <a:ext cx="2706624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A5F"/>
                </a:solidFill>
                <a:latin typeface="BIZ UDPゴシック"/>
              </a:rPr>
              <a:t>やってみたら、メモを残す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580"/>
                </a:solidFill>
                <a:latin typeface="BIZ UDPゴシック"/>
              </a:rPr>
              <a:t>時間・待ち時間・疲れ・立て替え・ヒヤッとした場面</a:t>
            </a:r>
          </a:p>
        </p:txBody>
      </p:sp>
      <p:sp>
        <p:nvSpPr>
          <p:cNvPr id="42" name="Oval 41"/>
          <p:cNvSpPr/>
          <p:nvPr/>
        </p:nvSpPr>
        <p:spPr>
          <a:xfrm>
            <a:off x="8406384" y="4437888"/>
            <a:ext cx="280416" cy="280416"/>
          </a:xfrm>
          <a:prstGeom prst="ellipse">
            <a:avLst/>
          </a:prstGeom>
          <a:solidFill>
            <a:srgbClr val="4D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Pゴシック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96528" y="4413504"/>
            <a:ext cx="2706624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A5F"/>
                </a:solidFill>
                <a:latin typeface="BIZ UDPゴシック"/>
              </a:rPr>
              <a:t>料金表の「？」を決める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580"/>
                </a:solidFill>
                <a:latin typeface="BIZ UDPゴシック"/>
              </a:rPr>
              <a:t>医療行為の単位・保険・前金・キャンセルなど</a:t>
            </a:r>
          </a:p>
        </p:txBody>
      </p:sp>
      <p:sp>
        <p:nvSpPr>
          <p:cNvPr id="44" name="Oval 43"/>
          <p:cNvSpPr/>
          <p:nvPr/>
        </p:nvSpPr>
        <p:spPr>
          <a:xfrm>
            <a:off x="8406384" y="5096256"/>
            <a:ext cx="280416" cy="280416"/>
          </a:xfrm>
          <a:prstGeom prst="ellipse">
            <a:avLst/>
          </a:prstGeom>
          <a:solidFill>
            <a:srgbClr val="4DB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BIZ UDPゴシック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5071872"/>
            <a:ext cx="2706624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3A5F"/>
                </a:solidFill>
                <a:latin typeface="BIZ UDPゴシック"/>
              </a:rPr>
              <a:t>正規の値段は「安心」で決める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580"/>
                </a:solidFill>
                <a:latin typeface="BIZ UDPゴシック"/>
              </a:rPr>
              <a:t>医師との連携と医療的な見守りは、看護師の強み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986272"/>
            <a:ext cx="11277600" cy="682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0560" y="6096000"/>
            <a:ext cx="7620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BIZ UDPゴシック"/>
              </a:rPr>
              <a:t>「最初から来てくださった方は、その値段のまま」という約束もできます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580"/>
                </a:solidFill>
                <a:latin typeface="BIZ UDPゴシック"/>
              </a:rPr>
              <a:t>先に「お試しの値段」と伝えておけば、あとで上げる時も、お互い気まずくなりません。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12480" y="6120384"/>
            <a:ext cx="1828800" cy="426720"/>
          </a:xfrm>
          <a:prstGeom prst="roundRect">
            <a:avLst>
              <a:gd name="adj" fmla="val 15000"/>
            </a:avLst>
          </a:prstGeom>
          <a:solidFill>
            <a:srgbClr val="D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6120384"/>
            <a:ext cx="1828800" cy="426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F3A5F"/>
                </a:solidFill>
                <a:latin typeface="BIZ UDPゴシック"/>
              </a:rPr>
              <a:t>次回、一緒に見直しましょう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3200" y="6156960"/>
            <a:ext cx="1249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900" b="1">
                <a:solidFill>
                  <a:srgbClr val="2E6DA4"/>
                </a:solidFill>
                <a:latin typeface="BIZ UDPゴシック"/>
              </a:rPr>
              <a:t>髙橋 由香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
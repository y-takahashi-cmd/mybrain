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1648"/>
            <a:ext cx="7924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E6DA4"/>
                </a:solidFill>
                <a:latin typeface="Meiryo"/>
              </a:rPr>
              <a:t>山上 希さんへ　｜　2026年10月26日 セッションから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800" y="268224"/>
            <a:ext cx="3810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500" b="0">
                <a:solidFill>
                  <a:srgbClr val="6B7580"/>
                </a:solidFill>
                <a:latin typeface="Meiryo"/>
              </a:rPr>
              <a:t>「動きそう。動きます。」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79120"/>
            <a:ext cx="11277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1F3A5F"/>
                </a:solidFill>
                <a:latin typeface="Meiryo"/>
              </a:rPr>
              <a:t>「誰に」が決まれば、もう動ける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3627120" cy="454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24528" y="1298448"/>
            <a:ext cx="3791712" cy="454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4736" y="1298448"/>
            <a:ext cx="3560064" cy="454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848" y="1463040"/>
            <a:ext cx="3163824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3A5F"/>
                </a:solidFill>
                <a:latin typeface="Meiryo"/>
              </a:rPr>
              <a:t>1　動けなかった理由</a:t>
            </a:r>
          </a:p>
        </p:txBody>
      </p:sp>
      <p:pic>
        <p:nvPicPr>
          <p:cNvPr id="9" name="Picture 8" descr="img1.png"/>
          <p:cNvPicPr>
            <a:picLocks noChangeAspect="1"/>
          </p:cNvPicPr>
          <p:nvPr/>
        </p:nvPicPr>
        <p:blipFill>
          <a:blip r:embed="rId2"/>
          <a:srcRect t="18497" b="18497"/>
          <a:stretch>
            <a:fillRect/>
          </a:stretch>
        </p:blipFill>
        <p:spPr>
          <a:xfrm>
            <a:off x="688848" y="1889760"/>
            <a:ext cx="3163824" cy="1328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8848" y="3310128"/>
            <a:ext cx="3163824" cy="426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B7580"/>
                </a:solidFill>
                <a:latin typeface="Meiryo"/>
              </a:rPr>
              <a:t>「目標設定します」は、ふわっとしていた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F3A5F"/>
                </a:solidFill>
                <a:latin typeface="Meiryo"/>
              </a:rPr>
              <a:t>気持ちではなく「誰に・何を」が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F3A5F"/>
                </a:solidFill>
                <a:latin typeface="Meiryo"/>
              </a:rPr>
              <a:t>はっきりしていなかっただけ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8848" y="3950208"/>
            <a:ext cx="3163824" cy="103632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53840"/>
            <a:ext cx="289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3A5F"/>
                </a:solidFill>
                <a:latin typeface="Meiryo"/>
              </a:rPr>
              <a:t>山上さんの強み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F3A5F"/>
                </a:solidFill>
                <a:latin typeface="Meiryo"/>
              </a:rPr>
              <a:t>・山上さんの前だと、相手が素直に話せる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F3A5F"/>
                </a:solidFill>
                <a:latin typeface="Meiryo"/>
              </a:rPr>
              <a:t>・ケアマネさんとご家族の間に入って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F3A5F"/>
                </a:solidFill>
                <a:latin typeface="Meiryo"/>
              </a:rPr>
              <a:t>　つなげられる（できる人はなかなかいない）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F3A5F"/>
                </a:solidFill>
                <a:latin typeface="Meiryo"/>
              </a:rPr>
              <a:t>・「介護は家族だけで」に風穴をあけられる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848" y="5108448"/>
            <a:ext cx="3163824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E6DA4"/>
                </a:solidFill>
                <a:latin typeface="Meiryo"/>
              </a:rPr>
              <a:t>1回で全部解決しないことが、相手のため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580"/>
                </a:solidFill>
                <a:latin typeface="Meiryo"/>
              </a:rPr>
              <a:t>無料説明会は30分で区切って、次につなぐ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6176" y="1463040"/>
            <a:ext cx="3328416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3A5F"/>
                </a:solidFill>
                <a:latin typeface="Meiryo"/>
              </a:rPr>
              <a:t>2　「介護に悩む人」に絞る</a:t>
            </a:r>
          </a:p>
        </p:txBody>
      </p:sp>
      <p:pic>
        <p:nvPicPr>
          <p:cNvPr id="15" name="Picture 14" descr="img2.png"/>
          <p:cNvPicPr>
            <a:picLocks noChangeAspect="1"/>
          </p:cNvPicPr>
          <p:nvPr/>
        </p:nvPicPr>
        <p:blipFill>
          <a:blip r:embed="rId3"/>
          <a:srcRect t="23214" b="23214"/>
          <a:stretch>
            <a:fillRect/>
          </a:stretch>
        </p:blipFill>
        <p:spPr>
          <a:xfrm>
            <a:off x="4456176" y="1889760"/>
            <a:ext cx="3328416" cy="118872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456176" y="3176016"/>
            <a:ext cx="3328416" cy="1005840"/>
          </a:xfrm>
          <a:prstGeom prst="roundRect">
            <a:avLst>
              <a:gd name="adj" fmla="val 6000"/>
            </a:avLst>
          </a:prstGeom>
          <a:solidFill>
            <a:srgbClr val="D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3261360"/>
            <a:ext cx="30601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3A5F"/>
                </a:solidFill>
                <a:latin typeface="Meiryo"/>
              </a:rPr>
              <a:t>こんな方の相談にのります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3A5F"/>
                </a:solidFill>
                <a:latin typeface="Meiryo"/>
              </a:rPr>
              <a:t>・親の介護で悩んでいる方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3A5F"/>
                </a:solidFill>
                <a:latin typeface="Meiryo"/>
              </a:rPr>
              <a:t>・ケアマネジャーさんとうまく話せない方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3A5F"/>
                </a:solidFill>
                <a:latin typeface="Meiryo"/>
              </a:rPr>
              <a:t>・親の介護が気になって、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3A5F"/>
                </a:solidFill>
                <a:latin typeface="Meiryo"/>
              </a:rPr>
              <a:t>　自由に旅行にも行けない方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56176" y="4303776"/>
            <a:ext cx="971296" cy="5608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74B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6176" y="4389120"/>
            <a:ext cx="97129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E6DA4"/>
                </a:solidFill>
                <a:latin typeface="Meiryo"/>
              </a:rPr>
              <a:t>相談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6B7580"/>
                </a:solidFill>
                <a:latin typeface="Meiryo"/>
              </a:rPr>
              <a:t>電話・Zoom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464048" y="4504944"/>
            <a:ext cx="134112" cy="158496"/>
          </a:xfrm>
          <a:prstGeom prst="rightArrow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34736" y="4303776"/>
            <a:ext cx="971296" cy="5608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74B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34736" y="4389120"/>
            <a:ext cx="97129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E6DA4"/>
                </a:solidFill>
                <a:latin typeface="Meiryo"/>
              </a:rPr>
              <a:t>自費の訪問看護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6B7580"/>
                </a:solidFill>
                <a:latin typeface="Meiryo"/>
              </a:rPr>
              <a:t>週2〜3日・半日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642608" y="4504944"/>
            <a:ext cx="134112" cy="158496"/>
          </a:xfrm>
          <a:prstGeom prst="rightArrow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3296" y="4303776"/>
            <a:ext cx="971296" cy="5608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74B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3296" y="4389120"/>
            <a:ext cx="97129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E6DA4"/>
                </a:solidFill>
                <a:latin typeface="Meiryo"/>
              </a:rPr>
              <a:t>居場所づくり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6B7580"/>
                </a:solidFill>
                <a:latin typeface="Meiryo"/>
              </a:rPr>
              <a:t>みんなと連携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56176" y="4998720"/>
            <a:ext cx="3328416" cy="70104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0288" y="5084064"/>
            <a:ext cx="3060192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3A5F"/>
                </a:solidFill>
                <a:latin typeface="Meiryo"/>
              </a:rPr>
              <a:t>付き添いの目安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F3A5F"/>
                </a:solidFill>
                <a:latin typeface="Meiryo"/>
              </a:rPr>
              <a:t>受診の付き添いは、片道1時間くらいまで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F3A5F"/>
                </a:solidFill>
                <a:latin typeface="Meiryo"/>
              </a:rPr>
              <a:t>旅行は「要相談」。先に一度、受診に同行してから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6384" y="1463040"/>
            <a:ext cx="3096768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3A5F"/>
                </a:solidFill>
                <a:latin typeface="Meiryo"/>
              </a:rPr>
              <a:t>3　次にやること</a:t>
            </a:r>
          </a:p>
        </p:txBody>
      </p:sp>
      <p:pic>
        <p:nvPicPr>
          <p:cNvPr id="29" name="Picture 28" descr="img3.png"/>
          <p:cNvPicPr>
            <a:picLocks noChangeAspect="1"/>
          </p:cNvPicPr>
          <p:nvPr/>
        </p:nvPicPr>
        <p:blipFill>
          <a:blip r:embed="rId4"/>
          <a:srcRect t="24163" b="24163"/>
          <a:stretch>
            <a:fillRect/>
          </a:stretch>
        </p:blipFill>
        <p:spPr>
          <a:xfrm>
            <a:off x="8406384" y="1889760"/>
            <a:ext cx="3096768" cy="1066800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8406384" y="3121152"/>
            <a:ext cx="280416" cy="280416"/>
          </a:xfrm>
          <a:prstGeom prst="ellipse">
            <a:avLst/>
          </a:prstGeom>
          <a:solidFill>
            <a:srgbClr val="4DB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96528" y="3096768"/>
            <a:ext cx="2706624" cy="57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3A5F"/>
                </a:solidFill>
                <a:latin typeface="Meiryo"/>
              </a:rPr>
              <a:t>DMを送る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580"/>
                </a:solidFill>
                <a:latin typeface="Meiryo"/>
              </a:rPr>
              <a:t>「介護で悩んでいる方がいたら、ご紹介ください」</a:t>
            </a:r>
          </a:p>
        </p:txBody>
      </p:sp>
      <p:sp>
        <p:nvSpPr>
          <p:cNvPr id="32" name="Oval 31"/>
          <p:cNvSpPr/>
          <p:nvPr/>
        </p:nvSpPr>
        <p:spPr>
          <a:xfrm>
            <a:off x="8406384" y="3779520"/>
            <a:ext cx="280416" cy="280416"/>
          </a:xfrm>
          <a:prstGeom prst="ellipse">
            <a:avLst/>
          </a:prstGeom>
          <a:solidFill>
            <a:srgbClr val="4DB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96528" y="3755136"/>
            <a:ext cx="2706624" cy="57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3A5F"/>
                </a:solidFill>
                <a:latin typeface="Meiryo"/>
              </a:rPr>
              <a:t>かかりつけの先生へ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580"/>
                </a:solidFill>
                <a:latin typeface="Meiryo"/>
              </a:rPr>
              <a:t>介護の相談を始めたことを伝えて、紹介をお願い</a:t>
            </a:r>
          </a:p>
        </p:txBody>
      </p:sp>
      <p:sp>
        <p:nvSpPr>
          <p:cNvPr id="34" name="Oval 33"/>
          <p:cNvSpPr/>
          <p:nvPr/>
        </p:nvSpPr>
        <p:spPr>
          <a:xfrm>
            <a:off x="8406384" y="4437888"/>
            <a:ext cx="280416" cy="280416"/>
          </a:xfrm>
          <a:prstGeom prst="ellipse">
            <a:avLst/>
          </a:prstGeom>
          <a:solidFill>
            <a:srgbClr val="4DB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96528" y="4413504"/>
            <a:ext cx="2706624" cy="57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3A5F"/>
                </a:solidFill>
                <a:latin typeface="Meiryo"/>
              </a:rPr>
              <a:t>Facebookで発信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580"/>
                </a:solidFill>
                <a:latin typeface="Meiryo"/>
              </a:rPr>
              <a:t>DMのあとに</a:t>
            </a:r>
          </a:p>
        </p:txBody>
      </p:sp>
      <p:sp>
        <p:nvSpPr>
          <p:cNvPr id="36" name="Oval 35"/>
          <p:cNvSpPr/>
          <p:nvPr/>
        </p:nvSpPr>
        <p:spPr>
          <a:xfrm>
            <a:off x="8406384" y="5096256"/>
            <a:ext cx="280416" cy="280416"/>
          </a:xfrm>
          <a:prstGeom prst="ellipse">
            <a:avLst/>
          </a:prstGeom>
          <a:solidFill>
            <a:srgbClr val="4DB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96528" y="5071872"/>
            <a:ext cx="2706624" cy="57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3A5F"/>
                </a:solidFill>
                <a:latin typeface="Meiryo"/>
              </a:rPr>
              <a:t>契約書とご案内を仕上げる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580"/>
                </a:solidFill>
                <a:latin typeface="Meiryo"/>
              </a:rPr>
              <a:t>対象・付き添いの範囲・旅行の条件を入れて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986272"/>
            <a:ext cx="11277600" cy="682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g4.png"/>
          <p:cNvPicPr>
            <a:picLocks noChangeAspect="1"/>
          </p:cNvPicPr>
          <p:nvPr/>
        </p:nvPicPr>
        <p:blipFill>
          <a:blip r:embed="rId5"/>
          <a:srcRect t="1408" b="1408"/>
          <a:stretch>
            <a:fillRect/>
          </a:stretch>
        </p:blipFill>
        <p:spPr>
          <a:xfrm>
            <a:off x="560832" y="6047232"/>
            <a:ext cx="865632" cy="56083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597152" y="6096000"/>
            <a:ext cx="67056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3A5F"/>
                </a:solidFill>
                <a:latin typeface="Meiryo"/>
              </a:rPr>
              <a:t>「介護に絞った方が伝わりやすい。私もすっきり」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7580"/>
                </a:solidFill>
                <a:latin typeface="Meiryo"/>
              </a:rPr>
              <a:t>今日のこの言葉のまま、まず1つ、動いてみましょう。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80" y="6120384"/>
            <a:ext cx="1828800" cy="426720"/>
          </a:xfrm>
          <a:prstGeom prst="roundRect">
            <a:avLst>
              <a:gd name="adj" fmla="val 15000"/>
            </a:avLst>
          </a:prstGeom>
          <a:solidFill>
            <a:srgbClr val="D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6120384"/>
            <a:ext cx="1828800" cy="426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1F3A5F"/>
                </a:solidFill>
                <a:latin typeface="Meiryo"/>
              </a:rPr>
              <a:t>次回：日程をお申込みください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63200" y="6156960"/>
            <a:ext cx="1249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900" b="1">
                <a:solidFill>
                  <a:srgbClr val="2E6DA4"/>
                </a:solidFill>
                <a:latin typeface="Meiryo"/>
              </a:rPr>
              <a:t>髙橋 由香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
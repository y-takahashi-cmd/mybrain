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6BA6"/>
                </a:solidFill>
                <a:latin typeface="Meiryo UI"/>
              </a:rPr>
              <a:t>目良 奈帆子さんへ　｜　2026年10月22日 メンター面談から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3A5C"/>
                </a:solidFill>
                <a:latin typeface="Meiryo UI"/>
              </a:rPr>
              <a:t>「想い」から伝えて、ドンピシャを呼ぶ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A95A0"/>
                </a:solidFill>
                <a:latin typeface="Meiryo UI"/>
              </a:rPr>
              <a:t>3年後の色：ラメ感のある、澄んだブルー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611880" cy="4553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3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3A5C"/>
                </a:solidFill>
                <a:latin typeface="Meiryo UI"/>
              </a:rPr>
              <a:t>1　この1年のゴール</a:t>
            </a:r>
          </a:p>
        </p:txBody>
      </p:sp>
      <p:pic>
        <p:nvPicPr>
          <p:cNvPr id="7" name="Picture 6" descr="i0.png"/>
          <p:cNvPicPr>
            <a:picLocks noChangeAspect="1"/>
          </p:cNvPicPr>
          <p:nvPr/>
        </p:nvPicPr>
        <p:blipFill>
          <a:blip r:embed="rId2"/>
          <a:srcRect t="18478" b="18478"/>
          <a:stretch>
            <a:fillRect/>
          </a:stretch>
        </p:blipFill>
        <p:spPr>
          <a:xfrm>
            <a:off x="685800" y="1892807"/>
            <a:ext cx="31546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31012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5A0"/>
                </a:solidFill>
                <a:latin typeface="Meiryo UI"/>
              </a:rPr>
              <a:t>「BNIで人生が変わった」＝</a:t>
            </a:r>
          </a:p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3A5C"/>
                </a:solidFill>
                <a:latin typeface="Meiryo UI"/>
              </a:rPr>
              <a:t>事業が安定し、決めたことを達成し続ける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50208"/>
            <a:ext cx="3154680" cy="804672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14216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3A5C"/>
                </a:solidFill>
                <a:latin typeface="Meiryo UI"/>
              </a:rPr>
              <a:t>パートナーズサロン</a:t>
            </a:r>
          </a:p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3A5C"/>
                </a:solidFill>
                <a:latin typeface="Meiryo UI"/>
              </a:rPr>
              <a:t>いま 4件 → 年内 あと6件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4A4A4A"/>
                </a:solidFill>
                <a:latin typeface="Meiryo UI"/>
              </a:rPr>
              <a:t>その先は 毎月3〜5件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10328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6BA6"/>
                </a:solidFill>
                <a:latin typeface="Meiryo UI"/>
              </a:rPr>
              <a:t>欲しいのは「数」より「ドンピシャ」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Meiryo UI"/>
              </a:rPr>
              <a:t>ドンピシャは、何回か紹介し合って近づいていくもの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298448"/>
            <a:ext cx="3794760" cy="4553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6303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3A5C"/>
                </a:solidFill>
                <a:latin typeface="Meiryo UI"/>
              </a:rPr>
              <a:t>2　伝える順番を変える</a:t>
            </a:r>
          </a:p>
        </p:txBody>
      </p:sp>
      <p:pic>
        <p:nvPicPr>
          <p:cNvPr id="14" name="Picture 13" descr="i1.png"/>
          <p:cNvPicPr>
            <a:picLocks noChangeAspect="1"/>
          </p:cNvPicPr>
          <p:nvPr/>
        </p:nvPicPr>
        <p:blipFill>
          <a:blip r:embed="rId3"/>
          <a:srcRect t="23288" b="23288"/>
          <a:stretch>
            <a:fillRect/>
          </a:stretch>
        </p:blipFill>
        <p:spPr>
          <a:xfrm>
            <a:off x="4453128" y="1892807"/>
            <a:ext cx="3337560" cy="1188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453128" y="3172968"/>
            <a:ext cx="1531620" cy="676656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218688"/>
            <a:ext cx="13487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6BA6"/>
                </a:solidFill>
                <a:latin typeface="Meiryo UI"/>
              </a:rPr>
              <a:t>第1段階　想い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健康寿命をのばす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「なる前」のケアを広げたい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9068" y="3172968"/>
            <a:ext cx="15316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4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508" y="3218688"/>
            <a:ext cx="13487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6BA6"/>
                </a:solidFill>
                <a:latin typeface="Meiryo UI"/>
              </a:rPr>
              <a:t>第2段階　パッケージ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サロンのパッケージ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成功事例・説明会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21324" y="3401568"/>
            <a:ext cx="201168" cy="228600"/>
          </a:xfrm>
          <a:prstGeom prst="rightArrow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93192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6BA6"/>
                </a:solidFill>
                <a:latin typeface="Meiryo UI"/>
              </a:rPr>
              <a:t>ウィークリーも、4週に1回は「想い」の週に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4270248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361688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A3A5C"/>
                </a:solidFill>
                <a:latin typeface="Meiryo UI"/>
              </a:rPr>
              <a:t>新しいリファーラル文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1A3A5C"/>
                </a:solidFill>
                <a:latin typeface="Meiryo UI"/>
              </a:rPr>
              <a:t>もっと自分の売上や可能性を伸ばしたい、独立3年目までの美容関係者や整体関係者いませんか？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4A4A4A"/>
                </a:solidFill>
                <a:latin typeface="Meiryo UI"/>
              </a:rPr>
              <a:t>新しい事業を探している、感度の高い経営者。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1A3A5C"/>
                </a:solidFill>
                <a:latin typeface="Meiryo UI"/>
              </a:rPr>
              <a:t>そんな方にお伝えください。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1298448"/>
            <a:ext cx="3566160" cy="45537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14630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3A5C"/>
                </a:solidFill>
                <a:latin typeface="Meiryo UI"/>
              </a:rPr>
              <a:t>3　明日からやること</a:t>
            </a:r>
          </a:p>
        </p:txBody>
      </p:sp>
      <p:pic>
        <p:nvPicPr>
          <p:cNvPr id="25" name="Picture 24" descr="i3.png"/>
          <p:cNvPicPr>
            <a:picLocks noChangeAspect="1"/>
          </p:cNvPicPr>
          <p:nvPr/>
        </p:nvPicPr>
        <p:blipFill>
          <a:blip r:embed="rId4"/>
          <a:srcRect t="24632" b="24632"/>
          <a:stretch>
            <a:fillRect/>
          </a:stretch>
        </p:blipFill>
        <p:spPr>
          <a:xfrm>
            <a:off x="8403336" y="1892807"/>
            <a:ext cx="3108960" cy="10515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8403336" y="3108960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3063240"/>
            <a:ext cx="2788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アンケートの「早急に」へ連絡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まず「嬉しかった」と「どうして話したくなった？」</a:t>
            </a:r>
          </a:p>
        </p:txBody>
      </p:sp>
      <p:sp>
        <p:nvSpPr>
          <p:cNvPr id="28" name="Oval 27"/>
          <p:cNvSpPr/>
          <p:nvPr/>
        </p:nvSpPr>
        <p:spPr>
          <a:xfrm>
            <a:off x="8403336" y="3767328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3721608"/>
            <a:ext cx="2788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説明会をビジネスラインへ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毎月 月初＋3日前。「好評につき枠を広げました」</a:t>
            </a:r>
          </a:p>
        </p:txBody>
      </p:sp>
      <p:sp>
        <p:nvSpPr>
          <p:cNvPr id="30" name="Oval 29"/>
          <p:cNvSpPr/>
          <p:nvPr/>
        </p:nvSpPr>
        <p:spPr>
          <a:xfrm>
            <a:off x="8403336" y="4425696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379976"/>
            <a:ext cx="2788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REALIZEのみんなと、もう一度1to1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変わったことを、今日の熱量で</a:t>
            </a:r>
          </a:p>
        </p:txBody>
      </p:sp>
      <p:sp>
        <p:nvSpPr>
          <p:cNvPr id="32" name="Oval 31"/>
          <p:cNvSpPr/>
          <p:nvPr/>
        </p:nvSpPr>
        <p:spPr>
          <a:xfrm>
            <a:off x="8403336" y="5084064"/>
            <a:ext cx="274320" cy="274320"/>
          </a:xfrm>
          <a:prstGeom prst="ellipse">
            <a:avLst/>
          </a:prstGeom>
          <a:solidFill>
            <a:srgbClr val="5BC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5038344"/>
            <a:ext cx="2788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トレーニング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A4A4A"/>
                </a:solidFill>
                <a:latin typeface="Meiryo UI"/>
              </a:rPr>
              <a:t>アクセラレーター → 1to1トレーニング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89320"/>
            <a:ext cx="11283696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2.png"/>
          <p:cNvPicPr>
            <a:picLocks noChangeAspect="1"/>
          </p:cNvPicPr>
          <p:nvPr/>
        </p:nvPicPr>
        <p:blipFill>
          <a:blip r:embed="rId5"/>
          <a:srcRect t="806" b="806"/>
          <a:stretch>
            <a:fillRect/>
          </a:stretch>
        </p:blipFill>
        <p:spPr>
          <a:xfrm>
            <a:off x="566928" y="6053328"/>
            <a:ext cx="850392" cy="5577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00200" y="608075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3A5C"/>
                </a:solidFill>
                <a:latin typeface="Meiryo UI"/>
              </a:rPr>
              <a:t>1to1の前に、あの「ラメ感のある澄んだブルー」を思い浮かべて。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4A4A"/>
                </a:solidFill>
                <a:latin typeface="Meiryo UI"/>
              </a:rPr>
              <a:t>「やることと、どうしていきたいかが明確になった」── 今日の言葉のまま、進んでいきましょう。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6117336"/>
            <a:ext cx="1783080" cy="429768"/>
          </a:xfrm>
          <a:prstGeom prst="roundRect">
            <a:avLst>
              <a:gd name="adj" fmla="val 20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6117336"/>
            <a:ext cx="17830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Meiryo UI"/>
              </a:rPr>
              <a:t>次回 11/25(水) 11:00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6153912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2E6BA6"/>
                </a:solidFill>
                <a:latin typeface="Meiryo UI"/>
              </a:rPr>
              <a:t>髙橋 由香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